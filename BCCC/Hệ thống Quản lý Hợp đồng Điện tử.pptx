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Poppins Semi-Bold" charset="1" panose="00000700000000000000"/>
      <p:regular r:id="rId19"/>
    </p:embeddedFont>
    <p:embeddedFont>
      <p:font typeface="Poppins Bold" charset="1" panose="00000800000000000000"/>
      <p:regular r:id="rId20"/>
    </p:embeddedFont>
    <p:embeddedFont>
      <p:font typeface="Poppins" charset="1" panose="000005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4.jpeg" Type="http://schemas.openxmlformats.org/officeDocument/2006/relationships/image"/><Relationship Id="rId5" Target="../media/image25.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32.png" Type="http://schemas.openxmlformats.org/officeDocument/2006/relationships/image"/><Relationship Id="rId7" Target="../media/image33.png" Type="http://schemas.openxmlformats.org/officeDocument/2006/relationships/image"/><Relationship Id="rId8" Target="../media/image34.png" Type="http://schemas.openxmlformats.org/officeDocument/2006/relationships/image"/><Relationship Id="rId9" Target="../media/image3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37.pn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pn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40.png" Type="http://schemas.openxmlformats.org/officeDocument/2006/relationships/image"/><Relationship Id="rId7" Target="../media/image41.png" Type="http://schemas.openxmlformats.org/officeDocument/2006/relationships/image"/><Relationship Id="rId8" Target="../media/image42.png" Type="http://schemas.openxmlformats.org/officeDocument/2006/relationships/image"/><Relationship Id="rId9" Target="../media/image4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45.pn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46.png" Type="http://schemas.openxmlformats.org/officeDocument/2006/relationships/image"/><Relationship Id="rId4" Target="../media/image47.png" Type="http://schemas.openxmlformats.org/officeDocument/2006/relationships/image"/><Relationship Id="rId5" Target="../media/image4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787783">
            <a:off x="1765300" y="10149589"/>
            <a:ext cx="13758345" cy="7410406"/>
            <a:chOff x="0" y="0"/>
            <a:chExt cx="1296853" cy="698500"/>
          </a:xfrm>
        </p:grpSpPr>
        <p:sp>
          <p:nvSpPr>
            <p:cNvPr name="Freeform 3" id="3"/>
            <p:cNvSpPr/>
            <p:nvPr/>
          </p:nvSpPr>
          <p:spPr>
            <a:xfrm flipH="false" flipV="false" rot="0">
              <a:off x="0" y="0"/>
              <a:ext cx="1296853" cy="698500"/>
            </a:xfrm>
            <a:custGeom>
              <a:avLst/>
              <a:gdLst/>
              <a:ahLst/>
              <a:cxnLst/>
              <a:rect r="r" b="b" t="t" l="l"/>
              <a:pathLst>
                <a:path h="698500" w="1296853">
                  <a:moveTo>
                    <a:pt x="1296853" y="349250"/>
                  </a:moveTo>
                  <a:lnTo>
                    <a:pt x="1093653" y="698500"/>
                  </a:lnTo>
                  <a:lnTo>
                    <a:pt x="203200" y="698500"/>
                  </a:lnTo>
                  <a:lnTo>
                    <a:pt x="0" y="349250"/>
                  </a:lnTo>
                  <a:lnTo>
                    <a:pt x="203200" y="0"/>
                  </a:lnTo>
                  <a:lnTo>
                    <a:pt x="1093653" y="0"/>
                  </a:lnTo>
                  <a:lnTo>
                    <a:pt x="1296853" y="349250"/>
                  </a:lnTo>
                  <a:close/>
                </a:path>
              </a:pathLst>
            </a:custGeom>
            <a:solidFill>
              <a:srgbClr val="FFA916"/>
            </a:solidFill>
          </p:spPr>
        </p:sp>
        <p:sp>
          <p:nvSpPr>
            <p:cNvPr name="TextBox 4" id="4"/>
            <p:cNvSpPr txBox="true"/>
            <p:nvPr/>
          </p:nvSpPr>
          <p:spPr>
            <a:xfrm>
              <a:off x="114300" y="-57150"/>
              <a:ext cx="1068253" cy="75565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1787783">
            <a:off x="5129591" y="9086430"/>
            <a:ext cx="13531543" cy="3065584"/>
            <a:chOff x="0" y="0"/>
            <a:chExt cx="3083192" cy="698500"/>
          </a:xfrm>
        </p:grpSpPr>
        <p:sp>
          <p:nvSpPr>
            <p:cNvPr name="Freeform 6" id="6"/>
            <p:cNvSpPr/>
            <p:nvPr/>
          </p:nvSpPr>
          <p:spPr>
            <a:xfrm flipH="false" flipV="false" rot="0">
              <a:off x="0" y="0"/>
              <a:ext cx="3083192" cy="698500"/>
            </a:xfrm>
            <a:custGeom>
              <a:avLst/>
              <a:gdLst/>
              <a:ahLst/>
              <a:cxnLst/>
              <a:rect r="r" b="b" t="t" l="l"/>
              <a:pathLst>
                <a:path h="698500" w="3083192">
                  <a:moveTo>
                    <a:pt x="3083192" y="349250"/>
                  </a:moveTo>
                  <a:lnTo>
                    <a:pt x="2879992" y="698500"/>
                  </a:lnTo>
                  <a:lnTo>
                    <a:pt x="203200" y="698500"/>
                  </a:lnTo>
                  <a:lnTo>
                    <a:pt x="0" y="349250"/>
                  </a:lnTo>
                  <a:lnTo>
                    <a:pt x="203200" y="0"/>
                  </a:lnTo>
                  <a:lnTo>
                    <a:pt x="2879992" y="0"/>
                  </a:lnTo>
                  <a:lnTo>
                    <a:pt x="3083192" y="349250"/>
                  </a:lnTo>
                  <a:close/>
                </a:path>
              </a:pathLst>
            </a:custGeom>
            <a:solidFill>
              <a:srgbClr val="024A59"/>
            </a:solidFill>
          </p:spPr>
        </p:sp>
        <p:sp>
          <p:nvSpPr>
            <p:cNvPr name="TextBox 7" id="7"/>
            <p:cNvSpPr txBox="true"/>
            <p:nvPr/>
          </p:nvSpPr>
          <p:spPr>
            <a:xfrm>
              <a:off x="114300" y="-57150"/>
              <a:ext cx="2854592" cy="755650"/>
            </a:xfrm>
            <a:prstGeom prst="rect">
              <a:avLst/>
            </a:prstGeom>
          </p:spPr>
          <p:txBody>
            <a:bodyPr anchor="ctr" rtlCol="false" tIns="50800" lIns="50800" bIns="50800" rIns="50800"/>
            <a:lstStyle/>
            <a:p>
              <a:pPr algn="ctr" marL="0" indent="0" lvl="0">
                <a:lnSpc>
                  <a:spcPts val="2659"/>
                </a:lnSpc>
              </a:pPr>
            </a:p>
          </p:txBody>
        </p:sp>
      </p:grpSp>
      <p:grpSp>
        <p:nvGrpSpPr>
          <p:cNvPr name="Group 8" id="8"/>
          <p:cNvGrpSpPr/>
          <p:nvPr/>
        </p:nvGrpSpPr>
        <p:grpSpPr>
          <a:xfrm rot="-1787783">
            <a:off x="10578981" y="-1870630"/>
            <a:ext cx="13758345" cy="7410406"/>
            <a:chOff x="0" y="0"/>
            <a:chExt cx="1296853" cy="698500"/>
          </a:xfrm>
        </p:grpSpPr>
        <p:sp>
          <p:nvSpPr>
            <p:cNvPr name="Freeform 9" id="9"/>
            <p:cNvSpPr/>
            <p:nvPr/>
          </p:nvSpPr>
          <p:spPr>
            <a:xfrm flipH="false" flipV="false" rot="0">
              <a:off x="0" y="0"/>
              <a:ext cx="1296853" cy="698500"/>
            </a:xfrm>
            <a:custGeom>
              <a:avLst/>
              <a:gdLst/>
              <a:ahLst/>
              <a:cxnLst/>
              <a:rect r="r" b="b" t="t" l="l"/>
              <a:pathLst>
                <a:path h="698500" w="1296853">
                  <a:moveTo>
                    <a:pt x="1296853" y="349250"/>
                  </a:moveTo>
                  <a:lnTo>
                    <a:pt x="1093653" y="698500"/>
                  </a:lnTo>
                  <a:lnTo>
                    <a:pt x="203200" y="698500"/>
                  </a:lnTo>
                  <a:lnTo>
                    <a:pt x="0" y="349250"/>
                  </a:lnTo>
                  <a:lnTo>
                    <a:pt x="203200" y="0"/>
                  </a:lnTo>
                  <a:lnTo>
                    <a:pt x="1093653" y="0"/>
                  </a:lnTo>
                  <a:lnTo>
                    <a:pt x="1296853" y="349250"/>
                  </a:lnTo>
                  <a:close/>
                </a:path>
              </a:pathLst>
            </a:custGeom>
            <a:solidFill>
              <a:srgbClr val="024A59"/>
            </a:solidFill>
          </p:spPr>
        </p:sp>
        <p:sp>
          <p:nvSpPr>
            <p:cNvPr name="TextBox 10" id="10"/>
            <p:cNvSpPr txBox="true"/>
            <p:nvPr/>
          </p:nvSpPr>
          <p:spPr>
            <a:xfrm>
              <a:off x="114300" y="-57150"/>
              <a:ext cx="1068253" cy="755650"/>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1787783">
            <a:off x="9316170" y="-96463"/>
            <a:ext cx="14503583" cy="7811799"/>
            <a:chOff x="0" y="0"/>
            <a:chExt cx="1296853" cy="698500"/>
          </a:xfrm>
        </p:grpSpPr>
        <p:sp>
          <p:nvSpPr>
            <p:cNvPr name="Freeform 12" id="12"/>
            <p:cNvSpPr/>
            <p:nvPr/>
          </p:nvSpPr>
          <p:spPr>
            <a:xfrm flipH="false" flipV="false" rot="0">
              <a:off x="0" y="0"/>
              <a:ext cx="1296853" cy="698500"/>
            </a:xfrm>
            <a:custGeom>
              <a:avLst/>
              <a:gdLst/>
              <a:ahLst/>
              <a:cxnLst/>
              <a:rect r="r" b="b" t="t" l="l"/>
              <a:pathLst>
                <a:path h="698500" w="1296853">
                  <a:moveTo>
                    <a:pt x="1296853" y="349250"/>
                  </a:moveTo>
                  <a:lnTo>
                    <a:pt x="1093653" y="698500"/>
                  </a:lnTo>
                  <a:lnTo>
                    <a:pt x="203200" y="698500"/>
                  </a:lnTo>
                  <a:lnTo>
                    <a:pt x="0" y="349250"/>
                  </a:lnTo>
                  <a:lnTo>
                    <a:pt x="203200" y="0"/>
                  </a:lnTo>
                  <a:lnTo>
                    <a:pt x="1093653" y="0"/>
                  </a:lnTo>
                  <a:lnTo>
                    <a:pt x="1296853" y="349250"/>
                  </a:lnTo>
                  <a:close/>
                </a:path>
              </a:pathLst>
            </a:custGeom>
            <a:solidFill>
              <a:srgbClr val="FFA916"/>
            </a:solidFill>
          </p:spPr>
        </p:sp>
        <p:sp>
          <p:nvSpPr>
            <p:cNvPr name="TextBox 13" id="13"/>
            <p:cNvSpPr txBox="true"/>
            <p:nvPr/>
          </p:nvSpPr>
          <p:spPr>
            <a:xfrm>
              <a:off x="114300" y="-57150"/>
              <a:ext cx="1068253" cy="755650"/>
            </a:xfrm>
            <a:prstGeom prst="rect">
              <a:avLst/>
            </a:prstGeom>
          </p:spPr>
          <p:txBody>
            <a:bodyPr anchor="ctr" rtlCol="false" tIns="50800" lIns="50800" bIns="50800" rIns="50800"/>
            <a:lstStyle/>
            <a:p>
              <a:pPr algn="ctr" marL="0" indent="0" lvl="0">
                <a:lnSpc>
                  <a:spcPts val="2659"/>
                </a:lnSpc>
              </a:pPr>
            </a:p>
          </p:txBody>
        </p:sp>
      </p:grpSp>
      <p:grpSp>
        <p:nvGrpSpPr>
          <p:cNvPr name="Group 14" id="14"/>
          <p:cNvGrpSpPr/>
          <p:nvPr/>
        </p:nvGrpSpPr>
        <p:grpSpPr>
          <a:xfrm rot="0">
            <a:off x="10595487" y="939081"/>
            <a:ext cx="7226346" cy="8408839"/>
            <a:chOff x="0" y="0"/>
            <a:chExt cx="698500" cy="812800"/>
          </a:xfrm>
        </p:grpSpPr>
        <p:sp>
          <p:nvSpPr>
            <p:cNvPr name="Freeform 15" id="15"/>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24A59"/>
            </a:solidFill>
          </p:spPr>
        </p:sp>
        <p:sp>
          <p:nvSpPr>
            <p:cNvPr name="TextBox 16" id="16"/>
            <p:cNvSpPr txBox="true"/>
            <p:nvPr/>
          </p:nvSpPr>
          <p:spPr>
            <a:xfrm>
              <a:off x="0" y="82550"/>
              <a:ext cx="698500" cy="590550"/>
            </a:xfrm>
            <a:prstGeom prst="rect">
              <a:avLst/>
            </a:prstGeom>
          </p:spPr>
          <p:txBody>
            <a:bodyPr anchor="ctr" rtlCol="false" tIns="50800" lIns="50800" bIns="50800" rIns="50800"/>
            <a:lstStyle/>
            <a:p>
              <a:pPr algn="ctr" marL="0" indent="0" lvl="0">
                <a:lnSpc>
                  <a:spcPts val="2659"/>
                </a:lnSpc>
              </a:pPr>
            </a:p>
          </p:txBody>
        </p:sp>
      </p:grpSp>
      <p:grpSp>
        <p:nvGrpSpPr>
          <p:cNvPr name="Group 17" id="17"/>
          <p:cNvGrpSpPr>
            <a:grpSpLocks noChangeAspect="true"/>
          </p:cNvGrpSpPr>
          <p:nvPr/>
        </p:nvGrpSpPr>
        <p:grpSpPr>
          <a:xfrm rot="0">
            <a:off x="10819302" y="1229804"/>
            <a:ext cx="6778716" cy="7827392"/>
            <a:chOff x="0" y="0"/>
            <a:chExt cx="31287555" cy="36127779"/>
          </a:xfrm>
        </p:grpSpPr>
        <p:sp>
          <p:nvSpPr>
            <p:cNvPr name="Freeform 18" id="18"/>
            <p:cNvSpPr/>
            <p:nvPr/>
          </p:nvSpPr>
          <p:spPr>
            <a:xfrm flipH="false" flipV="false" rot="0">
              <a:off x="0" y="0"/>
              <a:ext cx="31287467" cy="36127817"/>
            </a:xfrm>
            <a:custGeom>
              <a:avLst/>
              <a:gdLst/>
              <a:ahLst/>
              <a:cxnLst/>
              <a:rect r="r" b="b" t="t" l="l"/>
              <a:pathLst>
                <a:path h="36127817" w="31287467">
                  <a:moveTo>
                    <a:pt x="15643733" y="0"/>
                  </a:moveTo>
                  <a:lnTo>
                    <a:pt x="0" y="9031859"/>
                  </a:lnTo>
                  <a:lnTo>
                    <a:pt x="0" y="27095831"/>
                  </a:lnTo>
                  <a:lnTo>
                    <a:pt x="15643733" y="36127817"/>
                  </a:lnTo>
                  <a:lnTo>
                    <a:pt x="31287467" y="27095958"/>
                  </a:lnTo>
                  <a:lnTo>
                    <a:pt x="31287467" y="9031859"/>
                  </a:lnTo>
                  <a:lnTo>
                    <a:pt x="15643861" y="0"/>
                  </a:lnTo>
                  <a:close/>
                </a:path>
              </a:pathLst>
            </a:custGeom>
            <a:blipFill>
              <a:blip r:embed="rId2"/>
              <a:stretch>
                <a:fillRect l="0" t="-3540" r="0" b="-3540"/>
              </a:stretch>
            </a:blipFill>
          </p:spPr>
        </p:sp>
      </p:grpSp>
      <p:sp>
        <p:nvSpPr>
          <p:cNvPr name="TextBox 19" id="19"/>
          <p:cNvSpPr txBox="true"/>
          <p:nvPr/>
        </p:nvSpPr>
        <p:spPr>
          <a:xfrm rot="0">
            <a:off x="2078147" y="1171518"/>
            <a:ext cx="1897207" cy="330765"/>
          </a:xfrm>
          <a:prstGeom prst="rect">
            <a:avLst/>
          </a:prstGeom>
        </p:spPr>
        <p:txBody>
          <a:bodyPr anchor="t" rtlCol="false" tIns="0" lIns="0" bIns="0" rIns="0">
            <a:spAutoFit/>
          </a:bodyPr>
          <a:lstStyle/>
          <a:p>
            <a:pPr algn="l" marL="0" indent="0" lvl="0">
              <a:lnSpc>
                <a:spcPts val="2459"/>
              </a:lnSpc>
            </a:pPr>
            <a:r>
              <a:rPr lang="en-US" b="true" sz="2157">
                <a:solidFill>
                  <a:srgbClr val="000000"/>
                </a:solidFill>
                <a:latin typeface="Poppins Semi-Bold"/>
                <a:ea typeface="Poppins Semi-Bold"/>
                <a:cs typeface="Poppins Semi-Bold"/>
                <a:sym typeface="Poppins Semi-Bold"/>
              </a:rPr>
              <a:t>ECMS</a:t>
            </a:r>
          </a:p>
        </p:txBody>
      </p:sp>
      <p:sp>
        <p:nvSpPr>
          <p:cNvPr name="TextBox 20" id="20"/>
          <p:cNvSpPr txBox="true"/>
          <p:nvPr/>
        </p:nvSpPr>
        <p:spPr>
          <a:xfrm rot="0">
            <a:off x="1034729" y="3521426"/>
            <a:ext cx="8789696" cy="2096774"/>
          </a:xfrm>
          <a:prstGeom prst="rect">
            <a:avLst/>
          </a:prstGeom>
        </p:spPr>
        <p:txBody>
          <a:bodyPr anchor="t" rtlCol="false" tIns="0" lIns="0" bIns="0" rIns="0">
            <a:spAutoFit/>
          </a:bodyPr>
          <a:lstStyle/>
          <a:p>
            <a:pPr algn="l" marL="0" indent="0" lvl="0">
              <a:lnSpc>
                <a:spcPts val="5434"/>
              </a:lnSpc>
            </a:pPr>
            <a:r>
              <a:rPr lang="en-US" b="true" sz="4767">
                <a:solidFill>
                  <a:srgbClr val="000000"/>
                </a:solidFill>
                <a:latin typeface="Poppins Bold"/>
                <a:ea typeface="Poppins Bold"/>
                <a:cs typeface="Poppins Bold"/>
                <a:sym typeface="Poppins Bold"/>
              </a:rPr>
              <a:t>Hệ thống Quản lý Hợp đồng Điện tử và Nhắc mốc Gia hạn</a:t>
            </a:r>
          </a:p>
        </p:txBody>
      </p:sp>
      <p:sp>
        <p:nvSpPr>
          <p:cNvPr name="Freeform 21" id="21"/>
          <p:cNvSpPr/>
          <p:nvPr/>
        </p:nvSpPr>
        <p:spPr>
          <a:xfrm flipH="false" flipV="false" rot="0">
            <a:off x="1030327" y="864937"/>
            <a:ext cx="809724" cy="1248799"/>
          </a:xfrm>
          <a:custGeom>
            <a:avLst/>
            <a:gdLst/>
            <a:ahLst/>
            <a:cxnLst/>
            <a:rect r="r" b="b" t="t" l="l"/>
            <a:pathLst>
              <a:path h="1248799" w="809724">
                <a:moveTo>
                  <a:pt x="0" y="0"/>
                </a:moveTo>
                <a:lnTo>
                  <a:pt x="809724" y="0"/>
                </a:lnTo>
                <a:lnTo>
                  <a:pt x="809724" y="1248799"/>
                </a:lnTo>
                <a:lnTo>
                  <a:pt x="0" y="1248799"/>
                </a:lnTo>
                <a:lnTo>
                  <a:pt x="0" y="0"/>
                </a:lnTo>
                <a:close/>
              </a:path>
            </a:pathLst>
          </a:custGeom>
          <a:blipFill>
            <a:blip r:embed="rId3"/>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8995798">
            <a:off x="4899020" y="11022230"/>
            <a:ext cx="13531543" cy="3065584"/>
            <a:chOff x="0" y="0"/>
            <a:chExt cx="3083192" cy="698500"/>
          </a:xfrm>
        </p:grpSpPr>
        <p:sp>
          <p:nvSpPr>
            <p:cNvPr name="Freeform 3" id="3"/>
            <p:cNvSpPr/>
            <p:nvPr/>
          </p:nvSpPr>
          <p:spPr>
            <a:xfrm flipH="false" flipV="false" rot="0">
              <a:off x="0" y="0"/>
              <a:ext cx="3083192" cy="698500"/>
            </a:xfrm>
            <a:custGeom>
              <a:avLst/>
              <a:gdLst/>
              <a:ahLst/>
              <a:cxnLst/>
              <a:rect r="r" b="b" t="t" l="l"/>
              <a:pathLst>
                <a:path h="698500" w="3083192">
                  <a:moveTo>
                    <a:pt x="3083192" y="349250"/>
                  </a:moveTo>
                  <a:lnTo>
                    <a:pt x="2879992" y="698500"/>
                  </a:lnTo>
                  <a:lnTo>
                    <a:pt x="203200" y="698500"/>
                  </a:lnTo>
                  <a:lnTo>
                    <a:pt x="0" y="349250"/>
                  </a:lnTo>
                  <a:lnTo>
                    <a:pt x="203200" y="0"/>
                  </a:lnTo>
                  <a:lnTo>
                    <a:pt x="2879992" y="0"/>
                  </a:lnTo>
                  <a:lnTo>
                    <a:pt x="3083192" y="349250"/>
                  </a:lnTo>
                  <a:close/>
                </a:path>
              </a:pathLst>
            </a:custGeom>
            <a:solidFill>
              <a:srgbClr val="FFA916"/>
            </a:solidFill>
          </p:spPr>
        </p:sp>
        <p:sp>
          <p:nvSpPr>
            <p:cNvPr name="TextBox 4" id="4"/>
            <p:cNvSpPr txBox="true"/>
            <p:nvPr/>
          </p:nvSpPr>
          <p:spPr>
            <a:xfrm>
              <a:off x="114300" y="-57150"/>
              <a:ext cx="2854592" cy="755650"/>
            </a:xfrm>
            <a:prstGeom prst="rect">
              <a:avLst/>
            </a:prstGeom>
          </p:spPr>
          <p:txBody>
            <a:bodyPr anchor="ctr" rtlCol="false" tIns="50800" lIns="50800" bIns="50800" rIns="50800"/>
            <a:lstStyle/>
            <a:p>
              <a:pPr algn="ctr" marL="0" indent="0" lvl="0">
                <a:lnSpc>
                  <a:spcPts val="3219"/>
                </a:lnSpc>
              </a:pPr>
            </a:p>
          </p:txBody>
        </p:sp>
      </p:grpSp>
      <p:grpSp>
        <p:nvGrpSpPr>
          <p:cNvPr name="Group 5" id="5"/>
          <p:cNvGrpSpPr/>
          <p:nvPr/>
        </p:nvGrpSpPr>
        <p:grpSpPr>
          <a:xfrm rot="-8995798">
            <a:off x="-355651" y="9121343"/>
            <a:ext cx="13531543" cy="3065584"/>
            <a:chOff x="0" y="0"/>
            <a:chExt cx="3083192" cy="698500"/>
          </a:xfrm>
        </p:grpSpPr>
        <p:sp>
          <p:nvSpPr>
            <p:cNvPr name="Freeform 6" id="6"/>
            <p:cNvSpPr/>
            <p:nvPr/>
          </p:nvSpPr>
          <p:spPr>
            <a:xfrm flipH="false" flipV="false" rot="0">
              <a:off x="0" y="0"/>
              <a:ext cx="3083192" cy="698500"/>
            </a:xfrm>
            <a:custGeom>
              <a:avLst/>
              <a:gdLst/>
              <a:ahLst/>
              <a:cxnLst/>
              <a:rect r="r" b="b" t="t" l="l"/>
              <a:pathLst>
                <a:path h="698500" w="3083192">
                  <a:moveTo>
                    <a:pt x="3083192" y="349250"/>
                  </a:moveTo>
                  <a:lnTo>
                    <a:pt x="2879992" y="698500"/>
                  </a:lnTo>
                  <a:lnTo>
                    <a:pt x="203200" y="698500"/>
                  </a:lnTo>
                  <a:lnTo>
                    <a:pt x="0" y="349250"/>
                  </a:lnTo>
                  <a:lnTo>
                    <a:pt x="203200" y="0"/>
                  </a:lnTo>
                  <a:lnTo>
                    <a:pt x="2879992" y="0"/>
                  </a:lnTo>
                  <a:lnTo>
                    <a:pt x="3083192" y="349250"/>
                  </a:lnTo>
                  <a:close/>
                </a:path>
              </a:pathLst>
            </a:custGeom>
            <a:solidFill>
              <a:srgbClr val="024A59"/>
            </a:solidFill>
          </p:spPr>
        </p:sp>
        <p:sp>
          <p:nvSpPr>
            <p:cNvPr name="TextBox 7" id="7"/>
            <p:cNvSpPr txBox="true"/>
            <p:nvPr/>
          </p:nvSpPr>
          <p:spPr>
            <a:xfrm>
              <a:off x="114300" y="-57150"/>
              <a:ext cx="2854592" cy="755650"/>
            </a:xfrm>
            <a:prstGeom prst="rect">
              <a:avLst/>
            </a:prstGeom>
          </p:spPr>
          <p:txBody>
            <a:bodyPr anchor="ctr" rtlCol="false" tIns="50800" lIns="50800" bIns="50800" rIns="50800"/>
            <a:lstStyle/>
            <a:p>
              <a:pPr algn="ctr" marL="0" indent="0" lvl="0">
                <a:lnSpc>
                  <a:spcPts val="3219"/>
                </a:lnSpc>
              </a:pPr>
            </a:p>
          </p:txBody>
        </p:sp>
      </p:grpSp>
      <p:grpSp>
        <p:nvGrpSpPr>
          <p:cNvPr name="Group 8" id="8"/>
          <p:cNvGrpSpPr/>
          <p:nvPr/>
        </p:nvGrpSpPr>
        <p:grpSpPr>
          <a:xfrm rot="-8998130">
            <a:off x="-5149813" y="-1738765"/>
            <a:ext cx="12822069" cy="6906116"/>
            <a:chOff x="0" y="0"/>
            <a:chExt cx="1296853" cy="698500"/>
          </a:xfrm>
        </p:grpSpPr>
        <p:sp>
          <p:nvSpPr>
            <p:cNvPr name="Freeform 9" id="9"/>
            <p:cNvSpPr/>
            <p:nvPr/>
          </p:nvSpPr>
          <p:spPr>
            <a:xfrm flipH="false" flipV="false" rot="0">
              <a:off x="0" y="0"/>
              <a:ext cx="1296853" cy="698500"/>
            </a:xfrm>
            <a:custGeom>
              <a:avLst/>
              <a:gdLst/>
              <a:ahLst/>
              <a:cxnLst/>
              <a:rect r="r" b="b" t="t" l="l"/>
              <a:pathLst>
                <a:path h="698500" w="1296853">
                  <a:moveTo>
                    <a:pt x="1296853" y="349250"/>
                  </a:moveTo>
                  <a:lnTo>
                    <a:pt x="1093653" y="698500"/>
                  </a:lnTo>
                  <a:lnTo>
                    <a:pt x="203200" y="698500"/>
                  </a:lnTo>
                  <a:lnTo>
                    <a:pt x="0" y="349250"/>
                  </a:lnTo>
                  <a:lnTo>
                    <a:pt x="203200" y="0"/>
                  </a:lnTo>
                  <a:lnTo>
                    <a:pt x="1093653" y="0"/>
                  </a:lnTo>
                  <a:lnTo>
                    <a:pt x="1296853" y="349250"/>
                  </a:lnTo>
                  <a:close/>
                </a:path>
              </a:pathLst>
            </a:custGeom>
            <a:solidFill>
              <a:srgbClr val="024A59"/>
            </a:solidFill>
          </p:spPr>
        </p:sp>
        <p:sp>
          <p:nvSpPr>
            <p:cNvPr name="TextBox 10" id="10"/>
            <p:cNvSpPr txBox="true"/>
            <p:nvPr/>
          </p:nvSpPr>
          <p:spPr>
            <a:xfrm>
              <a:off x="114300" y="-57150"/>
              <a:ext cx="1068253" cy="755650"/>
            </a:xfrm>
            <a:prstGeom prst="rect">
              <a:avLst/>
            </a:prstGeom>
          </p:spPr>
          <p:txBody>
            <a:bodyPr anchor="ctr" rtlCol="false" tIns="50800" lIns="50800" bIns="50800" rIns="50800"/>
            <a:lstStyle/>
            <a:p>
              <a:pPr algn="ctr" marL="0" indent="0" lvl="0">
                <a:lnSpc>
                  <a:spcPts val="3219"/>
                </a:lnSpc>
              </a:pPr>
            </a:p>
          </p:txBody>
        </p:sp>
      </p:grpSp>
      <p:grpSp>
        <p:nvGrpSpPr>
          <p:cNvPr name="Group 11" id="11"/>
          <p:cNvGrpSpPr/>
          <p:nvPr/>
        </p:nvGrpSpPr>
        <p:grpSpPr>
          <a:xfrm rot="-8998130">
            <a:off x="-5506703" y="-114237"/>
            <a:ext cx="14503583" cy="7811799"/>
            <a:chOff x="0" y="0"/>
            <a:chExt cx="1296853" cy="698500"/>
          </a:xfrm>
        </p:grpSpPr>
        <p:sp>
          <p:nvSpPr>
            <p:cNvPr name="Freeform 12" id="12"/>
            <p:cNvSpPr/>
            <p:nvPr/>
          </p:nvSpPr>
          <p:spPr>
            <a:xfrm flipH="false" flipV="false" rot="0">
              <a:off x="0" y="0"/>
              <a:ext cx="1296853" cy="698500"/>
            </a:xfrm>
            <a:custGeom>
              <a:avLst/>
              <a:gdLst/>
              <a:ahLst/>
              <a:cxnLst/>
              <a:rect r="r" b="b" t="t" l="l"/>
              <a:pathLst>
                <a:path h="698500" w="1296853">
                  <a:moveTo>
                    <a:pt x="1296853" y="349250"/>
                  </a:moveTo>
                  <a:lnTo>
                    <a:pt x="1093653" y="698500"/>
                  </a:lnTo>
                  <a:lnTo>
                    <a:pt x="203200" y="698500"/>
                  </a:lnTo>
                  <a:lnTo>
                    <a:pt x="0" y="349250"/>
                  </a:lnTo>
                  <a:lnTo>
                    <a:pt x="203200" y="0"/>
                  </a:lnTo>
                  <a:lnTo>
                    <a:pt x="1093653" y="0"/>
                  </a:lnTo>
                  <a:lnTo>
                    <a:pt x="1296853" y="349250"/>
                  </a:lnTo>
                  <a:close/>
                </a:path>
              </a:pathLst>
            </a:custGeom>
            <a:solidFill>
              <a:srgbClr val="FFA916"/>
            </a:solidFill>
          </p:spPr>
        </p:sp>
        <p:sp>
          <p:nvSpPr>
            <p:cNvPr name="TextBox 13" id="13"/>
            <p:cNvSpPr txBox="true"/>
            <p:nvPr/>
          </p:nvSpPr>
          <p:spPr>
            <a:xfrm>
              <a:off x="114300" y="-57150"/>
              <a:ext cx="1068253" cy="755650"/>
            </a:xfrm>
            <a:prstGeom prst="rect">
              <a:avLst/>
            </a:prstGeom>
          </p:spPr>
          <p:txBody>
            <a:bodyPr anchor="ctr" rtlCol="false" tIns="50800" lIns="50800" bIns="50800" rIns="50800"/>
            <a:lstStyle/>
            <a:p>
              <a:pPr algn="ctr" marL="0" indent="0" lvl="0">
                <a:lnSpc>
                  <a:spcPts val="3219"/>
                </a:lnSpc>
              </a:pPr>
            </a:p>
          </p:txBody>
        </p:sp>
      </p:grpSp>
      <p:sp>
        <p:nvSpPr>
          <p:cNvPr name="Freeform 14" id="14"/>
          <p:cNvSpPr/>
          <p:nvPr/>
        </p:nvSpPr>
        <p:spPr>
          <a:xfrm flipH="false" flipV="false" rot="-1813147">
            <a:off x="369422" y="1468799"/>
            <a:ext cx="7423098" cy="7335355"/>
          </a:xfrm>
          <a:custGeom>
            <a:avLst/>
            <a:gdLst/>
            <a:ahLst/>
            <a:cxnLst/>
            <a:rect r="r" b="b" t="t" l="l"/>
            <a:pathLst>
              <a:path h="7335355" w="7423098">
                <a:moveTo>
                  <a:pt x="0" y="0"/>
                </a:moveTo>
                <a:lnTo>
                  <a:pt x="7423098" y="0"/>
                </a:lnTo>
                <a:lnTo>
                  <a:pt x="7423098" y="7335355"/>
                </a:lnTo>
                <a:lnTo>
                  <a:pt x="0" y="7335355"/>
                </a:lnTo>
                <a:lnTo>
                  <a:pt x="0" y="0"/>
                </a:lnTo>
                <a:close/>
              </a:path>
            </a:pathLst>
          </a:custGeom>
          <a:blipFill>
            <a:blip r:embed="rId2"/>
            <a:stretch>
              <a:fillRect l="0" t="0" r="0" b="0"/>
            </a:stretch>
          </a:blipFill>
        </p:spPr>
      </p:sp>
      <p:grpSp>
        <p:nvGrpSpPr>
          <p:cNvPr name="Group 15" id="15"/>
          <p:cNvGrpSpPr/>
          <p:nvPr/>
        </p:nvGrpSpPr>
        <p:grpSpPr>
          <a:xfrm rot="0">
            <a:off x="478181" y="939081"/>
            <a:ext cx="7226346" cy="8408839"/>
            <a:chOff x="0" y="0"/>
            <a:chExt cx="698500" cy="812800"/>
          </a:xfrm>
        </p:grpSpPr>
        <p:sp>
          <p:nvSpPr>
            <p:cNvPr name="Freeform 16" id="16"/>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24A59"/>
            </a:solidFill>
          </p:spPr>
        </p:sp>
        <p:sp>
          <p:nvSpPr>
            <p:cNvPr name="TextBox 17" id="17"/>
            <p:cNvSpPr txBox="true"/>
            <p:nvPr/>
          </p:nvSpPr>
          <p:spPr>
            <a:xfrm>
              <a:off x="0" y="82550"/>
              <a:ext cx="698500" cy="590550"/>
            </a:xfrm>
            <a:prstGeom prst="rect">
              <a:avLst/>
            </a:prstGeom>
          </p:spPr>
          <p:txBody>
            <a:bodyPr anchor="ctr" rtlCol="false" tIns="50800" lIns="50800" bIns="50800" rIns="50800"/>
            <a:lstStyle/>
            <a:p>
              <a:pPr algn="ctr" marL="0" indent="0" lvl="0">
                <a:lnSpc>
                  <a:spcPts val="3219"/>
                </a:lnSpc>
              </a:pPr>
            </a:p>
          </p:txBody>
        </p:sp>
      </p:grpSp>
      <p:grpSp>
        <p:nvGrpSpPr>
          <p:cNvPr name="Group 18" id="18"/>
          <p:cNvGrpSpPr>
            <a:grpSpLocks noChangeAspect="true"/>
          </p:cNvGrpSpPr>
          <p:nvPr/>
        </p:nvGrpSpPr>
        <p:grpSpPr>
          <a:xfrm rot="0">
            <a:off x="701996" y="1229804"/>
            <a:ext cx="6778716" cy="7827392"/>
            <a:chOff x="0" y="0"/>
            <a:chExt cx="31287555" cy="36127779"/>
          </a:xfrm>
        </p:grpSpPr>
        <p:sp>
          <p:nvSpPr>
            <p:cNvPr name="Freeform 19" id="19"/>
            <p:cNvSpPr/>
            <p:nvPr/>
          </p:nvSpPr>
          <p:spPr>
            <a:xfrm flipH="false" flipV="false" rot="0">
              <a:off x="0" y="0"/>
              <a:ext cx="31287467" cy="36127817"/>
            </a:xfrm>
            <a:custGeom>
              <a:avLst/>
              <a:gdLst/>
              <a:ahLst/>
              <a:cxnLst/>
              <a:rect r="r" b="b" t="t" l="l"/>
              <a:pathLst>
                <a:path h="36127817" w="31287467">
                  <a:moveTo>
                    <a:pt x="15643733" y="0"/>
                  </a:moveTo>
                  <a:lnTo>
                    <a:pt x="0" y="9031859"/>
                  </a:lnTo>
                  <a:lnTo>
                    <a:pt x="0" y="27095831"/>
                  </a:lnTo>
                  <a:lnTo>
                    <a:pt x="15643733" y="36127817"/>
                  </a:lnTo>
                  <a:lnTo>
                    <a:pt x="31287467" y="27095958"/>
                  </a:lnTo>
                  <a:lnTo>
                    <a:pt x="31287467" y="9031859"/>
                  </a:lnTo>
                  <a:lnTo>
                    <a:pt x="15643861" y="0"/>
                  </a:lnTo>
                  <a:close/>
                </a:path>
              </a:pathLst>
            </a:custGeom>
            <a:blipFill>
              <a:blip r:embed="rId3"/>
              <a:stretch>
                <a:fillRect l="0" t="-3540" r="0" b="-3540"/>
              </a:stretch>
            </a:blipFill>
          </p:spPr>
        </p:sp>
      </p:grpSp>
      <p:grpSp>
        <p:nvGrpSpPr>
          <p:cNvPr name="Group 20" id="20"/>
          <p:cNvGrpSpPr/>
          <p:nvPr/>
        </p:nvGrpSpPr>
        <p:grpSpPr>
          <a:xfrm rot="0">
            <a:off x="12885572" y="6114069"/>
            <a:ext cx="4373728" cy="2849668"/>
            <a:chOff x="0" y="0"/>
            <a:chExt cx="1151928" cy="750530"/>
          </a:xfrm>
        </p:grpSpPr>
        <p:sp>
          <p:nvSpPr>
            <p:cNvPr name="Freeform 21" id="21"/>
            <p:cNvSpPr/>
            <p:nvPr/>
          </p:nvSpPr>
          <p:spPr>
            <a:xfrm flipH="false" flipV="false" rot="0">
              <a:off x="0" y="0"/>
              <a:ext cx="1151929" cy="750530"/>
            </a:xfrm>
            <a:custGeom>
              <a:avLst/>
              <a:gdLst/>
              <a:ahLst/>
              <a:cxnLst/>
              <a:rect r="r" b="b" t="t" l="l"/>
              <a:pathLst>
                <a:path h="750530" w="1151929">
                  <a:moveTo>
                    <a:pt x="0" y="0"/>
                  </a:moveTo>
                  <a:lnTo>
                    <a:pt x="1151929" y="0"/>
                  </a:lnTo>
                  <a:lnTo>
                    <a:pt x="1151929" y="750530"/>
                  </a:lnTo>
                  <a:lnTo>
                    <a:pt x="0" y="750530"/>
                  </a:lnTo>
                  <a:close/>
                </a:path>
              </a:pathLst>
            </a:custGeom>
            <a:solidFill>
              <a:srgbClr val="FFA916"/>
            </a:solidFill>
          </p:spPr>
        </p:sp>
        <p:sp>
          <p:nvSpPr>
            <p:cNvPr name="TextBox 22" id="22"/>
            <p:cNvSpPr txBox="true"/>
            <p:nvPr/>
          </p:nvSpPr>
          <p:spPr>
            <a:xfrm>
              <a:off x="0" y="-57150"/>
              <a:ext cx="1151928" cy="807680"/>
            </a:xfrm>
            <a:prstGeom prst="rect">
              <a:avLst/>
            </a:prstGeom>
          </p:spPr>
          <p:txBody>
            <a:bodyPr anchor="ctr" rtlCol="false" tIns="50800" lIns="50800" bIns="50800" rIns="50800"/>
            <a:lstStyle/>
            <a:p>
              <a:pPr algn="ctr" marL="0" indent="0" lvl="0">
                <a:lnSpc>
                  <a:spcPts val="3219"/>
                </a:lnSpc>
              </a:pPr>
            </a:p>
          </p:txBody>
        </p:sp>
      </p:grpSp>
      <p:grpSp>
        <p:nvGrpSpPr>
          <p:cNvPr name="Group 23" id="23"/>
          <p:cNvGrpSpPr/>
          <p:nvPr/>
        </p:nvGrpSpPr>
        <p:grpSpPr>
          <a:xfrm rot="0">
            <a:off x="8848604" y="3791662"/>
            <a:ext cx="4415824" cy="2490788"/>
            <a:chOff x="0" y="0"/>
            <a:chExt cx="1163015" cy="656010"/>
          </a:xfrm>
        </p:grpSpPr>
        <p:sp>
          <p:nvSpPr>
            <p:cNvPr name="Freeform 24" id="24"/>
            <p:cNvSpPr/>
            <p:nvPr/>
          </p:nvSpPr>
          <p:spPr>
            <a:xfrm flipH="false" flipV="false" rot="0">
              <a:off x="0" y="0"/>
              <a:ext cx="1163015" cy="656010"/>
            </a:xfrm>
            <a:custGeom>
              <a:avLst/>
              <a:gdLst/>
              <a:ahLst/>
              <a:cxnLst/>
              <a:rect r="r" b="b" t="t" l="l"/>
              <a:pathLst>
                <a:path h="656010" w="1163015">
                  <a:moveTo>
                    <a:pt x="0" y="0"/>
                  </a:moveTo>
                  <a:lnTo>
                    <a:pt x="1163015" y="0"/>
                  </a:lnTo>
                  <a:lnTo>
                    <a:pt x="1163015" y="656010"/>
                  </a:lnTo>
                  <a:lnTo>
                    <a:pt x="0" y="656010"/>
                  </a:lnTo>
                  <a:close/>
                </a:path>
              </a:pathLst>
            </a:custGeom>
            <a:solidFill>
              <a:srgbClr val="FFA916"/>
            </a:solidFill>
          </p:spPr>
        </p:sp>
        <p:sp>
          <p:nvSpPr>
            <p:cNvPr name="TextBox 25" id="25"/>
            <p:cNvSpPr txBox="true"/>
            <p:nvPr/>
          </p:nvSpPr>
          <p:spPr>
            <a:xfrm>
              <a:off x="0" y="-57150"/>
              <a:ext cx="1163015" cy="713160"/>
            </a:xfrm>
            <a:prstGeom prst="rect">
              <a:avLst/>
            </a:prstGeom>
          </p:spPr>
          <p:txBody>
            <a:bodyPr anchor="ctr" rtlCol="false" tIns="50800" lIns="50800" bIns="50800" rIns="50800"/>
            <a:lstStyle/>
            <a:p>
              <a:pPr algn="ctr" marL="0" indent="0" lvl="0">
                <a:lnSpc>
                  <a:spcPts val="3219"/>
                </a:lnSpc>
              </a:pPr>
            </a:p>
          </p:txBody>
        </p:sp>
      </p:grpSp>
      <p:grpSp>
        <p:nvGrpSpPr>
          <p:cNvPr name="Group 26" id="26"/>
          <p:cNvGrpSpPr/>
          <p:nvPr/>
        </p:nvGrpSpPr>
        <p:grpSpPr>
          <a:xfrm rot="0">
            <a:off x="8848604" y="6282450"/>
            <a:ext cx="4205348" cy="2681288"/>
            <a:chOff x="0" y="0"/>
            <a:chExt cx="1107581" cy="706183"/>
          </a:xfrm>
        </p:grpSpPr>
        <p:sp>
          <p:nvSpPr>
            <p:cNvPr name="Freeform 27" id="27"/>
            <p:cNvSpPr/>
            <p:nvPr/>
          </p:nvSpPr>
          <p:spPr>
            <a:xfrm flipH="false" flipV="false" rot="0">
              <a:off x="0" y="0"/>
              <a:ext cx="1107581" cy="706183"/>
            </a:xfrm>
            <a:custGeom>
              <a:avLst/>
              <a:gdLst/>
              <a:ahLst/>
              <a:cxnLst/>
              <a:rect r="r" b="b" t="t" l="l"/>
              <a:pathLst>
                <a:path h="706183" w="1107581">
                  <a:moveTo>
                    <a:pt x="0" y="0"/>
                  </a:moveTo>
                  <a:lnTo>
                    <a:pt x="1107581" y="0"/>
                  </a:lnTo>
                  <a:lnTo>
                    <a:pt x="1107581" y="706183"/>
                  </a:lnTo>
                  <a:lnTo>
                    <a:pt x="0" y="706183"/>
                  </a:lnTo>
                  <a:close/>
                </a:path>
              </a:pathLst>
            </a:custGeom>
            <a:solidFill>
              <a:srgbClr val="024A59"/>
            </a:solidFill>
          </p:spPr>
        </p:sp>
        <p:sp>
          <p:nvSpPr>
            <p:cNvPr name="TextBox 28" id="28"/>
            <p:cNvSpPr txBox="true"/>
            <p:nvPr/>
          </p:nvSpPr>
          <p:spPr>
            <a:xfrm>
              <a:off x="0" y="-57150"/>
              <a:ext cx="1107581" cy="763333"/>
            </a:xfrm>
            <a:prstGeom prst="rect">
              <a:avLst/>
            </a:prstGeom>
          </p:spPr>
          <p:txBody>
            <a:bodyPr anchor="ctr" rtlCol="false" tIns="50800" lIns="50800" bIns="50800" rIns="50800"/>
            <a:lstStyle/>
            <a:p>
              <a:pPr algn="ctr" marL="0" indent="0" lvl="0">
                <a:lnSpc>
                  <a:spcPts val="3219"/>
                </a:lnSpc>
              </a:pPr>
            </a:p>
          </p:txBody>
        </p:sp>
      </p:grpSp>
      <p:grpSp>
        <p:nvGrpSpPr>
          <p:cNvPr name="Group 29" id="29"/>
          <p:cNvGrpSpPr/>
          <p:nvPr/>
        </p:nvGrpSpPr>
        <p:grpSpPr>
          <a:xfrm rot="0">
            <a:off x="13053952" y="3791662"/>
            <a:ext cx="4205348" cy="2490788"/>
            <a:chOff x="0" y="0"/>
            <a:chExt cx="1107581" cy="656010"/>
          </a:xfrm>
        </p:grpSpPr>
        <p:sp>
          <p:nvSpPr>
            <p:cNvPr name="Freeform 30" id="30"/>
            <p:cNvSpPr/>
            <p:nvPr/>
          </p:nvSpPr>
          <p:spPr>
            <a:xfrm flipH="false" flipV="false" rot="0">
              <a:off x="0" y="0"/>
              <a:ext cx="1107581" cy="656010"/>
            </a:xfrm>
            <a:custGeom>
              <a:avLst/>
              <a:gdLst/>
              <a:ahLst/>
              <a:cxnLst/>
              <a:rect r="r" b="b" t="t" l="l"/>
              <a:pathLst>
                <a:path h="656010" w="1107581">
                  <a:moveTo>
                    <a:pt x="0" y="0"/>
                  </a:moveTo>
                  <a:lnTo>
                    <a:pt x="1107581" y="0"/>
                  </a:lnTo>
                  <a:lnTo>
                    <a:pt x="1107581" y="656010"/>
                  </a:lnTo>
                  <a:lnTo>
                    <a:pt x="0" y="656010"/>
                  </a:lnTo>
                  <a:close/>
                </a:path>
              </a:pathLst>
            </a:custGeom>
            <a:solidFill>
              <a:srgbClr val="024A59"/>
            </a:solidFill>
          </p:spPr>
        </p:sp>
        <p:sp>
          <p:nvSpPr>
            <p:cNvPr name="TextBox 31" id="31"/>
            <p:cNvSpPr txBox="true"/>
            <p:nvPr/>
          </p:nvSpPr>
          <p:spPr>
            <a:xfrm>
              <a:off x="0" y="-57150"/>
              <a:ext cx="1107581" cy="713160"/>
            </a:xfrm>
            <a:prstGeom prst="rect">
              <a:avLst/>
            </a:prstGeom>
          </p:spPr>
          <p:txBody>
            <a:bodyPr anchor="ctr" rtlCol="false" tIns="50800" lIns="50800" bIns="50800" rIns="50800"/>
            <a:lstStyle/>
            <a:p>
              <a:pPr algn="ctr" marL="0" indent="0" lvl="0">
                <a:lnSpc>
                  <a:spcPts val="3219"/>
                </a:lnSpc>
              </a:pPr>
            </a:p>
          </p:txBody>
        </p:sp>
      </p:grpSp>
      <p:grpSp>
        <p:nvGrpSpPr>
          <p:cNvPr name="Group 32" id="32"/>
          <p:cNvGrpSpPr/>
          <p:nvPr/>
        </p:nvGrpSpPr>
        <p:grpSpPr>
          <a:xfrm rot="0">
            <a:off x="8995224" y="3936890"/>
            <a:ext cx="604753" cy="703712"/>
            <a:chOff x="0" y="0"/>
            <a:chExt cx="698500" cy="812800"/>
          </a:xfrm>
        </p:grpSpPr>
        <p:sp>
          <p:nvSpPr>
            <p:cNvPr name="Freeform 33" id="33"/>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24A59"/>
            </a:solidFill>
          </p:spPr>
        </p:sp>
        <p:sp>
          <p:nvSpPr>
            <p:cNvPr name="TextBox 34" id="34"/>
            <p:cNvSpPr txBox="true"/>
            <p:nvPr/>
          </p:nvSpPr>
          <p:spPr>
            <a:xfrm>
              <a:off x="0" y="82550"/>
              <a:ext cx="698500" cy="590550"/>
            </a:xfrm>
            <a:prstGeom prst="rect">
              <a:avLst/>
            </a:prstGeom>
          </p:spPr>
          <p:txBody>
            <a:bodyPr anchor="ctr" rtlCol="false" tIns="50800" lIns="50800" bIns="50800" rIns="50800"/>
            <a:lstStyle/>
            <a:p>
              <a:pPr algn="ctr" marL="0" indent="0" lvl="0">
                <a:lnSpc>
                  <a:spcPts val="3219"/>
                </a:lnSpc>
              </a:pPr>
            </a:p>
          </p:txBody>
        </p:sp>
      </p:grpSp>
      <p:grpSp>
        <p:nvGrpSpPr>
          <p:cNvPr name="Group 35" id="35"/>
          <p:cNvGrpSpPr/>
          <p:nvPr/>
        </p:nvGrpSpPr>
        <p:grpSpPr>
          <a:xfrm rot="0">
            <a:off x="8995224" y="6406520"/>
            <a:ext cx="604753" cy="703712"/>
            <a:chOff x="0" y="0"/>
            <a:chExt cx="698500" cy="812800"/>
          </a:xfrm>
        </p:grpSpPr>
        <p:sp>
          <p:nvSpPr>
            <p:cNvPr name="Freeform 36" id="36"/>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FFA916"/>
            </a:solidFill>
          </p:spPr>
        </p:sp>
        <p:sp>
          <p:nvSpPr>
            <p:cNvPr name="TextBox 37" id="37"/>
            <p:cNvSpPr txBox="true"/>
            <p:nvPr/>
          </p:nvSpPr>
          <p:spPr>
            <a:xfrm>
              <a:off x="0" y="82550"/>
              <a:ext cx="698500" cy="590550"/>
            </a:xfrm>
            <a:prstGeom prst="rect">
              <a:avLst/>
            </a:prstGeom>
          </p:spPr>
          <p:txBody>
            <a:bodyPr anchor="ctr" rtlCol="false" tIns="50800" lIns="50800" bIns="50800" rIns="50800"/>
            <a:lstStyle/>
            <a:p>
              <a:pPr algn="ctr" marL="0" indent="0" lvl="0">
                <a:lnSpc>
                  <a:spcPts val="3219"/>
                </a:lnSpc>
              </a:pPr>
            </a:p>
          </p:txBody>
        </p:sp>
      </p:grpSp>
      <p:grpSp>
        <p:nvGrpSpPr>
          <p:cNvPr name="Group 38" id="38"/>
          <p:cNvGrpSpPr/>
          <p:nvPr/>
        </p:nvGrpSpPr>
        <p:grpSpPr>
          <a:xfrm rot="0">
            <a:off x="13178637" y="3936890"/>
            <a:ext cx="604753" cy="703712"/>
            <a:chOff x="0" y="0"/>
            <a:chExt cx="698500" cy="812800"/>
          </a:xfrm>
        </p:grpSpPr>
        <p:sp>
          <p:nvSpPr>
            <p:cNvPr name="Freeform 39" id="39"/>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FFA916"/>
            </a:solidFill>
          </p:spPr>
        </p:sp>
        <p:sp>
          <p:nvSpPr>
            <p:cNvPr name="TextBox 40" id="40"/>
            <p:cNvSpPr txBox="true"/>
            <p:nvPr/>
          </p:nvSpPr>
          <p:spPr>
            <a:xfrm>
              <a:off x="0" y="82550"/>
              <a:ext cx="698500" cy="590550"/>
            </a:xfrm>
            <a:prstGeom prst="rect">
              <a:avLst/>
            </a:prstGeom>
          </p:spPr>
          <p:txBody>
            <a:bodyPr anchor="ctr" rtlCol="false" tIns="50800" lIns="50800" bIns="50800" rIns="50800"/>
            <a:lstStyle/>
            <a:p>
              <a:pPr algn="ctr" marL="0" indent="0" lvl="0">
                <a:lnSpc>
                  <a:spcPts val="3219"/>
                </a:lnSpc>
              </a:pPr>
            </a:p>
          </p:txBody>
        </p:sp>
      </p:grpSp>
      <p:grpSp>
        <p:nvGrpSpPr>
          <p:cNvPr name="Group 41" id="41"/>
          <p:cNvGrpSpPr/>
          <p:nvPr/>
        </p:nvGrpSpPr>
        <p:grpSpPr>
          <a:xfrm rot="0">
            <a:off x="13178637" y="6406520"/>
            <a:ext cx="604753" cy="703712"/>
            <a:chOff x="0" y="0"/>
            <a:chExt cx="698500" cy="812800"/>
          </a:xfrm>
        </p:grpSpPr>
        <p:sp>
          <p:nvSpPr>
            <p:cNvPr name="Freeform 42" id="42"/>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24A59"/>
            </a:solidFill>
          </p:spPr>
        </p:sp>
        <p:sp>
          <p:nvSpPr>
            <p:cNvPr name="TextBox 43" id="43"/>
            <p:cNvSpPr txBox="true"/>
            <p:nvPr/>
          </p:nvSpPr>
          <p:spPr>
            <a:xfrm>
              <a:off x="0" y="82550"/>
              <a:ext cx="698500" cy="590550"/>
            </a:xfrm>
            <a:prstGeom prst="rect">
              <a:avLst/>
            </a:prstGeom>
          </p:spPr>
          <p:txBody>
            <a:bodyPr anchor="ctr" rtlCol="false" tIns="50800" lIns="50800" bIns="50800" rIns="50800"/>
            <a:lstStyle/>
            <a:p>
              <a:pPr algn="ctr" marL="0" indent="0" lvl="0">
                <a:lnSpc>
                  <a:spcPts val="3219"/>
                </a:lnSpc>
              </a:pPr>
            </a:p>
          </p:txBody>
        </p:sp>
      </p:grpSp>
      <p:sp>
        <p:nvSpPr>
          <p:cNvPr name="Freeform 44" id="44"/>
          <p:cNvSpPr/>
          <p:nvPr/>
        </p:nvSpPr>
        <p:spPr>
          <a:xfrm flipH="false" flipV="false" rot="0">
            <a:off x="9072721" y="3990642"/>
            <a:ext cx="450324" cy="533816"/>
          </a:xfrm>
          <a:custGeom>
            <a:avLst/>
            <a:gdLst/>
            <a:ahLst/>
            <a:cxnLst/>
            <a:rect r="r" b="b" t="t" l="l"/>
            <a:pathLst>
              <a:path h="533816" w="450324">
                <a:moveTo>
                  <a:pt x="0" y="0"/>
                </a:moveTo>
                <a:lnTo>
                  <a:pt x="450324" y="0"/>
                </a:lnTo>
                <a:lnTo>
                  <a:pt x="450324" y="533816"/>
                </a:lnTo>
                <a:lnTo>
                  <a:pt x="0" y="533816"/>
                </a:lnTo>
                <a:lnTo>
                  <a:pt x="0" y="0"/>
                </a:lnTo>
                <a:close/>
              </a:path>
            </a:pathLst>
          </a:custGeom>
          <a:blipFill>
            <a:blip r:embed="rId4"/>
            <a:stretch>
              <a:fillRect l="0" t="0" r="0" b="0"/>
            </a:stretch>
          </a:blipFill>
        </p:spPr>
      </p:sp>
      <p:sp>
        <p:nvSpPr>
          <p:cNvPr name="Freeform 45" id="45"/>
          <p:cNvSpPr/>
          <p:nvPr/>
        </p:nvSpPr>
        <p:spPr>
          <a:xfrm flipH="false" flipV="false" rot="0">
            <a:off x="13255584" y="6487094"/>
            <a:ext cx="450324" cy="557948"/>
          </a:xfrm>
          <a:custGeom>
            <a:avLst/>
            <a:gdLst/>
            <a:ahLst/>
            <a:cxnLst/>
            <a:rect r="r" b="b" t="t" l="l"/>
            <a:pathLst>
              <a:path h="557948" w="450324">
                <a:moveTo>
                  <a:pt x="0" y="0"/>
                </a:moveTo>
                <a:lnTo>
                  <a:pt x="450323" y="0"/>
                </a:lnTo>
                <a:lnTo>
                  <a:pt x="450323" y="557949"/>
                </a:lnTo>
                <a:lnTo>
                  <a:pt x="0" y="557949"/>
                </a:lnTo>
                <a:lnTo>
                  <a:pt x="0" y="0"/>
                </a:lnTo>
                <a:close/>
              </a:path>
            </a:pathLst>
          </a:custGeom>
          <a:blipFill>
            <a:blip r:embed="rId5"/>
            <a:stretch>
              <a:fillRect l="0" t="0" r="0" b="0"/>
            </a:stretch>
          </a:blipFill>
        </p:spPr>
      </p:sp>
      <p:sp>
        <p:nvSpPr>
          <p:cNvPr name="Freeform 46" id="46"/>
          <p:cNvSpPr/>
          <p:nvPr/>
        </p:nvSpPr>
        <p:spPr>
          <a:xfrm flipH="false" flipV="false" rot="0">
            <a:off x="13269534" y="4019519"/>
            <a:ext cx="450324" cy="525996"/>
          </a:xfrm>
          <a:custGeom>
            <a:avLst/>
            <a:gdLst/>
            <a:ahLst/>
            <a:cxnLst/>
            <a:rect r="r" b="b" t="t" l="l"/>
            <a:pathLst>
              <a:path h="525996" w="450324">
                <a:moveTo>
                  <a:pt x="0" y="0"/>
                </a:moveTo>
                <a:lnTo>
                  <a:pt x="450324" y="0"/>
                </a:lnTo>
                <a:lnTo>
                  <a:pt x="450324" y="525997"/>
                </a:lnTo>
                <a:lnTo>
                  <a:pt x="0" y="525997"/>
                </a:lnTo>
                <a:lnTo>
                  <a:pt x="0" y="0"/>
                </a:lnTo>
                <a:close/>
              </a:path>
            </a:pathLst>
          </a:custGeom>
          <a:blipFill>
            <a:blip r:embed="rId6"/>
            <a:stretch>
              <a:fillRect l="0" t="0" r="0" b="0"/>
            </a:stretch>
          </a:blipFill>
        </p:spPr>
      </p:sp>
      <p:sp>
        <p:nvSpPr>
          <p:cNvPr name="Freeform 47" id="47"/>
          <p:cNvSpPr/>
          <p:nvPr/>
        </p:nvSpPr>
        <p:spPr>
          <a:xfrm flipH="false" flipV="false" rot="0">
            <a:off x="9068740" y="6477694"/>
            <a:ext cx="457801" cy="514942"/>
          </a:xfrm>
          <a:custGeom>
            <a:avLst/>
            <a:gdLst/>
            <a:ahLst/>
            <a:cxnLst/>
            <a:rect r="r" b="b" t="t" l="l"/>
            <a:pathLst>
              <a:path h="514942" w="457801">
                <a:moveTo>
                  <a:pt x="0" y="0"/>
                </a:moveTo>
                <a:lnTo>
                  <a:pt x="457801" y="0"/>
                </a:lnTo>
                <a:lnTo>
                  <a:pt x="457801" y="514941"/>
                </a:lnTo>
                <a:lnTo>
                  <a:pt x="0" y="514941"/>
                </a:lnTo>
                <a:lnTo>
                  <a:pt x="0" y="0"/>
                </a:lnTo>
                <a:close/>
              </a:path>
            </a:pathLst>
          </a:custGeom>
          <a:blipFill>
            <a:blip r:embed="rId7"/>
            <a:stretch>
              <a:fillRect l="0" t="0" r="0" b="0"/>
            </a:stretch>
          </a:blipFill>
        </p:spPr>
      </p:sp>
      <p:sp>
        <p:nvSpPr>
          <p:cNvPr name="TextBox 48" id="48"/>
          <p:cNvSpPr txBox="true"/>
          <p:nvPr/>
        </p:nvSpPr>
        <p:spPr>
          <a:xfrm rot="0">
            <a:off x="10664666" y="1019175"/>
            <a:ext cx="6594634" cy="606866"/>
          </a:xfrm>
          <a:prstGeom prst="rect">
            <a:avLst/>
          </a:prstGeom>
        </p:spPr>
        <p:txBody>
          <a:bodyPr anchor="t" rtlCol="false" tIns="0" lIns="0" bIns="0" rIns="0">
            <a:spAutoFit/>
          </a:bodyPr>
          <a:lstStyle/>
          <a:p>
            <a:pPr algn="r" marL="0" indent="0" lvl="0">
              <a:lnSpc>
                <a:spcPts val="4495"/>
              </a:lnSpc>
            </a:pPr>
            <a:r>
              <a:rPr lang="en-US" b="true" sz="3978" spc="-119">
                <a:solidFill>
                  <a:srgbClr val="000000"/>
                </a:solidFill>
                <a:latin typeface="Poppins Bold"/>
                <a:ea typeface="Poppins Bold"/>
                <a:cs typeface="Poppins Bold"/>
                <a:sym typeface="Poppins Bold"/>
              </a:rPr>
              <a:t>Lý Do Chọn Đề Tài</a:t>
            </a:r>
          </a:p>
        </p:txBody>
      </p:sp>
      <p:sp>
        <p:nvSpPr>
          <p:cNvPr name="TextBox 49" id="49"/>
          <p:cNvSpPr txBox="true"/>
          <p:nvPr/>
        </p:nvSpPr>
        <p:spPr>
          <a:xfrm rot="0">
            <a:off x="9797187" y="4137599"/>
            <a:ext cx="3044343" cy="303444"/>
          </a:xfrm>
          <a:prstGeom prst="rect">
            <a:avLst/>
          </a:prstGeom>
        </p:spPr>
        <p:txBody>
          <a:bodyPr anchor="t" rtlCol="false" tIns="0" lIns="0" bIns="0" rIns="0">
            <a:spAutoFit/>
          </a:bodyPr>
          <a:lstStyle/>
          <a:p>
            <a:pPr algn="just" marL="0" indent="0" lvl="0">
              <a:lnSpc>
                <a:spcPts val="2249"/>
              </a:lnSpc>
            </a:pPr>
            <a:r>
              <a:rPr lang="en-US" b="true" sz="1990" spc="-59">
                <a:solidFill>
                  <a:srgbClr val="000000"/>
                </a:solidFill>
                <a:latin typeface="Poppins Bold"/>
                <a:ea typeface="Poppins Bold"/>
                <a:cs typeface="Poppins Bold"/>
                <a:sym typeface="Poppins Bold"/>
              </a:rPr>
              <a:t>Tốn Thời Gian Xử Lý</a:t>
            </a:r>
          </a:p>
        </p:txBody>
      </p:sp>
      <p:sp>
        <p:nvSpPr>
          <p:cNvPr name="TextBox 50" id="50"/>
          <p:cNvSpPr txBox="true"/>
          <p:nvPr/>
        </p:nvSpPr>
        <p:spPr>
          <a:xfrm rot="0">
            <a:off x="9797187" y="6607229"/>
            <a:ext cx="3219044" cy="292974"/>
          </a:xfrm>
          <a:prstGeom prst="rect">
            <a:avLst/>
          </a:prstGeom>
        </p:spPr>
        <p:txBody>
          <a:bodyPr anchor="t" rtlCol="false" tIns="0" lIns="0" bIns="0" rIns="0">
            <a:spAutoFit/>
          </a:bodyPr>
          <a:lstStyle/>
          <a:p>
            <a:pPr algn="just" marL="0" indent="0" lvl="0">
              <a:lnSpc>
                <a:spcPts val="2128"/>
              </a:lnSpc>
            </a:pPr>
            <a:r>
              <a:rPr lang="en-US" b="true" sz="1884" spc="-56">
                <a:solidFill>
                  <a:srgbClr val="FFFFFF"/>
                </a:solidFill>
                <a:latin typeface="Poppins Bold"/>
                <a:ea typeface="Poppins Bold"/>
                <a:cs typeface="Poppins Bold"/>
                <a:sym typeface="Poppins Bold"/>
              </a:rPr>
              <a:t>Thiếu Nhắc Hạn Tự Động</a:t>
            </a:r>
          </a:p>
        </p:txBody>
      </p:sp>
      <p:sp>
        <p:nvSpPr>
          <p:cNvPr name="TextBox 51" id="51"/>
          <p:cNvSpPr txBox="true"/>
          <p:nvPr/>
        </p:nvSpPr>
        <p:spPr>
          <a:xfrm rot="0">
            <a:off x="13983414" y="4137599"/>
            <a:ext cx="2393979" cy="579669"/>
          </a:xfrm>
          <a:prstGeom prst="rect">
            <a:avLst/>
          </a:prstGeom>
        </p:spPr>
        <p:txBody>
          <a:bodyPr anchor="t" rtlCol="false" tIns="0" lIns="0" bIns="0" rIns="0">
            <a:spAutoFit/>
          </a:bodyPr>
          <a:lstStyle/>
          <a:p>
            <a:pPr algn="just" marL="0" indent="0" lvl="0">
              <a:lnSpc>
                <a:spcPts val="2249"/>
              </a:lnSpc>
            </a:pPr>
            <a:r>
              <a:rPr lang="en-US" b="true" sz="1990" spc="-59">
                <a:solidFill>
                  <a:srgbClr val="FFFFFF"/>
                </a:solidFill>
                <a:latin typeface="Poppins Bold"/>
                <a:ea typeface="Poppins Bold"/>
                <a:cs typeface="Poppins Bold"/>
                <a:sym typeface="Poppins Bold"/>
              </a:rPr>
              <a:t>Dễ Thất Lạc, Khó Tra Cứu</a:t>
            </a:r>
          </a:p>
        </p:txBody>
      </p:sp>
      <p:sp>
        <p:nvSpPr>
          <p:cNvPr name="TextBox 52" id="52"/>
          <p:cNvSpPr txBox="true"/>
          <p:nvPr/>
        </p:nvSpPr>
        <p:spPr>
          <a:xfrm rot="0">
            <a:off x="13961983" y="6607229"/>
            <a:ext cx="2250856" cy="579669"/>
          </a:xfrm>
          <a:prstGeom prst="rect">
            <a:avLst/>
          </a:prstGeom>
        </p:spPr>
        <p:txBody>
          <a:bodyPr anchor="t" rtlCol="false" tIns="0" lIns="0" bIns="0" rIns="0">
            <a:spAutoFit/>
          </a:bodyPr>
          <a:lstStyle/>
          <a:p>
            <a:pPr algn="just" marL="0" indent="0" lvl="0">
              <a:lnSpc>
                <a:spcPts val="2249"/>
              </a:lnSpc>
            </a:pPr>
            <a:r>
              <a:rPr lang="en-US" b="true" sz="1990" spc="-59">
                <a:solidFill>
                  <a:srgbClr val="000000"/>
                </a:solidFill>
                <a:latin typeface="Poppins Bold"/>
                <a:ea typeface="Poppins Bold"/>
                <a:cs typeface="Poppins Bold"/>
                <a:sym typeface="Poppins Bold"/>
              </a:rPr>
              <a:t>Khó Kiểm Soát Bảo Mật</a:t>
            </a:r>
          </a:p>
        </p:txBody>
      </p:sp>
      <p:sp>
        <p:nvSpPr>
          <p:cNvPr name="TextBox 53" id="53"/>
          <p:cNvSpPr txBox="true"/>
          <p:nvPr/>
        </p:nvSpPr>
        <p:spPr>
          <a:xfrm rot="0">
            <a:off x="8995224" y="4727970"/>
            <a:ext cx="3890347" cy="973582"/>
          </a:xfrm>
          <a:prstGeom prst="rect">
            <a:avLst/>
          </a:prstGeom>
        </p:spPr>
        <p:txBody>
          <a:bodyPr anchor="t" rtlCol="false" tIns="0" lIns="0" bIns="0" rIns="0">
            <a:spAutoFit/>
          </a:bodyPr>
          <a:lstStyle/>
          <a:p>
            <a:pPr algn="just" marL="0" indent="0" lvl="0">
              <a:lnSpc>
                <a:spcPts val="1903"/>
              </a:lnSpc>
            </a:pPr>
            <a:r>
              <a:rPr lang="en-US" sz="1599">
                <a:solidFill>
                  <a:srgbClr val="000000"/>
                </a:solidFill>
                <a:latin typeface="Poppins"/>
                <a:ea typeface="Poppins"/>
                <a:cs typeface="Poppins"/>
                <a:sym typeface="Poppins"/>
              </a:rPr>
              <a:t>Quản lý hợp đồng giấy đòi hỏi nhân lực lớn, quy trình phê duyệt thủ công kéo dài, gây lãng phí thời gian và chi phí vận hành.</a:t>
            </a:r>
          </a:p>
        </p:txBody>
      </p:sp>
      <p:sp>
        <p:nvSpPr>
          <p:cNvPr name="TextBox 54" id="54"/>
          <p:cNvSpPr txBox="true"/>
          <p:nvPr/>
        </p:nvSpPr>
        <p:spPr>
          <a:xfrm rot="0">
            <a:off x="13211452" y="7235099"/>
            <a:ext cx="3890347" cy="735457"/>
          </a:xfrm>
          <a:prstGeom prst="rect">
            <a:avLst/>
          </a:prstGeom>
        </p:spPr>
        <p:txBody>
          <a:bodyPr anchor="t" rtlCol="false" tIns="0" lIns="0" bIns="0" rIns="0">
            <a:spAutoFit/>
          </a:bodyPr>
          <a:lstStyle/>
          <a:p>
            <a:pPr algn="just" marL="0" indent="0" lvl="0">
              <a:lnSpc>
                <a:spcPts val="1903"/>
              </a:lnSpc>
            </a:pPr>
            <a:r>
              <a:rPr lang="en-US" sz="1599">
                <a:solidFill>
                  <a:srgbClr val="000000"/>
                </a:solidFill>
                <a:latin typeface="Poppins"/>
                <a:ea typeface="Poppins"/>
                <a:cs typeface="Poppins"/>
                <a:sym typeface="Poppins"/>
              </a:rPr>
              <a:t>Thiếu cơ chế phân quyền và kiểm soát phê duyệt đa cấp, tiềm ẩn nguy cơ rò rỉ thông tin và gian lận hợp đồng.</a:t>
            </a:r>
          </a:p>
        </p:txBody>
      </p:sp>
      <p:sp>
        <p:nvSpPr>
          <p:cNvPr name="TextBox 55" id="55"/>
          <p:cNvSpPr txBox="true"/>
          <p:nvPr/>
        </p:nvSpPr>
        <p:spPr>
          <a:xfrm rot="0">
            <a:off x="13178637" y="4727970"/>
            <a:ext cx="3890347" cy="973582"/>
          </a:xfrm>
          <a:prstGeom prst="rect">
            <a:avLst/>
          </a:prstGeom>
        </p:spPr>
        <p:txBody>
          <a:bodyPr anchor="t" rtlCol="false" tIns="0" lIns="0" bIns="0" rIns="0">
            <a:spAutoFit/>
          </a:bodyPr>
          <a:lstStyle/>
          <a:p>
            <a:pPr algn="just" marL="0" indent="0" lvl="0">
              <a:lnSpc>
                <a:spcPts val="1903"/>
              </a:lnSpc>
            </a:pPr>
            <a:r>
              <a:rPr lang="en-US" sz="1599">
                <a:solidFill>
                  <a:srgbClr val="FFFFFF"/>
                </a:solidFill>
                <a:latin typeface="Poppins"/>
                <a:ea typeface="Poppins"/>
                <a:cs typeface="Poppins"/>
                <a:sym typeface="Poppins"/>
              </a:rPr>
              <a:t>Hồ sơ hợp đồng giấy dễ bị thất lạc, hư hỏng và khó tra cứu nhanh khi cần thiết, ảnh hưởng đến hiệu quả công việc.</a:t>
            </a:r>
          </a:p>
        </p:txBody>
      </p:sp>
      <p:sp>
        <p:nvSpPr>
          <p:cNvPr name="TextBox 56" id="56"/>
          <p:cNvSpPr txBox="true"/>
          <p:nvPr/>
        </p:nvSpPr>
        <p:spPr>
          <a:xfrm rot="0">
            <a:off x="9006104" y="7235099"/>
            <a:ext cx="3890347" cy="973582"/>
          </a:xfrm>
          <a:prstGeom prst="rect">
            <a:avLst/>
          </a:prstGeom>
        </p:spPr>
        <p:txBody>
          <a:bodyPr anchor="t" rtlCol="false" tIns="0" lIns="0" bIns="0" rIns="0">
            <a:spAutoFit/>
          </a:bodyPr>
          <a:lstStyle/>
          <a:p>
            <a:pPr algn="just" marL="0" indent="0" lvl="0">
              <a:lnSpc>
                <a:spcPts val="1903"/>
              </a:lnSpc>
            </a:pPr>
            <a:r>
              <a:rPr lang="en-US" sz="1599">
                <a:solidFill>
                  <a:srgbClr val="FFFFFF"/>
                </a:solidFill>
                <a:latin typeface="Poppins"/>
                <a:ea typeface="Poppins"/>
                <a:cs typeface="Poppins"/>
                <a:sym typeface="Poppins"/>
              </a:rPr>
              <a:t>Không có hệ thống nhắc nhở tự động khi hợp đồng sắp hết hạn, dẫn đến rủi ro bỏ lỡ gia hạn và thiệt hại kinh doanh.</a:t>
            </a:r>
          </a:p>
        </p:txBody>
      </p:sp>
      <p:sp>
        <p:nvSpPr>
          <p:cNvPr name="TextBox 57" id="57"/>
          <p:cNvSpPr txBox="true"/>
          <p:nvPr/>
        </p:nvSpPr>
        <p:spPr>
          <a:xfrm rot="0">
            <a:off x="8848604" y="2066725"/>
            <a:ext cx="8410696" cy="1133220"/>
          </a:xfrm>
          <a:prstGeom prst="rect">
            <a:avLst/>
          </a:prstGeom>
        </p:spPr>
        <p:txBody>
          <a:bodyPr anchor="t" rtlCol="false" tIns="0" lIns="0" bIns="0" rIns="0">
            <a:spAutoFit/>
          </a:bodyPr>
          <a:lstStyle/>
          <a:p>
            <a:pPr algn="r" marL="0" indent="0" lvl="0">
              <a:lnSpc>
                <a:spcPts val="2951"/>
              </a:lnSpc>
            </a:pPr>
            <a:r>
              <a:rPr lang="en-US" sz="2270">
                <a:solidFill>
                  <a:srgbClr val="000000"/>
                </a:solidFill>
                <a:latin typeface="Poppins"/>
                <a:ea typeface="Poppins"/>
                <a:cs typeface="Poppins"/>
                <a:sym typeface="Poppins"/>
              </a:rPr>
              <a:t>Thực trạng quản lý hợp đồng truyền thống bộc lộ nhiều hạn chế nghiêm trọng, đòi hỏi một giải pháp số hóa toàn diện và hiện đại.</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590397" y="-1490381"/>
            <a:ext cx="2231279" cy="3452656"/>
          </a:xfrm>
          <a:custGeom>
            <a:avLst/>
            <a:gdLst/>
            <a:ahLst/>
            <a:cxnLst/>
            <a:rect r="r" b="b" t="t" l="l"/>
            <a:pathLst>
              <a:path h="3452656" w="2231279">
                <a:moveTo>
                  <a:pt x="0" y="0"/>
                </a:moveTo>
                <a:lnTo>
                  <a:pt x="2231279" y="0"/>
                </a:lnTo>
                <a:lnTo>
                  <a:pt x="2231279" y="3452656"/>
                </a:lnTo>
                <a:lnTo>
                  <a:pt x="0" y="3452656"/>
                </a:lnTo>
                <a:lnTo>
                  <a:pt x="0" y="0"/>
                </a:lnTo>
                <a:close/>
              </a:path>
            </a:pathLst>
          </a:custGeom>
          <a:blipFill>
            <a:blip r:embed="rId2"/>
            <a:stretch>
              <a:fillRect l="0" t="0" r="0" b="0"/>
            </a:stretch>
          </a:blipFill>
        </p:spPr>
      </p:sp>
      <p:sp>
        <p:nvSpPr>
          <p:cNvPr name="Freeform 3" id="3"/>
          <p:cNvSpPr/>
          <p:nvPr/>
        </p:nvSpPr>
        <p:spPr>
          <a:xfrm flipH="false" flipV="false" rot="-5400000">
            <a:off x="16770736" y="-1125481"/>
            <a:ext cx="2028073" cy="4056146"/>
          </a:xfrm>
          <a:custGeom>
            <a:avLst/>
            <a:gdLst/>
            <a:ahLst/>
            <a:cxnLst/>
            <a:rect r="r" b="b" t="t" l="l"/>
            <a:pathLst>
              <a:path h="4056146" w="2028073">
                <a:moveTo>
                  <a:pt x="0" y="0"/>
                </a:moveTo>
                <a:lnTo>
                  <a:pt x="2028073" y="0"/>
                </a:lnTo>
                <a:lnTo>
                  <a:pt x="2028073" y="4056146"/>
                </a:lnTo>
                <a:lnTo>
                  <a:pt x="0" y="4056146"/>
                </a:lnTo>
                <a:lnTo>
                  <a:pt x="0" y="0"/>
                </a:lnTo>
                <a:close/>
              </a:path>
            </a:pathLst>
          </a:custGeom>
          <a:blipFill>
            <a:blip r:embed="rId3"/>
            <a:stretch>
              <a:fillRect l="0" t="0" r="0" b="0"/>
            </a:stretch>
          </a:blipFill>
        </p:spPr>
      </p:sp>
      <p:grpSp>
        <p:nvGrpSpPr>
          <p:cNvPr name="Group 4" id="4"/>
          <p:cNvGrpSpPr/>
          <p:nvPr/>
        </p:nvGrpSpPr>
        <p:grpSpPr>
          <a:xfrm rot="0">
            <a:off x="3938494" y="9963150"/>
            <a:ext cx="16477376" cy="783580"/>
            <a:chOff x="0" y="0"/>
            <a:chExt cx="4339720" cy="206375"/>
          </a:xfrm>
        </p:grpSpPr>
        <p:sp>
          <p:nvSpPr>
            <p:cNvPr name="Freeform 5" id="5"/>
            <p:cNvSpPr/>
            <p:nvPr/>
          </p:nvSpPr>
          <p:spPr>
            <a:xfrm flipH="false" flipV="false" rot="0">
              <a:off x="0" y="0"/>
              <a:ext cx="4339720" cy="206375"/>
            </a:xfrm>
            <a:custGeom>
              <a:avLst/>
              <a:gdLst/>
              <a:ahLst/>
              <a:cxnLst/>
              <a:rect r="r" b="b" t="t" l="l"/>
              <a:pathLst>
                <a:path h="206375" w="4339720">
                  <a:moveTo>
                    <a:pt x="203200" y="0"/>
                  </a:moveTo>
                  <a:lnTo>
                    <a:pt x="4339720" y="0"/>
                  </a:lnTo>
                  <a:lnTo>
                    <a:pt x="4136520" y="206375"/>
                  </a:lnTo>
                  <a:lnTo>
                    <a:pt x="0" y="206375"/>
                  </a:lnTo>
                  <a:lnTo>
                    <a:pt x="203200" y="0"/>
                  </a:lnTo>
                  <a:close/>
                </a:path>
              </a:pathLst>
            </a:custGeom>
            <a:solidFill>
              <a:srgbClr val="FFA916"/>
            </a:solidFill>
          </p:spPr>
        </p:sp>
        <p:sp>
          <p:nvSpPr>
            <p:cNvPr name="TextBox 6" id="6"/>
            <p:cNvSpPr txBox="true"/>
            <p:nvPr/>
          </p:nvSpPr>
          <p:spPr>
            <a:xfrm>
              <a:off x="101600" y="-57150"/>
              <a:ext cx="4136520" cy="263525"/>
            </a:xfrm>
            <a:prstGeom prst="rect">
              <a:avLst/>
            </a:prstGeom>
          </p:spPr>
          <p:txBody>
            <a:bodyPr anchor="ctr" rtlCol="false" tIns="50800" lIns="50800" bIns="50800" rIns="50800"/>
            <a:lstStyle/>
            <a:p>
              <a:pPr algn="ctr" marL="0" indent="0" lvl="0">
                <a:lnSpc>
                  <a:spcPts val="2659"/>
                </a:lnSpc>
              </a:pPr>
            </a:p>
          </p:txBody>
        </p:sp>
      </p:grpSp>
      <p:grpSp>
        <p:nvGrpSpPr>
          <p:cNvPr name="Group 7" id="7"/>
          <p:cNvGrpSpPr/>
          <p:nvPr/>
        </p:nvGrpSpPr>
        <p:grpSpPr>
          <a:xfrm rot="0">
            <a:off x="-1024868" y="9963150"/>
            <a:ext cx="7295490" cy="783580"/>
            <a:chOff x="0" y="0"/>
            <a:chExt cx="1921446" cy="206375"/>
          </a:xfrm>
        </p:grpSpPr>
        <p:sp>
          <p:nvSpPr>
            <p:cNvPr name="Freeform 8" id="8"/>
            <p:cNvSpPr/>
            <p:nvPr/>
          </p:nvSpPr>
          <p:spPr>
            <a:xfrm flipH="false" flipV="false" rot="0">
              <a:off x="0" y="0"/>
              <a:ext cx="1921446" cy="206375"/>
            </a:xfrm>
            <a:custGeom>
              <a:avLst/>
              <a:gdLst/>
              <a:ahLst/>
              <a:cxnLst/>
              <a:rect r="r" b="b" t="t" l="l"/>
              <a:pathLst>
                <a:path h="206375" w="1921446">
                  <a:moveTo>
                    <a:pt x="203200" y="0"/>
                  </a:moveTo>
                  <a:lnTo>
                    <a:pt x="1921446" y="0"/>
                  </a:lnTo>
                  <a:lnTo>
                    <a:pt x="1718246" y="206375"/>
                  </a:lnTo>
                  <a:lnTo>
                    <a:pt x="0" y="206375"/>
                  </a:lnTo>
                  <a:lnTo>
                    <a:pt x="203200" y="0"/>
                  </a:lnTo>
                  <a:close/>
                </a:path>
              </a:pathLst>
            </a:custGeom>
            <a:solidFill>
              <a:srgbClr val="024A59"/>
            </a:solidFill>
          </p:spPr>
        </p:sp>
        <p:sp>
          <p:nvSpPr>
            <p:cNvPr name="TextBox 9" id="9"/>
            <p:cNvSpPr txBox="true"/>
            <p:nvPr/>
          </p:nvSpPr>
          <p:spPr>
            <a:xfrm>
              <a:off x="101600" y="-57150"/>
              <a:ext cx="1718246" cy="263525"/>
            </a:xfrm>
            <a:prstGeom prst="rect">
              <a:avLst/>
            </a:prstGeom>
          </p:spPr>
          <p:txBody>
            <a:bodyPr anchor="ctr" rtlCol="false" tIns="50800" lIns="50800" bIns="50800" rIns="50800"/>
            <a:lstStyle/>
            <a:p>
              <a:pPr algn="ctr" marL="0" indent="0" lvl="0">
                <a:lnSpc>
                  <a:spcPts val="2659"/>
                </a:lnSpc>
              </a:pPr>
            </a:p>
          </p:txBody>
        </p:sp>
      </p:grpSp>
      <p:grpSp>
        <p:nvGrpSpPr>
          <p:cNvPr name="Group 10" id="10"/>
          <p:cNvGrpSpPr/>
          <p:nvPr/>
        </p:nvGrpSpPr>
        <p:grpSpPr>
          <a:xfrm rot="0">
            <a:off x="1678664" y="3147755"/>
            <a:ext cx="2167566" cy="1862752"/>
            <a:chOff x="0" y="0"/>
            <a:chExt cx="812800" cy="698500"/>
          </a:xfrm>
        </p:grpSpPr>
        <p:sp>
          <p:nvSpPr>
            <p:cNvPr name="Freeform 11" id="11"/>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24A59"/>
            </a:solidFill>
            <a:ln w="85725" cap="sq">
              <a:solidFill>
                <a:srgbClr val="FFA916"/>
              </a:solidFill>
              <a:prstDash val="solid"/>
              <a:miter/>
            </a:ln>
          </p:spPr>
        </p:sp>
        <p:sp>
          <p:nvSpPr>
            <p:cNvPr name="TextBox 12" id="12"/>
            <p:cNvSpPr txBox="true"/>
            <p:nvPr/>
          </p:nvSpPr>
          <p:spPr>
            <a:xfrm>
              <a:off x="114300" y="-57150"/>
              <a:ext cx="584200" cy="755650"/>
            </a:xfrm>
            <a:prstGeom prst="rect">
              <a:avLst/>
            </a:prstGeom>
          </p:spPr>
          <p:txBody>
            <a:bodyPr anchor="ctr" rtlCol="false" tIns="50800" lIns="50800" bIns="50800" rIns="50800"/>
            <a:lstStyle/>
            <a:p>
              <a:pPr algn="ctr" marL="0" indent="0" lvl="0">
                <a:lnSpc>
                  <a:spcPts val="2939"/>
                </a:lnSpc>
              </a:pPr>
            </a:p>
          </p:txBody>
        </p:sp>
      </p:grpSp>
      <p:grpSp>
        <p:nvGrpSpPr>
          <p:cNvPr name="Group 13" id="13"/>
          <p:cNvGrpSpPr/>
          <p:nvPr/>
        </p:nvGrpSpPr>
        <p:grpSpPr>
          <a:xfrm rot="0">
            <a:off x="5932581" y="3147755"/>
            <a:ext cx="2167566" cy="1862752"/>
            <a:chOff x="0" y="0"/>
            <a:chExt cx="812800" cy="698500"/>
          </a:xfrm>
        </p:grpSpPr>
        <p:sp>
          <p:nvSpPr>
            <p:cNvPr name="Freeform 14" id="14"/>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24A59"/>
            </a:solidFill>
            <a:ln w="85725" cap="sq">
              <a:solidFill>
                <a:srgbClr val="FFA916"/>
              </a:solidFill>
              <a:prstDash val="solid"/>
              <a:miter/>
            </a:ln>
          </p:spPr>
        </p:sp>
        <p:sp>
          <p:nvSpPr>
            <p:cNvPr name="TextBox 15" id="15"/>
            <p:cNvSpPr txBox="true"/>
            <p:nvPr/>
          </p:nvSpPr>
          <p:spPr>
            <a:xfrm>
              <a:off x="114300" y="-57150"/>
              <a:ext cx="584200" cy="755650"/>
            </a:xfrm>
            <a:prstGeom prst="rect">
              <a:avLst/>
            </a:prstGeom>
          </p:spPr>
          <p:txBody>
            <a:bodyPr anchor="ctr" rtlCol="false" tIns="50800" lIns="50800" bIns="50800" rIns="50800"/>
            <a:lstStyle/>
            <a:p>
              <a:pPr algn="ctr" marL="0" indent="0" lvl="0">
                <a:lnSpc>
                  <a:spcPts val="2939"/>
                </a:lnSpc>
              </a:pPr>
            </a:p>
          </p:txBody>
        </p:sp>
      </p:grpSp>
      <p:grpSp>
        <p:nvGrpSpPr>
          <p:cNvPr name="Group 16" id="16"/>
          <p:cNvGrpSpPr/>
          <p:nvPr/>
        </p:nvGrpSpPr>
        <p:grpSpPr>
          <a:xfrm rot="0">
            <a:off x="10186498" y="3147755"/>
            <a:ext cx="2167566" cy="1862752"/>
            <a:chOff x="0" y="0"/>
            <a:chExt cx="812800" cy="698500"/>
          </a:xfrm>
        </p:grpSpPr>
        <p:sp>
          <p:nvSpPr>
            <p:cNvPr name="Freeform 17" id="17"/>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24A59"/>
            </a:solidFill>
            <a:ln w="85725" cap="sq">
              <a:solidFill>
                <a:srgbClr val="FFA916"/>
              </a:solidFill>
              <a:prstDash val="solid"/>
              <a:miter/>
            </a:ln>
          </p:spPr>
        </p:sp>
        <p:sp>
          <p:nvSpPr>
            <p:cNvPr name="TextBox 18" id="18"/>
            <p:cNvSpPr txBox="true"/>
            <p:nvPr/>
          </p:nvSpPr>
          <p:spPr>
            <a:xfrm>
              <a:off x="114300" y="-57150"/>
              <a:ext cx="584200" cy="755650"/>
            </a:xfrm>
            <a:prstGeom prst="rect">
              <a:avLst/>
            </a:prstGeom>
          </p:spPr>
          <p:txBody>
            <a:bodyPr anchor="ctr" rtlCol="false" tIns="50800" lIns="50800" bIns="50800" rIns="50800"/>
            <a:lstStyle/>
            <a:p>
              <a:pPr algn="ctr" marL="0" indent="0" lvl="0">
                <a:lnSpc>
                  <a:spcPts val="2939"/>
                </a:lnSpc>
              </a:pPr>
            </a:p>
          </p:txBody>
        </p:sp>
      </p:grpSp>
      <p:grpSp>
        <p:nvGrpSpPr>
          <p:cNvPr name="Group 19" id="19"/>
          <p:cNvGrpSpPr/>
          <p:nvPr/>
        </p:nvGrpSpPr>
        <p:grpSpPr>
          <a:xfrm rot="0">
            <a:off x="14440416" y="3147755"/>
            <a:ext cx="2167566" cy="1862752"/>
            <a:chOff x="0" y="0"/>
            <a:chExt cx="812800" cy="698500"/>
          </a:xfrm>
        </p:grpSpPr>
        <p:sp>
          <p:nvSpPr>
            <p:cNvPr name="Freeform 20" id="20"/>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24A59"/>
            </a:solidFill>
            <a:ln w="85725" cap="sq">
              <a:solidFill>
                <a:srgbClr val="FFA916"/>
              </a:solidFill>
              <a:prstDash val="solid"/>
              <a:miter/>
            </a:ln>
          </p:spPr>
        </p:sp>
        <p:sp>
          <p:nvSpPr>
            <p:cNvPr name="TextBox 21" id="21"/>
            <p:cNvSpPr txBox="true"/>
            <p:nvPr/>
          </p:nvSpPr>
          <p:spPr>
            <a:xfrm>
              <a:off x="114300" y="-57150"/>
              <a:ext cx="584200" cy="755650"/>
            </a:xfrm>
            <a:prstGeom prst="rect">
              <a:avLst/>
            </a:prstGeom>
          </p:spPr>
          <p:txBody>
            <a:bodyPr anchor="ctr" rtlCol="false" tIns="50800" lIns="50800" bIns="50800" rIns="50800"/>
            <a:lstStyle/>
            <a:p>
              <a:pPr algn="ctr" marL="0" indent="0" lvl="0">
                <a:lnSpc>
                  <a:spcPts val="2939"/>
                </a:lnSpc>
              </a:pPr>
            </a:p>
          </p:txBody>
        </p:sp>
      </p:grpSp>
      <p:sp>
        <p:nvSpPr>
          <p:cNvPr name="Freeform 22" id="22"/>
          <p:cNvSpPr/>
          <p:nvPr/>
        </p:nvSpPr>
        <p:spPr>
          <a:xfrm flipH="false" flipV="false" rot="0">
            <a:off x="2206213" y="3489382"/>
            <a:ext cx="1140106" cy="1135545"/>
          </a:xfrm>
          <a:custGeom>
            <a:avLst/>
            <a:gdLst/>
            <a:ahLst/>
            <a:cxnLst/>
            <a:rect r="r" b="b" t="t" l="l"/>
            <a:pathLst>
              <a:path h="1135545" w="1140106">
                <a:moveTo>
                  <a:pt x="0" y="0"/>
                </a:moveTo>
                <a:lnTo>
                  <a:pt x="1140106" y="0"/>
                </a:lnTo>
                <a:lnTo>
                  <a:pt x="1140106" y="1135545"/>
                </a:lnTo>
                <a:lnTo>
                  <a:pt x="0" y="1135545"/>
                </a:lnTo>
                <a:lnTo>
                  <a:pt x="0" y="0"/>
                </a:lnTo>
                <a:close/>
              </a:path>
            </a:pathLst>
          </a:custGeom>
          <a:blipFill>
            <a:blip r:embed="rId4"/>
            <a:stretch>
              <a:fillRect l="0" t="0" r="0" b="0"/>
            </a:stretch>
          </a:blipFill>
        </p:spPr>
      </p:sp>
      <p:sp>
        <p:nvSpPr>
          <p:cNvPr name="Freeform 23" id="23"/>
          <p:cNvSpPr/>
          <p:nvPr/>
        </p:nvSpPr>
        <p:spPr>
          <a:xfrm flipH="false" flipV="false" rot="0">
            <a:off x="6378442" y="3353688"/>
            <a:ext cx="1277151" cy="1329128"/>
          </a:xfrm>
          <a:custGeom>
            <a:avLst/>
            <a:gdLst/>
            <a:ahLst/>
            <a:cxnLst/>
            <a:rect r="r" b="b" t="t" l="l"/>
            <a:pathLst>
              <a:path h="1329128" w="1277151">
                <a:moveTo>
                  <a:pt x="0" y="0"/>
                </a:moveTo>
                <a:lnTo>
                  <a:pt x="1277151" y="0"/>
                </a:lnTo>
                <a:lnTo>
                  <a:pt x="1277151" y="1329128"/>
                </a:lnTo>
                <a:lnTo>
                  <a:pt x="0" y="1329128"/>
                </a:lnTo>
                <a:lnTo>
                  <a:pt x="0" y="0"/>
                </a:lnTo>
                <a:close/>
              </a:path>
            </a:pathLst>
          </a:custGeom>
          <a:blipFill>
            <a:blip r:embed="rId5"/>
            <a:stretch>
              <a:fillRect l="0" t="0" r="0" b="0"/>
            </a:stretch>
          </a:blipFill>
        </p:spPr>
      </p:sp>
      <p:sp>
        <p:nvSpPr>
          <p:cNvPr name="Freeform 24" id="24"/>
          <p:cNvSpPr/>
          <p:nvPr/>
        </p:nvSpPr>
        <p:spPr>
          <a:xfrm flipH="false" flipV="false" rot="0">
            <a:off x="10801105" y="3524430"/>
            <a:ext cx="1061676" cy="1066360"/>
          </a:xfrm>
          <a:custGeom>
            <a:avLst/>
            <a:gdLst/>
            <a:ahLst/>
            <a:cxnLst/>
            <a:rect r="r" b="b" t="t" l="l"/>
            <a:pathLst>
              <a:path h="1066360" w="1061676">
                <a:moveTo>
                  <a:pt x="0" y="0"/>
                </a:moveTo>
                <a:lnTo>
                  <a:pt x="1061676" y="0"/>
                </a:lnTo>
                <a:lnTo>
                  <a:pt x="1061676" y="1066360"/>
                </a:lnTo>
                <a:lnTo>
                  <a:pt x="0" y="1066360"/>
                </a:lnTo>
                <a:lnTo>
                  <a:pt x="0" y="0"/>
                </a:lnTo>
                <a:close/>
              </a:path>
            </a:pathLst>
          </a:custGeom>
          <a:blipFill>
            <a:blip r:embed="rId6"/>
            <a:stretch>
              <a:fillRect l="0" t="0" r="0" b="0"/>
            </a:stretch>
          </a:blipFill>
        </p:spPr>
      </p:sp>
      <p:sp>
        <p:nvSpPr>
          <p:cNvPr name="Freeform 25" id="25"/>
          <p:cNvSpPr/>
          <p:nvPr/>
        </p:nvSpPr>
        <p:spPr>
          <a:xfrm flipH="false" flipV="false" rot="0">
            <a:off x="14741483" y="3297761"/>
            <a:ext cx="1551765" cy="1223383"/>
          </a:xfrm>
          <a:custGeom>
            <a:avLst/>
            <a:gdLst/>
            <a:ahLst/>
            <a:cxnLst/>
            <a:rect r="r" b="b" t="t" l="l"/>
            <a:pathLst>
              <a:path h="1223383" w="1551765">
                <a:moveTo>
                  <a:pt x="0" y="0"/>
                </a:moveTo>
                <a:lnTo>
                  <a:pt x="1551766" y="0"/>
                </a:lnTo>
                <a:lnTo>
                  <a:pt x="1551766" y="1223384"/>
                </a:lnTo>
                <a:lnTo>
                  <a:pt x="0" y="1223384"/>
                </a:lnTo>
                <a:lnTo>
                  <a:pt x="0" y="0"/>
                </a:lnTo>
                <a:close/>
              </a:path>
            </a:pathLst>
          </a:custGeom>
          <a:blipFill>
            <a:blip r:embed="rId7"/>
            <a:stretch>
              <a:fillRect l="0" t="0" r="0" b="0"/>
            </a:stretch>
          </a:blipFill>
        </p:spPr>
      </p:sp>
      <p:sp>
        <p:nvSpPr>
          <p:cNvPr name="TextBox 26" id="26"/>
          <p:cNvSpPr txBox="true"/>
          <p:nvPr/>
        </p:nvSpPr>
        <p:spPr>
          <a:xfrm rot="0">
            <a:off x="5317945" y="1000125"/>
            <a:ext cx="7652110" cy="744220"/>
          </a:xfrm>
          <a:prstGeom prst="rect">
            <a:avLst/>
          </a:prstGeom>
        </p:spPr>
        <p:txBody>
          <a:bodyPr anchor="t" rtlCol="false" tIns="0" lIns="0" bIns="0" rIns="0">
            <a:spAutoFit/>
          </a:bodyPr>
          <a:lstStyle/>
          <a:p>
            <a:pPr algn="ctr" marL="0" indent="0" lvl="0">
              <a:lnSpc>
                <a:spcPts val="5404"/>
              </a:lnSpc>
            </a:pPr>
            <a:r>
              <a:rPr lang="en-US" b="true" sz="4699">
                <a:solidFill>
                  <a:srgbClr val="000000"/>
                </a:solidFill>
                <a:latin typeface="Poppins Bold"/>
                <a:ea typeface="Poppins Bold"/>
                <a:cs typeface="Poppins Bold"/>
                <a:sym typeface="Poppins Bold"/>
              </a:rPr>
              <a:t>Mục Tiêu Hệ Thống</a:t>
            </a:r>
          </a:p>
        </p:txBody>
      </p:sp>
      <p:sp>
        <p:nvSpPr>
          <p:cNvPr name="TextBox 27" id="27"/>
          <p:cNvSpPr txBox="true"/>
          <p:nvPr/>
        </p:nvSpPr>
        <p:spPr>
          <a:xfrm rot="0">
            <a:off x="1028700" y="5351345"/>
            <a:ext cx="3467493" cy="759336"/>
          </a:xfrm>
          <a:prstGeom prst="rect">
            <a:avLst/>
          </a:prstGeom>
        </p:spPr>
        <p:txBody>
          <a:bodyPr anchor="t" rtlCol="false" tIns="0" lIns="0" bIns="0" rIns="0">
            <a:spAutoFit/>
          </a:bodyPr>
          <a:lstStyle/>
          <a:p>
            <a:pPr algn="ctr" marL="0" indent="0" lvl="0">
              <a:lnSpc>
                <a:spcPts val="2967"/>
              </a:lnSpc>
            </a:pPr>
            <a:r>
              <a:rPr lang="en-US" b="true" sz="2580">
                <a:solidFill>
                  <a:srgbClr val="000000"/>
                </a:solidFill>
                <a:latin typeface="Poppins Bold"/>
                <a:ea typeface="Poppins Bold"/>
                <a:cs typeface="Poppins Bold"/>
                <a:sym typeface="Poppins Bold"/>
              </a:rPr>
              <a:t>Số hóa vòng đời hợp đồng</a:t>
            </a:r>
          </a:p>
        </p:txBody>
      </p:sp>
      <p:sp>
        <p:nvSpPr>
          <p:cNvPr name="TextBox 28" id="28"/>
          <p:cNvSpPr txBox="true"/>
          <p:nvPr/>
        </p:nvSpPr>
        <p:spPr>
          <a:xfrm rot="0">
            <a:off x="1028700" y="6281620"/>
            <a:ext cx="3467493" cy="1793240"/>
          </a:xfrm>
          <a:prstGeom prst="rect">
            <a:avLst/>
          </a:prstGeom>
        </p:spPr>
        <p:txBody>
          <a:bodyPr anchor="t" rtlCol="false" tIns="0" lIns="0" bIns="0" rIns="0">
            <a:spAutoFit/>
          </a:bodyPr>
          <a:lstStyle/>
          <a:p>
            <a:pPr algn="just" marL="0" indent="0" lvl="0">
              <a:lnSpc>
                <a:spcPts val="2379"/>
              </a:lnSpc>
            </a:pPr>
            <a:r>
              <a:rPr lang="en-US" sz="1999">
                <a:solidFill>
                  <a:srgbClr val="000000"/>
                </a:solidFill>
                <a:latin typeface="Poppins"/>
                <a:ea typeface="Poppins"/>
                <a:cs typeface="Poppins"/>
                <a:sym typeface="Poppins"/>
              </a:rPr>
              <a:t>Chuyển đổi toàn bộ quy trình hợp đồng từ tạo lập, ký kết đến lưu trữ sang môi trường số hóa hoàn toàn, loại bỏ hồ sơ giấy tờ truyền thống.</a:t>
            </a:r>
          </a:p>
        </p:txBody>
      </p:sp>
      <p:sp>
        <p:nvSpPr>
          <p:cNvPr name="TextBox 29" id="29"/>
          <p:cNvSpPr txBox="true"/>
          <p:nvPr/>
        </p:nvSpPr>
        <p:spPr>
          <a:xfrm rot="0">
            <a:off x="5804597" y="5351345"/>
            <a:ext cx="2423534" cy="759336"/>
          </a:xfrm>
          <a:prstGeom prst="rect">
            <a:avLst/>
          </a:prstGeom>
        </p:spPr>
        <p:txBody>
          <a:bodyPr anchor="t" rtlCol="false" tIns="0" lIns="0" bIns="0" rIns="0">
            <a:spAutoFit/>
          </a:bodyPr>
          <a:lstStyle/>
          <a:p>
            <a:pPr algn="ctr" marL="0" indent="0" lvl="0">
              <a:lnSpc>
                <a:spcPts val="2967"/>
              </a:lnSpc>
            </a:pPr>
            <a:r>
              <a:rPr lang="en-US" b="true" sz="2580">
                <a:solidFill>
                  <a:srgbClr val="000000"/>
                </a:solidFill>
                <a:latin typeface="Poppins Bold"/>
                <a:ea typeface="Poppins Bold"/>
                <a:cs typeface="Poppins Bold"/>
                <a:sym typeface="Poppins Bold"/>
              </a:rPr>
              <a:t>Tự động nhắc hạn / gia hạn</a:t>
            </a:r>
          </a:p>
        </p:txBody>
      </p:sp>
      <p:sp>
        <p:nvSpPr>
          <p:cNvPr name="TextBox 30" id="30"/>
          <p:cNvSpPr txBox="true"/>
          <p:nvPr/>
        </p:nvSpPr>
        <p:spPr>
          <a:xfrm rot="0">
            <a:off x="5282617" y="6281620"/>
            <a:ext cx="3467493" cy="1793240"/>
          </a:xfrm>
          <a:prstGeom prst="rect">
            <a:avLst/>
          </a:prstGeom>
        </p:spPr>
        <p:txBody>
          <a:bodyPr anchor="t" rtlCol="false" tIns="0" lIns="0" bIns="0" rIns="0">
            <a:spAutoFit/>
          </a:bodyPr>
          <a:lstStyle/>
          <a:p>
            <a:pPr algn="just" marL="0" indent="0" lvl="0">
              <a:lnSpc>
                <a:spcPts val="2379"/>
              </a:lnSpc>
            </a:pPr>
            <a:r>
              <a:rPr lang="en-US" sz="1999">
                <a:solidFill>
                  <a:srgbClr val="000000"/>
                </a:solidFill>
                <a:latin typeface="Poppins"/>
                <a:ea typeface="Poppins"/>
                <a:cs typeface="Poppins"/>
                <a:sym typeface="Poppins"/>
              </a:rPr>
              <a:t>Hệ thống tự động gửi thông báo nhắc nhở trước khi hợp đồng hết hạn, hỗ trợ quy trình gia hạn nhanh chóng, không bỏ sót mốc quan trọng.</a:t>
            </a:r>
          </a:p>
        </p:txBody>
      </p:sp>
      <p:sp>
        <p:nvSpPr>
          <p:cNvPr name="TextBox 31" id="31"/>
          <p:cNvSpPr txBox="true"/>
          <p:nvPr/>
        </p:nvSpPr>
        <p:spPr>
          <a:xfrm rot="0">
            <a:off x="10024838" y="5351345"/>
            <a:ext cx="2895771" cy="759336"/>
          </a:xfrm>
          <a:prstGeom prst="rect">
            <a:avLst/>
          </a:prstGeom>
        </p:spPr>
        <p:txBody>
          <a:bodyPr anchor="t" rtlCol="false" tIns="0" lIns="0" bIns="0" rIns="0">
            <a:spAutoFit/>
          </a:bodyPr>
          <a:lstStyle/>
          <a:p>
            <a:pPr algn="ctr" marL="0" indent="0" lvl="0">
              <a:lnSpc>
                <a:spcPts val="2967"/>
              </a:lnSpc>
            </a:pPr>
            <a:r>
              <a:rPr lang="en-US" b="true" sz="2580">
                <a:solidFill>
                  <a:srgbClr val="000000"/>
                </a:solidFill>
                <a:latin typeface="Poppins Bold"/>
                <a:ea typeface="Poppins Bold"/>
                <a:cs typeface="Poppins Bold"/>
                <a:sym typeface="Poppins Bold"/>
              </a:rPr>
              <a:t>Quản lý phê duyệt nhiều cấp</a:t>
            </a:r>
          </a:p>
        </p:txBody>
      </p:sp>
      <p:sp>
        <p:nvSpPr>
          <p:cNvPr name="TextBox 32" id="32"/>
          <p:cNvSpPr txBox="true"/>
          <p:nvPr/>
        </p:nvSpPr>
        <p:spPr>
          <a:xfrm rot="0">
            <a:off x="9536535" y="6281620"/>
            <a:ext cx="3467493" cy="1793240"/>
          </a:xfrm>
          <a:prstGeom prst="rect">
            <a:avLst/>
          </a:prstGeom>
        </p:spPr>
        <p:txBody>
          <a:bodyPr anchor="t" rtlCol="false" tIns="0" lIns="0" bIns="0" rIns="0">
            <a:spAutoFit/>
          </a:bodyPr>
          <a:lstStyle/>
          <a:p>
            <a:pPr algn="just" marL="0" indent="0" lvl="0">
              <a:lnSpc>
                <a:spcPts val="2379"/>
              </a:lnSpc>
            </a:pPr>
            <a:r>
              <a:rPr lang="en-US" sz="1999">
                <a:solidFill>
                  <a:srgbClr val="000000"/>
                </a:solidFill>
                <a:latin typeface="Poppins"/>
                <a:ea typeface="Poppins"/>
                <a:cs typeface="Poppins"/>
                <a:sym typeface="Poppins"/>
              </a:rPr>
              <a:t>Thiết lập quy trình phê duyệt linh hoạt theo nhiều cấp bậc, đảm bảo kiểm soát chặt chẽ và minh bạch trong từng bước xử lý hợp đồng.</a:t>
            </a:r>
          </a:p>
        </p:txBody>
      </p:sp>
      <p:sp>
        <p:nvSpPr>
          <p:cNvPr name="TextBox 33" id="33"/>
          <p:cNvSpPr txBox="true"/>
          <p:nvPr/>
        </p:nvSpPr>
        <p:spPr>
          <a:xfrm rot="0">
            <a:off x="13790452" y="5351345"/>
            <a:ext cx="3467493" cy="759336"/>
          </a:xfrm>
          <a:prstGeom prst="rect">
            <a:avLst/>
          </a:prstGeom>
        </p:spPr>
        <p:txBody>
          <a:bodyPr anchor="t" rtlCol="false" tIns="0" lIns="0" bIns="0" rIns="0">
            <a:spAutoFit/>
          </a:bodyPr>
          <a:lstStyle/>
          <a:p>
            <a:pPr algn="ctr" marL="0" indent="0" lvl="0">
              <a:lnSpc>
                <a:spcPts val="2967"/>
              </a:lnSpc>
            </a:pPr>
            <a:r>
              <a:rPr lang="en-US" b="true" sz="2580">
                <a:solidFill>
                  <a:srgbClr val="000000"/>
                </a:solidFill>
                <a:latin typeface="Poppins Bold"/>
                <a:ea typeface="Poppins Bold"/>
                <a:cs typeface="Poppins Bold"/>
                <a:sym typeface="Poppins Bold"/>
              </a:rPr>
              <a:t>Báo cáo thống kê trực quan</a:t>
            </a:r>
          </a:p>
        </p:txBody>
      </p:sp>
      <p:sp>
        <p:nvSpPr>
          <p:cNvPr name="TextBox 34" id="34"/>
          <p:cNvSpPr txBox="true"/>
          <p:nvPr/>
        </p:nvSpPr>
        <p:spPr>
          <a:xfrm rot="0">
            <a:off x="13790452" y="6281620"/>
            <a:ext cx="3467493" cy="1793240"/>
          </a:xfrm>
          <a:prstGeom prst="rect">
            <a:avLst/>
          </a:prstGeom>
        </p:spPr>
        <p:txBody>
          <a:bodyPr anchor="t" rtlCol="false" tIns="0" lIns="0" bIns="0" rIns="0">
            <a:spAutoFit/>
          </a:bodyPr>
          <a:lstStyle/>
          <a:p>
            <a:pPr algn="just" marL="0" indent="0" lvl="0">
              <a:lnSpc>
                <a:spcPts val="2379"/>
              </a:lnSpc>
            </a:pPr>
            <a:r>
              <a:rPr lang="en-US" sz="1999">
                <a:solidFill>
                  <a:srgbClr val="000000"/>
                </a:solidFill>
                <a:latin typeface="Poppins"/>
                <a:ea typeface="Poppins"/>
                <a:cs typeface="Poppins"/>
                <a:sym typeface="Poppins"/>
              </a:rPr>
              <a:t>Cung cấp dashboard và báo cáo thống kê trực quan theo thời gian thực, hỗ trợ lãnh đạo ra quyết định dựa trên dữ liệu chính xác.</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577899" y="-1344863"/>
            <a:ext cx="2437258" cy="4313730"/>
          </a:xfrm>
          <a:custGeom>
            <a:avLst/>
            <a:gdLst/>
            <a:ahLst/>
            <a:cxnLst/>
            <a:rect r="r" b="b" t="t" l="l"/>
            <a:pathLst>
              <a:path h="4313730" w="2437258">
                <a:moveTo>
                  <a:pt x="0" y="0"/>
                </a:moveTo>
                <a:lnTo>
                  <a:pt x="2437258" y="0"/>
                </a:lnTo>
                <a:lnTo>
                  <a:pt x="2437258" y="4313730"/>
                </a:lnTo>
                <a:lnTo>
                  <a:pt x="0" y="4313730"/>
                </a:lnTo>
                <a:lnTo>
                  <a:pt x="0" y="0"/>
                </a:lnTo>
                <a:close/>
              </a:path>
            </a:pathLst>
          </a:custGeom>
          <a:blipFill>
            <a:blip r:embed="rId2"/>
            <a:stretch>
              <a:fillRect l="0" t="0" r="0" b="0"/>
            </a:stretch>
          </a:blipFill>
        </p:spPr>
      </p:sp>
      <p:sp>
        <p:nvSpPr>
          <p:cNvPr name="Freeform 3" id="3"/>
          <p:cNvSpPr/>
          <p:nvPr/>
        </p:nvSpPr>
        <p:spPr>
          <a:xfrm flipH="false" flipV="false" rot="-5400000">
            <a:off x="16798489" y="-1489490"/>
            <a:ext cx="3030141" cy="3253842"/>
          </a:xfrm>
          <a:custGeom>
            <a:avLst/>
            <a:gdLst/>
            <a:ahLst/>
            <a:cxnLst/>
            <a:rect r="r" b="b" t="t" l="l"/>
            <a:pathLst>
              <a:path h="3253842" w="3030141">
                <a:moveTo>
                  <a:pt x="0" y="0"/>
                </a:moveTo>
                <a:lnTo>
                  <a:pt x="3030140" y="0"/>
                </a:lnTo>
                <a:lnTo>
                  <a:pt x="3030140" y="3253843"/>
                </a:lnTo>
                <a:lnTo>
                  <a:pt x="0" y="3253843"/>
                </a:lnTo>
                <a:lnTo>
                  <a:pt x="0" y="0"/>
                </a:lnTo>
                <a:close/>
              </a:path>
            </a:pathLst>
          </a:custGeom>
          <a:blipFill>
            <a:blip r:embed="rId3"/>
            <a:stretch>
              <a:fillRect l="0" t="0" r="0" b="0"/>
            </a:stretch>
          </a:blipFill>
        </p:spPr>
      </p:sp>
      <p:grpSp>
        <p:nvGrpSpPr>
          <p:cNvPr name="Group 4" id="4"/>
          <p:cNvGrpSpPr/>
          <p:nvPr/>
        </p:nvGrpSpPr>
        <p:grpSpPr>
          <a:xfrm rot="0">
            <a:off x="3938494" y="9963150"/>
            <a:ext cx="16477376" cy="783580"/>
            <a:chOff x="0" y="0"/>
            <a:chExt cx="4339720" cy="206375"/>
          </a:xfrm>
        </p:grpSpPr>
        <p:sp>
          <p:nvSpPr>
            <p:cNvPr name="Freeform 5" id="5"/>
            <p:cNvSpPr/>
            <p:nvPr/>
          </p:nvSpPr>
          <p:spPr>
            <a:xfrm flipH="false" flipV="false" rot="0">
              <a:off x="0" y="0"/>
              <a:ext cx="4339720" cy="206375"/>
            </a:xfrm>
            <a:custGeom>
              <a:avLst/>
              <a:gdLst/>
              <a:ahLst/>
              <a:cxnLst/>
              <a:rect r="r" b="b" t="t" l="l"/>
              <a:pathLst>
                <a:path h="206375" w="4339720">
                  <a:moveTo>
                    <a:pt x="203200" y="0"/>
                  </a:moveTo>
                  <a:lnTo>
                    <a:pt x="4339720" y="0"/>
                  </a:lnTo>
                  <a:lnTo>
                    <a:pt x="4136520" y="206375"/>
                  </a:lnTo>
                  <a:lnTo>
                    <a:pt x="0" y="206375"/>
                  </a:lnTo>
                  <a:lnTo>
                    <a:pt x="203200" y="0"/>
                  </a:lnTo>
                  <a:close/>
                </a:path>
              </a:pathLst>
            </a:custGeom>
            <a:solidFill>
              <a:srgbClr val="FFA916"/>
            </a:solidFill>
          </p:spPr>
        </p:sp>
        <p:sp>
          <p:nvSpPr>
            <p:cNvPr name="TextBox 6" id="6"/>
            <p:cNvSpPr txBox="true"/>
            <p:nvPr/>
          </p:nvSpPr>
          <p:spPr>
            <a:xfrm>
              <a:off x="101600" y="-57150"/>
              <a:ext cx="4136520" cy="263525"/>
            </a:xfrm>
            <a:prstGeom prst="rect">
              <a:avLst/>
            </a:prstGeom>
          </p:spPr>
          <p:txBody>
            <a:bodyPr anchor="ctr" rtlCol="false" tIns="50800" lIns="50800" bIns="50800" rIns="50800"/>
            <a:lstStyle/>
            <a:p>
              <a:pPr algn="ctr" marL="0" indent="0" lvl="0">
                <a:lnSpc>
                  <a:spcPts val="2659"/>
                </a:lnSpc>
              </a:pPr>
            </a:p>
          </p:txBody>
        </p:sp>
      </p:grpSp>
      <p:grpSp>
        <p:nvGrpSpPr>
          <p:cNvPr name="Group 7" id="7"/>
          <p:cNvGrpSpPr/>
          <p:nvPr/>
        </p:nvGrpSpPr>
        <p:grpSpPr>
          <a:xfrm rot="0">
            <a:off x="-1024868" y="9963150"/>
            <a:ext cx="7295490" cy="783580"/>
            <a:chOff x="0" y="0"/>
            <a:chExt cx="1921446" cy="206375"/>
          </a:xfrm>
        </p:grpSpPr>
        <p:sp>
          <p:nvSpPr>
            <p:cNvPr name="Freeform 8" id="8"/>
            <p:cNvSpPr/>
            <p:nvPr/>
          </p:nvSpPr>
          <p:spPr>
            <a:xfrm flipH="false" flipV="false" rot="0">
              <a:off x="0" y="0"/>
              <a:ext cx="1921446" cy="206375"/>
            </a:xfrm>
            <a:custGeom>
              <a:avLst/>
              <a:gdLst/>
              <a:ahLst/>
              <a:cxnLst/>
              <a:rect r="r" b="b" t="t" l="l"/>
              <a:pathLst>
                <a:path h="206375" w="1921446">
                  <a:moveTo>
                    <a:pt x="203200" y="0"/>
                  </a:moveTo>
                  <a:lnTo>
                    <a:pt x="1921446" y="0"/>
                  </a:lnTo>
                  <a:lnTo>
                    <a:pt x="1718246" y="206375"/>
                  </a:lnTo>
                  <a:lnTo>
                    <a:pt x="0" y="206375"/>
                  </a:lnTo>
                  <a:lnTo>
                    <a:pt x="203200" y="0"/>
                  </a:lnTo>
                  <a:close/>
                </a:path>
              </a:pathLst>
            </a:custGeom>
            <a:solidFill>
              <a:srgbClr val="024A59"/>
            </a:solidFill>
          </p:spPr>
        </p:sp>
        <p:sp>
          <p:nvSpPr>
            <p:cNvPr name="TextBox 9" id="9"/>
            <p:cNvSpPr txBox="true"/>
            <p:nvPr/>
          </p:nvSpPr>
          <p:spPr>
            <a:xfrm>
              <a:off x="101600" y="-57150"/>
              <a:ext cx="1718246" cy="263525"/>
            </a:xfrm>
            <a:prstGeom prst="rect">
              <a:avLst/>
            </a:prstGeom>
          </p:spPr>
          <p:txBody>
            <a:bodyPr anchor="ctr" rtlCol="false" tIns="50800" lIns="50800" bIns="50800" rIns="50800"/>
            <a:lstStyle/>
            <a:p>
              <a:pPr algn="ctr" marL="0" indent="0" lvl="0">
                <a:lnSpc>
                  <a:spcPts val="2659"/>
                </a:lnSpc>
              </a:pPr>
            </a:p>
          </p:txBody>
        </p:sp>
      </p:grpSp>
      <p:grpSp>
        <p:nvGrpSpPr>
          <p:cNvPr name="Group 10" id="10"/>
          <p:cNvGrpSpPr/>
          <p:nvPr/>
        </p:nvGrpSpPr>
        <p:grpSpPr>
          <a:xfrm rot="0">
            <a:off x="1028700" y="4168374"/>
            <a:ext cx="3030795" cy="4178810"/>
            <a:chOff x="0" y="0"/>
            <a:chExt cx="901268" cy="1242653"/>
          </a:xfrm>
        </p:grpSpPr>
        <p:sp>
          <p:nvSpPr>
            <p:cNvPr name="Freeform 11" id="11"/>
            <p:cNvSpPr/>
            <p:nvPr/>
          </p:nvSpPr>
          <p:spPr>
            <a:xfrm flipH="false" flipV="false" rot="0">
              <a:off x="0" y="0"/>
              <a:ext cx="901268" cy="1242653"/>
            </a:xfrm>
            <a:custGeom>
              <a:avLst/>
              <a:gdLst/>
              <a:ahLst/>
              <a:cxnLst/>
              <a:rect r="r" b="b" t="t" l="l"/>
              <a:pathLst>
                <a:path h="1242653" w="901268">
                  <a:moveTo>
                    <a:pt x="0" y="0"/>
                  </a:moveTo>
                  <a:lnTo>
                    <a:pt x="901268" y="0"/>
                  </a:lnTo>
                  <a:lnTo>
                    <a:pt x="901268" y="1242653"/>
                  </a:lnTo>
                  <a:lnTo>
                    <a:pt x="0" y="1242653"/>
                  </a:lnTo>
                  <a:close/>
                </a:path>
              </a:pathLst>
            </a:custGeom>
            <a:solidFill>
              <a:srgbClr val="024A59"/>
            </a:solidFill>
          </p:spPr>
        </p:sp>
        <p:sp>
          <p:nvSpPr>
            <p:cNvPr name="TextBox 12" id="12"/>
            <p:cNvSpPr txBox="true"/>
            <p:nvPr/>
          </p:nvSpPr>
          <p:spPr>
            <a:xfrm>
              <a:off x="0" y="-57150"/>
              <a:ext cx="901268" cy="1299803"/>
            </a:xfrm>
            <a:prstGeom prst="rect">
              <a:avLst/>
            </a:prstGeom>
          </p:spPr>
          <p:txBody>
            <a:bodyPr anchor="ctr" rtlCol="false" tIns="44992" lIns="44992" bIns="44992" rIns="44992"/>
            <a:lstStyle/>
            <a:p>
              <a:pPr algn="ctr" marL="0" indent="0" lvl="0">
                <a:lnSpc>
                  <a:spcPts val="2939"/>
                </a:lnSpc>
              </a:pPr>
            </a:p>
          </p:txBody>
        </p:sp>
      </p:grpSp>
      <p:grpSp>
        <p:nvGrpSpPr>
          <p:cNvPr name="Group 13" id="13"/>
          <p:cNvGrpSpPr/>
          <p:nvPr/>
        </p:nvGrpSpPr>
        <p:grpSpPr>
          <a:xfrm rot="0">
            <a:off x="1662410" y="3410674"/>
            <a:ext cx="1763375" cy="1515401"/>
            <a:chOff x="0" y="0"/>
            <a:chExt cx="812800" cy="698500"/>
          </a:xfrm>
        </p:grpSpPr>
        <p:sp>
          <p:nvSpPr>
            <p:cNvPr name="Freeform 14" id="14"/>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FFA916"/>
            </a:solidFill>
            <a:ln w="66675" cap="sq">
              <a:solidFill>
                <a:srgbClr val="FFFFFF"/>
              </a:solidFill>
              <a:prstDash val="solid"/>
              <a:miter/>
            </a:ln>
          </p:spPr>
        </p:sp>
        <p:sp>
          <p:nvSpPr>
            <p:cNvPr name="TextBox 15" id="15"/>
            <p:cNvSpPr txBox="true"/>
            <p:nvPr/>
          </p:nvSpPr>
          <p:spPr>
            <a:xfrm>
              <a:off x="114300" y="-57150"/>
              <a:ext cx="584200" cy="755650"/>
            </a:xfrm>
            <a:prstGeom prst="rect">
              <a:avLst/>
            </a:prstGeom>
          </p:spPr>
          <p:txBody>
            <a:bodyPr anchor="ctr" rtlCol="false" tIns="44992" lIns="44992" bIns="44992" rIns="44992"/>
            <a:lstStyle/>
            <a:p>
              <a:pPr algn="ctr" marL="0" indent="0" lvl="0">
                <a:lnSpc>
                  <a:spcPts val="2939"/>
                </a:lnSpc>
              </a:pPr>
            </a:p>
          </p:txBody>
        </p:sp>
      </p:grpSp>
      <p:grpSp>
        <p:nvGrpSpPr>
          <p:cNvPr name="Group 16" id="16"/>
          <p:cNvGrpSpPr/>
          <p:nvPr/>
        </p:nvGrpSpPr>
        <p:grpSpPr>
          <a:xfrm rot="0">
            <a:off x="13655843" y="4143193"/>
            <a:ext cx="3030795" cy="4178810"/>
            <a:chOff x="0" y="0"/>
            <a:chExt cx="901268" cy="1242653"/>
          </a:xfrm>
        </p:grpSpPr>
        <p:sp>
          <p:nvSpPr>
            <p:cNvPr name="Freeform 17" id="17"/>
            <p:cNvSpPr/>
            <p:nvPr/>
          </p:nvSpPr>
          <p:spPr>
            <a:xfrm flipH="false" flipV="false" rot="0">
              <a:off x="0" y="0"/>
              <a:ext cx="901268" cy="1242653"/>
            </a:xfrm>
            <a:custGeom>
              <a:avLst/>
              <a:gdLst/>
              <a:ahLst/>
              <a:cxnLst/>
              <a:rect r="r" b="b" t="t" l="l"/>
              <a:pathLst>
                <a:path h="1242653" w="901268">
                  <a:moveTo>
                    <a:pt x="0" y="0"/>
                  </a:moveTo>
                  <a:lnTo>
                    <a:pt x="901268" y="0"/>
                  </a:lnTo>
                  <a:lnTo>
                    <a:pt x="901268" y="1242653"/>
                  </a:lnTo>
                  <a:lnTo>
                    <a:pt x="0" y="1242653"/>
                  </a:lnTo>
                  <a:close/>
                </a:path>
              </a:pathLst>
            </a:custGeom>
            <a:solidFill>
              <a:srgbClr val="024A59"/>
            </a:solidFill>
          </p:spPr>
        </p:sp>
        <p:sp>
          <p:nvSpPr>
            <p:cNvPr name="TextBox 18" id="18"/>
            <p:cNvSpPr txBox="true"/>
            <p:nvPr/>
          </p:nvSpPr>
          <p:spPr>
            <a:xfrm>
              <a:off x="0" y="-57150"/>
              <a:ext cx="901268" cy="1299803"/>
            </a:xfrm>
            <a:prstGeom prst="rect">
              <a:avLst/>
            </a:prstGeom>
          </p:spPr>
          <p:txBody>
            <a:bodyPr anchor="ctr" rtlCol="false" tIns="44992" lIns="44992" bIns="44992" rIns="44992"/>
            <a:lstStyle/>
            <a:p>
              <a:pPr algn="ctr" marL="0" indent="0" lvl="0">
                <a:lnSpc>
                  <a:spcPts val="2939"/>
                </a:lnSpc>
              </a:pPr>
            </a:p>
          </p:txBody>
        </p:sp>
      </p:grpSp>
      <p:grpSp>
        <p:nvGrpSpPr>
          <p:cNvPr name="Group 19" id="19"/>
          <p:cNvGrpSpPr/>
          <p:nvPr/>
        </p:nvGrpSpPr>
        <p:grpSpPr>
          <a:xfrm rot="0">
            <a:off x="14289553" y="3385493"/>
            <a:ext cx="1763375" cy="1515401"/>
            <a:chOff x="0" y="0"/>
            <a:chExt cx="812800" cy="698500"/>
          </a:xfrm>
        </p:grpSpPr>
        <p:sp>
          <p:nvSpPr>
            <p:cNvPr name="Freeform 20" id="20"/>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FFA916"/>
            </a:solidFill>
            <a:ln w="66675" cap="sq">
              <a:solidFill>
                <a:srgbClr val="FFFFFF"/>
              </a:solidFill>
              <a:prstDash val="solid"/>
              <a:miter/>
            </a:ln>
          </p:spPr>
        </p:sp>
        <p:sp>
          <p:nvSpPr>
            <p:cNvPr name="TextBox 21" id="21"/>
            <p:cNvSpPr txBox="true"/>
            <p:nvPr/>
          </p:nvSpPr>
          <p:spPr>
            <a:xfrm>
              <a:off x="114300" y="-57150"/>
              <a:ext cx="584200" cy="755650"/>
            </a:xfrm>
            <a:prstGeom prst="rect">
              <a:avLst/>
            </a:prstGeom>
          </p:spPr>
          <p:txBody>
            <a:bodyPr anchor="ctr" rtlCol="false" tIns="44992" lIns="44992" bIns="44992" rIns="44992"/>
            <a:lstStyle/>
            <a:p>
              <a:pPr algn="ctr" marL="0" indent="0" lvl="0">
                <a:lnSpc>
                  <a:spcPts val="2939"/>
                </a:lnSpc>
              </a:pPr>
            </a:p>
          </p:txBody>
        </p:sp>
      </p:grpSp>
      <p:grpSp>
        <p:nvGrpSpPr>
          <p:cNvPr name="Group 22" id="22"/>
          <p:cNvGrpSpPr/>
          <p:nvPr/>
        </p:nvGrpSpPr>
        <p:grpSpPr>
          <a:xfrm rot="0">
            <a:off x="9309102" y="4143193"/>
            <a:ext cx="3030795" cy="4178810"/>
            <a:chOff x="0" y="0"/>
            <a:chExt cx="901268" cy="1242653"/>
          </a:xfrm>
        </p:grpSpPr>
        <p:sp>
          <p:nvSpPr>
            <p:cNvPr name="Freeform 23" id="23"/>
            <p:cNvSpPr/>
            <p:nvPr/>
          </p:nvSpPr>
          <p:spPr>
            <a:xfrm flipH="false" flipV="false" rot="0">
              <a:off x="0" y="0"/>
              <a:ext cx="901268" cy="1242653"/>
            </a:xfrm>
            <a:custGeom>
              <a:avLst/>
              <a:gdLst/>
              <a:ahLst/>
              <a:cxnLst/>
              <a:rect r="r" b="b" t="t" l="l"/>
              <a:pathLst>
                <a:path h="1242653" w="901268">
                  <a:moveTo>
                    <a:pt x="0" y="0"/>
                  </a:moveTo>
                  <a:lnTo>
                    <a:pt x="901268" y="0"/>
                  </a:lnTo>
                  <a:lnTo>
                    <a:pt x="901268" y="1242653"/>
                  </a:lnTo>
                  <a:lnTo>
                    <a:pt x="0" y="1242653"/>
                  </a:lnTo>
                  <a:close/>
                </a:path>
              </a:pathLst>
            </a:custGeom>
            <a:solidFill>
              <a:srgbClr val="024A59"/>
            </a:solidFill>
          </p:spPr>
        </p:sp>
        <p:sp>
          <p:nvSpPr>
            <p:cNvPr name="TextBox 24" id="24"/>
            <p:cNvSpPr txBox="true"/>
            <p:nvPr/>
          </p:nvSpPr>
          <p:spPr>
            <a:xfrm>
              <a:off x="0" y="-57150"/>
              <a:ext cx="901268" cy="1299803"/>
            </a:xfrm>
            <a:prstGeom prst="rect">
              <a:avLst/>
            </a:prstGeom>
          </p:spPr>
          <p:txBody>
            <a:bodyPr anchor="ctr" rtlCol="false" tIns="44992" lIns="44992" bIns="44992" rIns="44992"/>
            <a:lstStyle/>
            <a:p>
              <a:pPr algn="ctr" marL="0" indent="0" lvl="0">
                <a:lnSpc>
                  <a:spcPts val="2939"/>
                </a:lnSpc>
              </a:pPr>
            </a:p>
          </p:txBody>
        </p:sp>
      </p:grpSp>
      <p:grpSp>
        <p:nvGrpSpPr>
          <p:cNvPr name="Group 25" id="25"/>
          <p:cNvGrpSpPr/>
          <p:nvPr/>
        </p:nvGrpSpPr>
        <p:grpSpPr>
          <a:xfrm rot="0">
            <a:off x="9942812" y="3385493"/>
            <a:ext cx="1763375" cy="1515401"/>
            <a:chOff x="0" y="0"/>
            <a:chExt cx="812800" cy="698500"/>
          </a:xfrm>
        </p:grpSpPr>
        <p:sp>
          <p:nvSpPr>
            <p:cNvPr name="Freeform 26" id="26"/>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FFA916"/>
            </a:solidFill>
            <a:ln w="66675" cap="sq">
              <a:solidFill>
                <a:srgbClr val="FFFFFF"/>
              </a:solidFill>
              <a:prstDash val="solid"/>
              <a:miter/>
            </a:ln>
          </p:spPr>
        </p:sp>
        <p:sp>
          <p:nvSpPr>
            <p:cNvPr name="TextBox 27" id="27"/>
            <p:cNvSpPr txBox="true"/>
            <p:nvPr/>
          </p:nvSpPr>
          <p:spPr>
            <a:xfrm>
              <a:off x="114300" y="-57150"/>
              <a:ext cx="584200" cy="755650"/>
            </a:xfrm>
            <a:prstGeom prst="rect">
              <a:avLst/>
            </a:prstGeom>
          </p:spPr>
          <p:txBody>
            <a:bodyPr anchor="ctr" rtlCol="false" tIns="44992" lIns="44992" bIns="44992" rIns="44992"/>
            <a:lstStyle/>
            <a:p>
              <a:pPr algn="ctr" marL="0" indent="0" lvl="0">
                <a:lnSpc>
                  <a:spcPts val="2939"/>
                </a:lnSpc>
              </a:pPr>
            </a:p>
          </p:txBody>
        </p:sp>
      </p:grpSp>
      <p:grpSp>
        <p:nvGrpSpPr>
          <p:cNvPr name="Group 28" id="28"/>
          <p:cNvGrpSpPr/>
          <p:nvPr/>
        </p:nvGrpSpPr>
        <p:grpSpPr>
          <a:xfrm rot="0">
            <a:off x="5167673" y="4143193"/>
            <a:ext cx="3030795" cy="4178810"/>
            <a:chOff x="0" y="0"/>
            <a:chExt cx="901268" cy="1242653"/>
          </a:xfrm>
        </p:grpSpPr>
        <p:sp>
          <p:nvSpPr>
            <p:cNvPr name="Freeform 29" id="29"/>
            <p:cNvSpPr/>
            <p:nvPr/>
          </p:nvSpPr>
          <p:spPr>
            <a:xfrm flipH="false" flipV="false" rot="0">
              <a:off x="0" y="0"/>
              <a:ext cx="901268" cy="1242653"/>
            </a:xfrm>
            <a:custGeom>
              <a:avLst/>
              <a:gdLst/>
              <a:ahLst/>
              <a:cxnLst/>
              <a:rect r="r" b="b" t="t" l="l"/>
              <a:pathLst>
                <a:path h="1242653" w="901268">
                  <a:moveTo>
                    <a:pt x="0" y="0"/>
                  </a:moveTo>
                  <a:lnTo>
                    <a:pt x="901268" y="0"/>
                  </a:lnTo>
                  <a:lnTo>
                    <a:pt x="901268" y="1242653"/>
                  </a:lnTo>
                  <a:lnTo>
                    <a:pt x="0" y="1242653"/>
                  </a:lnTo>
                  <a:close/>
                </a:path>
              </a:pathLst>
            </a:custGeom>
            <a:solidFill>
              <a:srgbClr val="024A59"/>
            </a:solidFill>
          </p:spPr>
        </p:sp>
        <p:sp>
          <p:nvSpPr>
            <p:cNvPr name="TextBox 30" id="30"/>
            <p:cNvSpPr txBox="true"/>
            <p:nvPr/>
          </p:nvSpPr>
          <p:spPr>
            <a:xfrm>
              <a:off x="0" y="-57150"/>
              <a:ext cx="901268" cy="1299803"/>
            </a:xfrm>
            <a:prstGeom prst="rect">
              <a:avLst/>
            </a:prstGeom>
          </p:spPr>
          <p:txBody>
            <a:bodyPr anchor="ctr" rtlCol="false" tIns="44992" lIns="44992" bIns="44992" rIns="44992"/>
            <a:lstStyle/>
            <a:p>
              <a:pPr algn="ctr" marL="0" indent="0" lvl="0">
                <a:lnSpc>
                  <a:spcPts val="2939"/>
                </a:lnSpc>
              </a:pPr>
            </a:p>
          </p:txBody>
        </p:sp>
      </p:grpSp>
      <p:grpSp>
        <p:nvGrpSpPr>
          <p:cNvPr name="Group 31" id="31"/>
          <p:cNvGrpSpPr/>
          <p:nvPr/>
        </p:nvGrpSpPr>
        <p:grpSpPr>
          <a:xfrm rot="0">
            <a:off x="5801383" y="3385493"/>
            <a:ext cx="1763375" cy="1515401"/>
            <a:chOff x="0" y="0"/>
            <a:chExt cx="812800" cy="698500"/>
          </a:xfrm>
        </p:grpSpPr>
        <p:sp>
          <p:nvSpPr>
            <p:cNvPr name="Freeform 32" id="32"/>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FFA916"/>
            </a:solidFill>
            <a:ln w="66675" cap="sq">
              <a:solidFill>
                <a:srgbClr val="FFFFFF"/>
              </a:solidFill>
              <a:prstDash val="solid"/>
              <a:miter/>
            </a:ln>
          </p:spPr>
        </p:sp>
        <p:sp>
          <p:nvSpPr>
            <p:cNvPr name="TextBox 33" id="33"/>
            <p:cNvSpPr txBox="true"/>
            <p:nvPr/>
          </p:nvSpPr>
          <p:spPr>
            <a:xfrm>
              <a:off x="114300" y="-57150"/>
              <a:ext cx="584200" cy="755650"/>
            </a:xfrm>
            <a:prstGeom prst="rect">
              <a:avLst/>
            </a:prstGeom>
          </p:spPr>
          <p:txBody>
            <a:bodyPr anchor="ctr" rtlCol="false" tIns="44992" lIns="44992" bIns="44992" rIns="44992"/>
            <a:lstStyle/>
            <a:p>
              <a:pPr algn="ctr" marL="0" indent="0" lvl="0">
                <a:lnSpc>
                  <a:spcPts val="2939"/>
                </a:lnSpc>
              </a:pPr>
            </a:p>
          </p:txBody>
        </p:sp>
      </p:grpSp>
      <p:sp>
        <p:nvSpPr>
          <p:cNvPr name="Freeform 34" id="34"/>
          <p:cNvSpPr/>
          <p:nvPr/>
        </p:nvSpPr>
        <p:spPr>
          <a:xfrm flipH="false" flipV="false" rot="0">
            <a:off x="2147326" y="3649366"/>
            <a:ext cx="832052" cy="960392"/>
          </a:xfrm>
          <a:custGeom>
            <a:avLst/>
            <a:gdLst/>
            <a:ahLst/>
            <a:cxnLst/>
            <a:rect r="r" b="b" t="t" l="l"/>
            <a:pathLst>
              <a:path h="960392" w="832052">
                <a:moveTo>
                  <a:pt x="0" y="0"/>
                </a:moveTo>
                <a:lnTo>
                  <a:pt x="832052" y="0"/>
                </a:lnTo>
                <a:lnTo>
                  <a:pt x="832052" y="960393"/>
                </a:lnTo>
                <a:lnTo>
                  <a:pt x="0" y="960393"/>
                </a:lnTo>
                <a:lnTo>
                  <a:pt x="0" y="0"/>
                </a:lnTo>
                <a:close/>
              </a:path>
            </a:pathLst>
          </a:custGeom>
          <a:blipFill>
            <a:blip r:embed="rId4"/>
            <a:stretch>
              <a:fillRect l="0" t="0" r="0" b="0"/>
            </a:stretch>
          </a:blipFill>
        </p:spPr>
      </p:sp>
      <p:sp>
        <p:nvSpPr>
          <p:cNvPr name="Freeform 35" id="35"/>
          <p:cNvSpPr/>
          <p:nvPr/>
        </p:nvSpPr>
        <p:spPr>
          <a:xfrm flipH="false" flipV="false" rot="0">
            <a:off x="6248135" y="3405259"/>
            <a:ext cx="853147" cy="1356571"/>
          </a:xfrm>
          <a:custGeom>
            <a:avLst/>
            <a:gdLst/>
            <a:ahLst/>
            <a:cxnLst/>
            <a:rect r="r" b="b" t="t" l="l"/>
            <a:pathLst>
              <a:path h="1356571" w="853147">
                <a:moveTo>
                  <a:pt x="0" y="0"/>
                </a:moveTo>
                <a:lnTo>
                  <a:pt x="853148" y="0"/>
                </a:lnTo>
                <a:lnTo>
                  <a:pt x="853148" y="1356571"/>
                </a:lnTo>
                <a:lnTo>
                  <a:pt x="0" y="1356571"/>
                </a:lnTo>
                <a:lnTo>
                  <a:pt x="0" y="0"/>
                </a:lnTo>
                <a:close/>
              </a:path>
            </a:pathLst>
          </a:custGeom>
          <a:blipFill>
            <a:blip r:embed="rId5"/>
            <a:stretch>
              <a:fillRect l="0" t="0" r="0" b="0"/>
            </a:stretch>
          </a:blipFill>
        </p:spPr>
      </p:sp>
      <p:sp>
        <p:nvSpPr>
          <p:cNvPr name="Freeform 36" id="36"/>
          <p:cNvSpPr/>
          <p:nvPr/>
        </p:nvSpPr>
        <p:spPr>
          <a:xfrm flipH="false" flipV="false" rot="0">
            <a:off x="10393374" y="3649417"/>
            <a:ext cx="837911" cy="890377"/>
          </a:xfrm>
          <a:custGeom>
            <a:avLst/>
            <a:gdLst/>
            <a:ahLst/>
            <a:cxnLst/>
            <a:rect r="r" b="b" t="t" l="l"/>
            <a:pathLst>
              <a:path h="890377" w="837911">
                <a:moveTo>
                  <a:pt x="0" y="0"/>
                </a:moveTo>
                <a:lnTo>
                  <a:pt x="837911" y="0"/>
                </a:lnTo>
                <a:lnTo>
                  <a:pt x="837911" y="890376"/>
                </a:lnTo>
                <a:lnTo>
                  <a:pt x="0" y="890376"/>
                </a:lnTo>
                <a:lnTo>
                  <a:pt x="0" y="0"/>
                </a:lnTo>
                <a:close/>
              </a:path>
            </a:pathLst>
          </a:custGeom>
          <a:blipFill>
            <a:blip r:embed="rId6"/>
            <a:stretch>
              <a:fillRect l="0" t="0" r="0" b="0"/>
            </a:stretch>
          </a:blipFill>
        </p:spPr>
      </p:sp>
      <p:sp>
        <p:nvSpPr>
          <p:cNvPr name="Freeform 37" id="37"/>
          <p:cNvSpPr/>
          <p:nvPr/>
        </p:nvSpPr>
        <p:spPr>
          <a:xfrm flipH="false" flipV="false" rot="0">
            <a:off x="14637257" y="3673502"/>
            <a:ext cx="1018023" cy="937516"/>
          </a:xfrm>
          <a:custGeom>
            <a:avLst/>
            <a:gdLst/>
            <a:ahLst/>
            <a:cxnLst/>
            <a:rect r="r" b="b" t="t" l="l"/>
            <a:pathLst>
              <a:path h="937516" w="1018023">
                <a:moveTo>
                  <a:pt x="0" y="0"/>
                </a:moveTo>
                <a:lnTo>
                  <a:pt x="1018023" y="0"/>
                </a:lnTo>
                <a:lnTo>
                  <a:pt x="1018023" y="937516"/>
                </a:lnTo>
                <a:lnTo>
                  <a:pt x="0" y="937516"/>
                </a:lnTo>
                <a:lnTo>
                  <a:pt x="0" y="0"/>
                </a:lnTo>
                <a:close/>
              </a:path>
            </a:pathLst>
          </a:custGeom>
          <a:blipFill>
            <a:blip r:embed="rId7"/>
            <a:stretch>
              <a:fillRect l="0" t="0" r="0" b="0"/>
            </a:stretch>
          </a:blipFill>
        </p:spPr>
      </p:sp>
      <p:sp>
        <p:nvSpPr>
          <p:cNvPr name="TextBox 38" id="38"/>
          <p:cNvSpPr txBox="true"/>
          <p:nvPr/>
        </p:nvSpPr>
        <p:spPr>
          <a:xfrm rot="0">
            <a:off x="4012912" y="1000125"/>
            <a:ext cx="10262177" cy="744220"/>
          </a:xfrm>
          <a:prstGeom prst="rect">
            <a:avLst/>
          </a:prstGeom>
        </p:spPr>
        <p:txBody>
          <a:bodyPr anchor="t" rtlCol="false" tIns="0" lIns="0" bIns="0" rIns="0">
            <a:spAutoFit/>
          </a:bodyPr>
          <a:lstStyle/>
          <a:p>
            <a:pPr algn="ctr" marL="0" indent="0" lvl="0">
              <a:lnSpc>
                <a:spcPts val="5404"/>
              </a:lnSpc>
            </a:pPr>
            <a:r>
              <a:rPr lang="en-US" b="true" sz="4699">
                <a:solidFill>
                  <a:srgbClr val="000000"/>
                </a:solidFill>
                <a:latin typeface="Poppins Bold"/>
                <a:ea typeface="Poppins Bold"/>
                <a:cs typeface="Poppins Bold"/>
                <a:sym typeface="Poppins Bold"/>
              </a:rPr>
              <a:t>Đối tượng Sử Dụng</a:t>
            </a:r>
          </a:p>
        </p:txBody>
      </p:sp>
      <p:sp>
        <p:nvSpPr>
          <p:cNvPr name="TextBox 39" id="39"/>
          <p:cNvSpPr txBox="true"/>
          <p:nvPr/>
        </p:nvSpPr>
        <p:spPr>
          <a:xfrm rot="0">
            <a:off x="1216395" y="5161462"/>
            <a:ext cx="2655406" cy="381000"/>
          </a:xfrm>
          <a:prstGeom prst="rect">
            <a:avLst/>
          </a:prstGeom>
        </p:spPr>
        <p:txBody>
          <a:bodyPr anchor="t" rtlCol="false" tIns="0" lIns="0" bIns="0" rIns="0">
            <a:spAutoFit/>
          </a:bodyPr>
          <a:lstStyle/>
          <a:p>
            <a:pPr algn="ctr" marL="0" indent="0" lvl="0">
              <a:lnSpc>
                <a:spcPts val="2847"/>
              </a:lnSpc>
            </a:pPr>
            <a:r>
              <a:rPr lang="en-US" b="true" sz="2372">
                <a:solidFill>
                  <a:srgbClr val="FFFFFF"/>
                </a:solidFill>
                <a:latin typeface="Poppins Bold"/>
                <a:ea typeface="Poppins Bold"/>
                <a:cs typeface="Poppins Bold"/>
                <a:sym typeface="Poppins Bold"/>
              </a:rPr>
              <a:t>Admin</a:t>
            </a:r>
          </a:p>
        </p:txBody>
      </p:sp>
      <p:sp>
        <p:nvSpPr>
          <p:cNvPr name="TextBox 40" id="40"/>
          <p:cNvSpPr txBox="true"/>
          <p:nvPr/>
        </p:nvSpPr>
        <p:spPr>
          <a:xfrm rot="0">
            <a:off x="5355717" y="5136281"/>
            <a:ext cx="2654707" cy="381000"/>
          </a:xfrm>
          <a:prstGeom prst="rect">
            <a:avLst/>
          </a:prstGeom>
        </p:spPr>
        <p:txBody>
          <a:bodyPr anchor="t" rtlCol="false" tIns="0" lIns="0" bIns="0" rIns="0">
            <a:spAutoFit/>
          </a:bodyPr>
          <a:lstStyle/>
          <a:p>
            <a:pPr algn="ctr" marL="0" indent="0" lvl="0">
              <a:lnSpc>
                <a:spcPts val="2847"/>
              </a:lnSpc>
            </a:pPr>
            <a:r>
              <a:rPr lang="en-US" b="true" sz="2372">
                <a:solidFill>
                  <a:srgbClr val="FFFFFF"/>
                </a:solidFill>
                <a:latin typeface="Poppins Bold"/>
                <a:ea typeface="Poppins Bold"/>
                <a:cs typeface="Poppins Bold"/>
                <a:sym typeface="Poppins Bold"/>
              </a:rPr>
              <a:t>Manager</a:t>
            </a:r>
          </a:p>
        </p:txBody>
      </p:sp>
      <p:sp>
        <p:nvSpPr>
          <p:cNvPr name="TextBox 41" id="41"/>
          <p:cNvSpPr txBox="true"/>
          <p:nvPr/>
        </p:nvSpPr>
        <p:spPr>
          <a:xfrm rot="0">
            <a:off x="9306646" y="5194368"/>
            <a:ext cx="3035707" cy="323850"/>
          </a:xfrm>
          <a:prstGeom prst="rect">
            <a:avLst/>
          </a:prstGeom>
        </p:spPr>
        <p:txBody>
          <a:bodyPr anchor="t" rtlCol="false" tIns="0" lIns="0" bIns="0" rIns="0">
            <a:spAutoFit/>
          </a:bodyPr>
          <a:lstStyle/>
          <a:p>
            <a:pPr algn="ctr" marL="0" indent="0" lvl="0">
              <a:lnSpc>
                <a:spcPts val="2439"/>
              </a:lnSpc>
            </a:pPr>
            <a:r>
              <a:rPr lang="en-US" b="true" sz="2033">
                <a:solidFill>
                  <a:srgbClr val="FFFFFF"/>
                </a:solidFill>
                <a:latin typeface="Poppins Bold"/>
                <a:ea typeface="Poppins Bold"/>
                <a:cs typeface="Poppins Bold"/>
                <a:sym typeface="Poppins Bold"/>
              </a:rPr>
              <a:t>Employee</a:t>
            </a:r>
          </a:p>
        </p:txBody>
      </p:sp>
      <p:sp>
        <p:nvSpPr>
          <p:cNvPr name="TextBox 42" id="42"/>
          <p:cNvSpPr txBox="true"/>
          <p:nvPr/>
        </p:nvSpPr>
        <p:spPr>
          <a:xfrm rot="0">
            <a:off x="13843887" y="5136281"/>
            <a:ext cx="2655406" cy="733425"/>
          </a:xfrm>
          <a:prstGeom prst="rect">
            <a:avLst/>
          </a:prstGeom>
        </p:spPr>
        <p:txBody>
          <a:bodyPr anchor="t" rtlCol="false" tIns="0" lIns="0" bIns="0" rIns="0">
            <a:spAutoFit/>
          </a:bodyPr>
          <a:lstStyle/>
          <a:p>
            <a:pPr algn="ctr" marL="0" indent="0" lvl="0">
              <a:lnSpc>
                <a:spcPts val="2847"/>
              </a:lnSpc>
            </a:pPr>
            <a:r>
              <a:rPr lang="en-US" b="true" sz="2372">
                <a:solidFill>
                  <a:srgbClr val="FFFFFF"/>
                </a:solidFill>
                <a:latin typeface="Poppins Bold"/>
                <a:ea typeface="Poppins Bold"/>
                <a:cs typeface="Poppins Bold"/>
                <a:sym typeface="Poppins Bold"/>
              </a:rPr>
              <a:t>Customer / Partner</a:t>
            </a:r>
          </a:p>
        </p:txBody>
      </p:sp>
      <p:sp>
        <p:nvSpPr>
          <p:cNvPr name="TextBox 43" id="43"/>
          <p:cNvSpPr txBox="true"/>
          <p:nvPr/>
        </p:nvSpPr>
        <p:spPr>
          <a:xfrm rot="0">
            <a:off x="1216395" y="6005308"/>
            <a:ext cx="2655406" cy="1211707"/>
          </a:xfrm>
          <a:prstGeom prst="rect">
            <a:avLst/>
          </a:prstGeom>
        </p:spPr>
        <p:txBody>
          <a:bodyPr anchor="t" rtlCol="false" tIns="0" lIns="0" bIns="0" rIns="0">
            <a:spAutoFit/>
          </a:bodyPr>
          <a:lstStyle/>
          <a:p>
            <a:pPr algn="just" marL="0" indent="0" lvl="0">
              <a:lnSpc>
                <a:spcPts val="1904"/>
              </a:lnSpc>
            </a:pPr>
            <a:r>
              <a:rPr lang="en-US" sz="1600">
                <a:solidFill>
                  <a:srgbClr val="FFFFFF"/>
                </a:solidFill>
                <a:latin typeface="Poppins"/>
                <a:ea typeface="Poppins"/>
                <a:cs typeface="Poppins"/>
                <a:sym typeface="Poppins"/>
              </a:rPr>
              <a:t>Quản trị hệ thống, phân quyền người dùng, cấu hình quy trình phê duyệt và giám sát toàn bộ hoạt động.</a:t>
            </a:r>
          </a:p>
        </p:txBody>
      </p:sp>
      <p:sp>
        <p:nvSpPr>
          <p:cNvPr name="TextBox 44" id="44"/>
          <p:cNvSpPr txBox="true"/>
          <p:nvPr/>
        </p:nvSpPr>
        <p:spPr>
          <a:xfrm rot="0">
            <a:off x="5355368" y="5980127"/>
            <a:ext cx="2655406" cy="973582"/>
          </a:xfrm>
          <a:prstGeom prst="rect">
            <a:avLst/>
          </a:prstGeom>
        </p:spPr>
        <p:txBody>
          <a:bodyPr anchor="t" rtlCol="false" tIns="0" lIns="0" bIns="0" rIns="0">
            <a:spAutoFit/>
          </a:bodyPr>
          <a:lstStyle/>
          <a:p>
            <a:pPr algn="just" marL="0" indent="0" lvl="0">
              <a:lnSpc>
                <a:spcPts val="1904"/>
              </a:lnSpc>
            </a:pPr>
            <a:r>
              <a:rPr lang="en-US" sz="1600">
                <a:solidFill>
                  <a:srgbClr val="FFFFFF"/>
                </a:solidFill>
                <a:latin typeface="Poppins"/>
                <a:ea typeface="Poppins"/>
                <a:cs typeface="Poppins"/>
                <a:sym typeface="Poppins"/>
              </a:rPr>
              <a:t>Xem xét, phê duyệt hợp đồng nhiều cấp, theo dõi tiến độ và nhận thông báo nhắc hạn tự động.</a:t>
            </a:r>
          </a:p>
        </p:txBody>
      </p:sp>
      <p:sp>
        <p:nvSpPr>
          <p:cNvPr name="TextBox 45" id="45"/>
          <p:cNvSpPr txBox="true"/>
          <p:nvPr/>
        </p:nvSpPr>
        <p:spPr>
          <a:xfrm rot="0">
            <a:off x="9496797" y="5980127"/>
            <a:ext cx="2655406" cy="973582"/>
          </a:xfrm>
          <a:prstGeom prst="rect">
            <a:avLst/>
          </a:prstGeom>
        </p:spPr>
        <p:txBody>
          <a:bodyPr anchor="t" rtlCol="false" tIns="0" lIns="0" bIns="0" rIns="0">
            <a:spAutoFit/>
          </a:bodyPr>
          <a:lstStyle/>
          <a:p>
            <a:pPr algn="just" marL="0" indent="0" lvl="0">
              <a:lnSpc>
                <a:spcPts val="1904"/>
              </a:lnSpc>
            </a:pPr>
            <a:r>
              <a:rPr lang="en-US" sz="1600">
                <a:solidFill>
                  <a:srgbClr val="FFFFFF"/>
                </a:solidFill>
                <a:latin typeface="Poppins"/>
                <a:ea typeface="Poppins"/>
                <a:cs typeface="Poppins"/>
                <a:sym typeface="Poppins"/>
              </a:rPr>
              <a:t>Tạo, chỉnh sửa hợp đồng, gửi yêu cầu phê duyệt và theo dõi trạng thái hợp đồng được giao.</a:t>
            </a:r>
          </a:p>
        </p:txBody>
      </p:sp>
      <p:sp>
        <p:nvSpPr>
          <p:cNvPr name="TextBox 46" id="46"/>
          <p:cNvSpPr txBox="true"/>
          <p:nvPr/>
        </p:nvSpPr>
        <p:spPr>
          <a:xfrm rot="0">
            <a:off x="13843887" y="5980127"/>
            <a:ext cx="2655406" cy="973582"/>
          </a:xfrm>
          <a:prstGeom prst="rect">
            <a:avLst/>
          </a:prstGeom>
        </p:spPr>
        <p:txBody>
          <a:bodyPr anchor="t" rtlCol="false" tIns="0" lIns="0" bIns="0" rIns="0">
            <a:spAutoFit/>
          </a:bodyPr>
          <a:lstStyle/>
          <a:p>
            <a:pPr algn="just" marL="0" indent="0" lvl="0">
              <a:lnSpc>
                <a:spcPts val="1904"/>
              </a:lnSpc>
            </a:pPr>
            <a:r>
              <a:rPr lang="en-US" sz="1600">
                <a:solidFill>
                  <a:srgbClr val="FFFFFF"/>
                </a:solidFill>
                <a:latin typeface="Poppins"/>
                <a:ea typeface="Poppins"/>
                <a:cs typeface="Poppins"/>
                <a:sym typeface="Poppins"/>
              </a:rPr>
              <a:t>Xem và ký hợp đồng điện tử, nhận thông báo gia hạn và tra cứu lịch sử hợp đồng liên quan.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5400000">
            <a:off x="-183894" y="-674598"/>
            <a:ext cx="2117840" cy="3264897"/>
          </a:xfrm>
          <a:custGeom>
            <a:avLst/>
            <a:gdLst/>
            <a:ahLst/>
            <a:cxnLst/>
            <a:rect r="r" b="b" t="t" l="l"/>
            <a:pathLst>
              <a:path h="3264897" w="2117840">
                <a:moveTo>
                  <a:pt x="2117840" y="3264897"/>
                </a:moveTo>
                <a:lnTo>
                  <a:pt x="0" y="3264897"/>
                </a:lnTo>
                <a:lnTo>
                  <a:pt x="0" y="0"/>
                </a:lnTo>
                <a:lnTo>
                  <a:pt x="2117840" y="0"/>
                </a:lnTo>
                <a:lnTo>
                  <a:pt x="2117840" y="3264897"/>
                </a:lnTo>
                <a:close/>
              </a:path>
            </a:pathLst>
          </a:custGeom>
          <a:blipFill>
            <a:blip r:embed="rId2">
              <a:extLst>
                <a:ext uri="{96DAC541-7B7A-43D3-8B79-37D633B846F1}">
                  <asvg:svgBlip xmlns:asvg="http://schemas.microsoft.com/office/drawing/2016/SVG/main" r:embed="rId3"/>
                </a:ext>
              </a:extLst>
            </a:blip>
            <a:stretch>
              <a:fillRect l="0" t="0" r="-75183" b="0"/>
            </a:stretch>
          </a:blipFill>
        </p:spPr>
      </p:sp>
      <p:sp>
        <p:nvSpPr>
          <p:cNvPr name="Freeform 3" id="3"/>
          <p:cNvSpPr/>
          <p:nvPr/>
        </p:nvSpPr>
        <p:spPr>
          <a:xfrm flipH="true" flipV="false" rot="-5400000">
            <a:off x="16351493" y="-712127"/>
            <a:ext cx="2117840" cy="3264897"/>
          </a:xfrm>
          <a:custGeom>
            <a:avLst/>
            <a:gdLst/>
            <a:ahLst/>
            <a:cxnLst/>
            <a:rect r="r" b="b" t="t" l="l"/>
            <a:pathLst>
              <a:path h="3264897" w="2117840">
                <a:moveTo>
                  <a:pt x="2117840" y="0"/>
                </a:moveTo>
                <a:lnTo>
                  <a:pt x="0" y="0"/>
                </a:lnTo>
                <a:lnTo>
                  <a:pt x="0" y="3264898"/>
                </a:lnTo>
                <a:lnTo>
                  <a:pt x="2117840" y="3264898"/>
                </a:lnTo>
                <a:lnTo>
                  <a:pt x="2117840" y="0"/>
                </a:lnTo>
                <a:close/>
              </a:path>
            </a:pathLst>
          </a:custGeom>
          <a:blipFill>
            <a:blip r:embed="rId2">
              <a:extLst>
                <a:ext uri="{96DAC541-7B7A-43D3-8B79-37D633B846F1}">
                  <asvg:svgBlip xmlns:asvg="http://schemas.microsoft.com/office/drawing/2016/SVG/main" r:embed="rId3"/>
                </a:ext>
              </a:extLst>
            </a:blip>
            <a:stretch>
              <a:fillRect l="0" t="0" r="-75183" b="0"/>
            </a:stretch>
          </a:blipFill>
        </p:spPr>
      </p:sp>
      <p:grpSp>
        <p:nvGrpSpPr>
          <p:cNvPr name="Group 4" id="4"/>
          <p:cNvGrpSpPr/>
          <p:nvPr/>
        </p:nvGrpSpPr>
        <p:grpSpPr>
          <a:xfrm rot="0">
            <a:off x="3938494" y="9963150"/>
            <a:ext cx="16477376" cy="783580"/>
            <a:chOff x="0" y="0"/>
            <a:chExt cx="4339720" cy="206375"/>
          </a:xfrm>
        </p:grpSpPr>
        <p:sp>
          <p:nvSpPr>
            <p:cNvPr name="Freeform 5" id="5"/>
            <p:cNvSpPr/>
            <p:nvPr/>
          </p:nvSpPr>
          <p:spPr>
            <a:xfrm flipH="false" flipV="false" rot="0">
              <a:off x="0" y="0"/>
              <a:ext cx="4339720" cy="206375"/>
            </a:xfrm>
            <a:custGeom>
              <a:avLst/>
              <a:gdLst/>
              <a:ahLst/>
              <a:cxnLst/>
              <a:rect r="r" b="b" t="t" l="l"/>
              <a:pathLst>
                <a:path h="206375" w="4339720">
                  <a:moveTo>
                    <a:pt x="203200" y="0"/>
                  </a:moveTo>
                  <a:lnTo>
                    <a:pt x="4339720" y="0"/>
                  </a:lnTo>
                  <a:lnTo>
                    <a:pt x="4136520" y="206375"/>
                  </a:lnTo>
                  <a:lnTo>
                    <a:pt x="0" y="206375"/>
                  </a:lnTo>
                  <a:lnTo>
                    <a:pt x="203200" y="0"/>
                  </a:lnTo>
                  <a:close/>
                </a:path>
              </a:pathLst>
            </a:custGeom>
            <a:solidFill>
              <a:srgbClr val="FFA916"/>
            </a:solidFill>
          </p:spPr>
        </p:sp>
        <p:sp>
          <p:nvSpPr>
            <p:cNvPr name="TextBox 6" id="6"/>
            <p:cNvSpPr txBox="true"/>
            <p:nvPr/>
          </p:nvSpPr>
          <p:spPr>
            <a:xfrm>
              <a:off x="101600" y="-57150"/>
              <a:ext cx="4136520" cy="263525"/>
            </a:xfrm>
            <a:prstGeom prst="rect">
              <a:avLst/>
            </a:prstGeom>
          </p:spPr>
          <p:txBody>
            <a:bodyPr anchor="ctr" rtlCol="false" tIns="50800" lIns="50800" bIns="50800" rIns="50800"/>
            <a:lstStyle/>
            <a:p>
              <a:pPr algn="ctr" marL="0" indent="0" lvl="0">
                <a:lnSpc>
                  <a:spcPts val="2939"/>
                </a:lnSpc>
              </a:pPr>
            </a:p>
          </p:txBody>
        </p:sp>
      </p:grpSp>
      <p:grpSp>
        <p:nvGrpSpPr>
          <p:cNvPr name="Group 7" id="7"/>
          <p:cNvGrpSpPr/>
          <p:nvPr/>
        </p:nvGrpSpPr>
        <p:grpSpPr>
          <a:xfrm rot="0">
            <a:off x="-1024868" y="9963150"/>
            <a:ext cx="7295490" cy="783580"/>
            <a:chOff x="0" y="0"/>
            <a:chExt cx="1921446" cy="206375"/>
          </a:xfrm>
        </p:grpSpPr>
        <p:sp>
          <p:nvSpPr>
            <p:cNvPr name="Freeform 8" id="8"/>
            <p:cNvSpPr/>
            <p:nvPr/>
          </p:nvSpPr>
          <p:spPr>
            <a:xfrm flipH="false" flipV="false" rot="0">
              <a:off x="0" y="0"/>
              <a:ext cx="1921446" cy="206375"/>
            </a:xfrm>
            <a:custGeom>
              <a:avLst/>
              <a:gdLst/>
              <a:ahLst/>
              <a:cxnLst/>
              <a:rect r="r" b="b" t="t" l="l"/>
              <a:pathLst>
                <a:path h="206375" w="1921446">
                  <a:moveTo>
                    <a:pt x="203200" y="0"/>
                  </a:moveTo>
                  <a:lnTo>
                    <a:pt x="1921446" y="0"/>
                  </a:lnTo>
                  <a:lnTo>
                    <a:pt x="1718246" y="206375"/>
                  </a:lnTo>
                  <a:lnTo>
                    <a:pt x="0" y="206375"/>
                  </a:lnTo>
                  <a:lnTo>
                    <a:pt x="203200" y="0"/>
                  </a:lnTo>
                  <a:close/>
                </a:path>
              </a:pathLst>
            </a:custGeom>
            <a:solidFill>
              <a:srgbClr val="024A59"/>
            </a:solidFill>
          </p:spPr>
        </p:sp>
        <p:sp>
          <p:nvSpPr>
            <p:cNvPr name="TextBox 9" id="9"/>
            <p:cNvSpPr txBox="true"/>
            <p:nvPr/>
          </p:nvSpPr>
          <p:spPr>
            <a:xfrm>
              <a:off x="101600" y="-57150"/>
              <a:ext cx="1718246" cy="263525"/>
            </a:xfrm>
            <a:prstGeom prst="rect">
              <a:avLst/>
            </a:prstGeom>
          </p:spPr>
          <p:txBody>
            <a:bodyPr anchor="ctr" rtlCol="false" tIns="50800" lIns="50800" bIns="50800" rIns="50800"/>
            <a:lstStyle/>
            <a:p>
              <a:pPr algn="ctr" marL="0" indent="0" lvl="0">
                <a:lnSpc>
                  <a:spcPts val="2939"/>
                </a:lnSpc>
              </a:pPr>
            </a:p>
          </p:txBody>
        </p:sp>
      </p:grpSp>
      <p:sp>
        <p:nvSpPr>
          <p:cNvPr name="Freeform 10" id="10"/>
          <p:cNvSpPr/>
          <p:nvPr/>
        </p:nvSpPr>
        <p:spPr>
          <a:xfrm flipH="false" flipV="false" rot="0">
            <a:off x="948257" y="3058696"/>
            <a:ext cx="6201041" cy="6263677"/>
          </a:xfrm>
          <a:custGeom>
            <a:avLst/>
            <a:gdLst/>
            <a:ahLst/>
            <a:cxnLst/>
            <a:rect r="r" b="b" t="t" l="l"/>
            <a:pathLst>
              <a:path h="6263677" w="6201041">
                <a:moveTo>
                  <a:pt x="0" y="0"/>
                </a:moveTo>
                <a:lnTo>
                  <a:pt x="6201041" y="0"/>
                </a:lnTo>
                <a:lnTo>
                  <a:pt x="6201041" y="6263678"/>
                </a:lnTo>
                <a:lnTo>
                  <a:pt x="0" y="6263678"/>
                </a:lnTo>
                <a:lnTo>
                  <a:pt x="0" y="0"/>
                </a:lnTo>
                <a:close/>
              </a:path>
            </a:pathLst>
          </a:custGeom>
          <a:blipFill>
            <a:blip r:embed="rId4"/>
            <a:stretch>
              <a:fillRect l="0" t="0" r="0" b="0"/>
            </a:stretch>
          </a:blipFill>
        </p:spPr>
      </p:sp>
      <p:grpSp>
        <p:nvGrpSpPr>
          <p:cNvPr name="Group 11" id="11"/>
          <p:cNvGrpSpPr/>
          <p:nvPr/>
        </p:nvGrpSpPr>
        <p:grpSpPr>
          <a:xfrm rot="0">
            <a:off x="8652563" y="3701306"/>
            <a:ext cx="1512484" cy="1299791"/>
            <a:chOff x="0" y="0"/>
            <a:chExt cx="812800" cy="698500"/>
          </a:xfrm>
        </p:grpSpPr>
        <p:sp>
          <p:nvSpPr>
            <p:cNvPr name="Freeform 12" id="12"/>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24A59"/>
            </a:solidFill>
            <a:ln w="85725" cap="sq">
              <a:solidFill>
                <a:srgbClr val="FFA916"/>
              </a:solidFill>
              <a:prstDash val="solid"/>
              <a:miter/>
            </a:ln>
          </p:spPr>
        </p:sp>
        <p:sp>
          <p:nvSpPr>
            <p:cNvPr name="TextBox 13" id="13"/>
            <p:cNvSpPr txBox="true"/>
            <p:nvPr/>
          </p:nvSpPr>
          <p:spPr>
            <a:xfrm>
              <a:off x="114300" y="-57150"/>
              <a:ext cx="584200" cy="755650"/>
            </a:xfrm>
            <a:prstGeom prst="rect">
              <a:avLst/>
            </a:prstGeom>
          </p:spPr>
          <p:txBody>
            <a:bodyPr anchor="ctr" rtlCol="false" tIns="50800" lIns="50800" bIns="50800" rIns="50800"/>
            <a:lstStyle/>
            <a:p>
              <a:pPr algn="ctr" marL="0" indent="0" lvl="0">
                <a:lnSpc>
                  <a:spcPts val="2939"/>
                </a:lnSpc>
              </a:pPr>
            </a:p>
          </p:txBody>
        </p:sp>
      </p:grpSp>
      <p:grpSp>
        <p:nvGrpSpPr>
          <p:cNvPr name="Group 14" id="14"/>
          <p:cNvGrpSpPr/>
          <p:nvPr/>
        </p:nvGrpSpPr>
        <p:grpSpPr>
          <a:xfrm rot="0">
            <a:off x="8652563" y="5515447"/>
            <a:ext cx="1512484" cy="1299791"/>
            <a:chOff x="0" y="0"/>
            <a:chExt cx="812800" cy="698500"/>
          </a:xfrm>
        </p:grpSpPr>
        <p:sp>
          <p:nvSpPr>
            <p:cNvPr name="Freeform 15" id="15"/>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24A59"/>
            </a:solidFill>
            <a:ln w="85725" cap="sq">
              <a:solidFill>
                <a:srgbClr val="FFA916"/>
              </a:solidFill>
              <a:prstDash val="solid"/>
              <a:miter/>
            </a:ln>
          </p:spPr>
        </p:sp>
        <p:sp>
          <p:nvSpPr>
            <p:cNvPr name="TextBox 16" id="16"/>
            <p:cNvSpPr txBox="true"/>
            <p:nvPr/>
          </p:nvSpPr>
          <p:spPr>
            <a:xfrm>
              <a:off x="114300" y="-57150"/>
              <a:ext cx="584200" cy="755650"/>
            </a:xfrm>
            <a:prstGeom prst="rect">
              <a:avLst/>
            </a:prstGeom>
          </p:spPr>
          <p:txBody>
            <a:bodyPr anchor="ctr" rtlCol="false" tIns="50800" lIns="50800" bIns="50800" rIns="50800"/>
            <a:lstStyle/>
            <a:p>
              <a:pPr algn="ctr" marL="0" indent="0" lvl="0">
                <a:lnSpc>
                  <a:spcPts val="2939"/>
                </a:lnSpc>
              </a:pPr>
            </a:p>
          </p:txBody>
        </p:sp>
      </p:grpSp>
      <p:grpSp>
        <p:nvGrpSpPr>
          <p:cNvPr name="Group 17" id="17"/>
          <p:cNvGrpSpPr/>
          <p:nvPr/>
        </p:nvGrpSpPr>
        <p:grpSpPr>
          <a:xfrm rot="0">
            <a:off x="8652563" y="7333778"/>
            <a:ext cx="1512484" cy="1299791"/>
            <a:chOff x="0" y="0"/>
            <a:chExt cx="812800" cy="698500"/>
          </a:xfrm>
        </p:grpSpPr>
        <p:sp>
          <p:nvSpPr>
            <p:cNvPr name="Freeform 18" id="18"/>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24A59"/>
            </a:solidFill>
            <a:ln w="85725" cap="sq">
              <a:solidFill>
                <a:srgbClr val="FFA916"/>
              </a:solidFill>
              <a:prstDash val="solid"/>
              <a:miter/>
            </a:ln>
          </p:spPr>
        </p:sp>
        <p:sp>
          <p:nvSpPr>
            <p:cNvPr name="TextBox 19" id="19"/>
            <p:cNvSpPr txBox="true"/>
            <p:nvPr/>
          </p:nvSpPr>
          <p:spPr>
            <a:xfrm>
              <a:off x="114300" y="-57150"/>
              <a:ext cx="584200" cy="755650"/>
            </a:xfrm>
            <a:prstGeom prst="rect">
              <a:avLst/>
            </a:prstGeom>
          </p:spPr>
          <p:txBody>
            <a:bodyPr anchor="ctr" rtlCol="false" tIns="50800" lIns="50800" bIns="50800" rIns="50800"/>
            <a:lstStyle/>
            <a:p>
              <a:pPr algn="ctr" marL="0" indent="0" lvl="0">
                <a:lnSpc>
                  <a:spcPts val="2939"/>
                </a:lnSpc>
              </a:pPr>
            </a:p>
          </p:txBody>
        </p:sp>
      </p:grpSp>
      <p:sp>
        <p:nvSpPr>
          <p:cNvPr name="TextBox 20" id="20"/>
          <p:cNvSpPr txBox="true"/>
          <p:nvPr/>
        </p:nvSpPr>
        <p:spPr>
          <a:xfrm rot="0">
            <a:off x="5336114" y="1000125"/>
            <a:ext cx="7615772" cy="1430000"/>
          </a:xfrm>
          <a:prstGeom prst="rect">
            <a:avLst/>
          </a:prstGeom>
        </p:spPr>
        <p:txBody>
          <a:bodyPr anchor="t" rtlCol="false" tIns="0" lIns="0" bIns="0" rIns="0">
            <a:spAutoFit/>
          </a:bodyPr>
          <a:lstStyle/>
          <a:p>
            <a:pPr algn="ctr" marL="0" indent="0" lvl="0">
              <a:lnSpc>
                <a:spcPts val="5401"/>
              </a:lnSpc>
            </a:pPr>
            <a:r>
              <a:rPr lang="en-US" b="true" sz="4696">
                <a:solidFill>
                  <a:srgbClr val="000000"/>
                </a:solidFill>
                <a:latin typeface="Poppins Bold"/>
                <a:ea typeface="Poppins Bold"/>
                <a:cs typeface="Poppins Bold"/>
                <a:sym typeface="Poppins Bold"/>
              </a:rPr>
              <a:t>Tổng Quan Chức Năng Hệ Thống</a:t>
            </a:r>
          </a:p>
        </p:txBody>
      </p:sp>
      <p:sp>
        <p:nvSpPr>
          <p:cNvPr name="TextBox 21" id="21"/>
          <p:cNvSpPr txBox="true"/>
          <p:nvPr/>
        </p:nvSpPr>
        <p:spPr>
          <a:xfrm rot="0">
            <a:off x="10474665" y="3722003"/>
            <a:ext cx="5614255" cy="458182"/>
          </a:xfrm>
          <a:prstGeom prst="rect">
            <a:avLst/>
          </a:prstGeom>
        </p:spPr>
        <p:txBody>
          <a:bodyPr anchor="t" rtlCol="false" tIns="0" lIns="0" bIns="0" rIns="0">
            <a:spAutoFit/>
          </a:bodyPr>
          <a:lstStyle/>
          <a:p>
            <a:pPr algn="l" marL="0" indent="0" lvl="0">
              <a:lnSpc>
                <a:spcPts val="3620"/>
              </a:lnSpc>
              <a:spcBef>
                <a:spcPct val="0"/>
              </a:spcBef>
            </a:pPr>
            <a:r>
              <a:rPr lang="en-US" b="true" sz="2586">
                <a:solidFill>
                  <a:srgbClr val="000000"/>
                </a:solidFill>
                <a:latin typeface="Poppins Bold"/>
                <a:ea typeface="Poppins Bold"/>
                <a:cs typeface="Poppins Bold"/>
                <a:sym typeface="Poppins Bold"/>
              </a:rPr>
              <a:t>Quản lý &amp; Phê duyệt Hợp đồng</a:t>
            </a:r>
          </a:p>
        </p:txBody>
      </p:sp>
      <p:sp>
        <p:nvSpPr>
          <p:cNvPr name="TextBox 22" id="22"/>
          <p:cNvSpPr txBox="true"/>
          <p:nvPr/>
        </p:nvSpPr>
        <p:spPr>
          <a:xfrm rot="0">
            <a:off x="9014682" y="3836465"/>
            <a:ext cx="788247" cy="768606"/>
          </a:xfrm>
          <a:prstGeom prst="rect">
            <a:avLst/>
          </a:prstGeom>
        </p:spPr>
        <p:txBody>
          <a:bodyPr anchor="t" rtlCol="false" tIns="0" lIns="0" bIns="0" rIns="0">
            <a:spAutoFit/>
          </a:bodyPr>
          <a:lstStyle/>
          <a:p>
            <a:pPr algn="ctr" marL="0" indent="0" lvl="0">
              <a:lnSpc>
                <a:spcPts val="5935"/>
              </a:lnSpc>
              <a:spcBef>
                <a:spcPct val="0"/>
              </a:spcBef>
            </a:pPr>
            <a:r>
              <a:rPr lang="en-US" b="true" sz="4239">
                <a:solidFill>
                  <a:srgbClr val="FFFFFF"/>
                </a:solidFill>
                <a:latin typeface="Poppins Bold"/>
                <a:ea typeface="Poppins Bold"/>
                <a:cs typeface="Poppins Bold"/>
                <a:sym typeface="Poppins Bold"/>
              </a:rPr>
              <a:t>01</a:t>
            </a:r>
          </a:p>
        </p:txBody>
      </p:sp>
      <p:sp>
        <p:nvSpPr>
          <p:cNvPr name="TextBox 23" id="23"/>
          <p:cNvSpPr txBox="true"/>
          <p:nvPr/>
        </p:nvSpPr>
        <p:spPr>
          <a:xfrm rot="0">
            <a:off x="8799430" y="5650606"/>
            <a:ext cx="1218752" cy="768606"/>
          </a:xfrm>
          <a:prstGeom prst="rect">
            <a:avLst/>
          </a:prstGeom>
        </p:spPr>
        <p:txBody>
          <a:bodyPr anchor="t" rtlCol="false" tIns="0" lIns="0" bIns="0" rIns="0">
            <a:spAutoFit/>
          </a:bodyPr>
          <a:lstStyle/>
          <a:p>
            <a:pPr algn="ctr" marL="0" indent="0" lvl="0">
              <a:lnSpc>
                <a:spcPts val="5935"/>
              </a:lnSpc>
              <a:spcBef>
                <a:spcPct val="0"/>
              </a:spcBef>
            </a:pPr>
            <a:r>
              <a:rPr lang="en-US" b="true" sz="4239">
                <a:solidFill>
                  <a:srgbClr val="FFFFFF"/>
                </a:solidFill>
                <a:latin typeface="Poppins Bold"/>
                <a:ea typeface="Poppins Bold"/>
                <a:cs typeface="Poppins Bold"/>
                <a:sym typeface="Poppins Bold"/>
              </a:rPr>
              <a:t>02</a:t>
            </a:r>
          </a:p>
        </p:txBody>
      </p:sp>
      <p:sp>
        <p:nvSpPr>
          <p:cNvPr name="TextBox 24" id="24"/>
          <p:cNvSpPr txBox="true"/>
          <p:nvPr/>
        </p:nvSpPr>
        <p:spPr>
          <a:xfrm rot="0">
            <a:off x="8858810" y="7462939"/>
            <a:ext cx="1099992" cy="768606"/>
          </a:xfrm>
          <a:prstGeom prst="rect">
            <a:avLst/>
          </a:prstGeom>
        </p:spPr>
        <p:txBody>
          <a:bodyPr anchor="t" rtlCol="false" tIns="0" lIns="0" bIns="0" rIns="0">
            <a:spAutoFit/>
          </a:bodyPr>
          <a:lstStyle/>
          <a:p>
            <a:pPr algn="ctr" marL="0" indent="0" lvl="0">
              <a:lnSpc>
                <a:spcPts val="5935"/>
              </a:lnSpc>
              <a:spcBef>
                <a:spcPct val="0"/>
              </a:spcBef>
            </a:pPr>
            <a:r>
              <a:rPr lang="en-US" b="true" sz="4239">
                <a:solidFill>
                  <a:srgbClr val="FFFFFF"/>
                </a:solidFill>
                <a:latin typeface="Poppins Bold"/>
                <a:ea typeface="Poppins Bold"/>
                <a:cs typeface="Poppins Bold"/>
                <a:sym typeface="Poppins Bold"/>
              </a:rPr>
              <a:t>03</a:t>
            </a:r>
          </a:p>
        </p:txBody>
      </p:sp>
      <p:sp>
        <p:nvSpPr>
          <p:cNvPr name="TextBox 25" id="25"/>
          <p:cNvSpPr txBox="true"/>
          <p:nvPr/>
        </p:nvSpPr>
        <p:spPr>
          <a:xfrm rot="0">
            <a:off x="10474665" y="5573101"/>
            <a:ext cx="4954443" cy="458182"/>
          </a:xfrm>
          <a:prstGeom prst="rect">
            <a:avLst/>
          </a:prstGeom>
        </p:spPr>
        <p:txBody>
          <a:bodyPr anchor="t" rtlCol="false" tIns="0" lIns="0" bIns="0" rIns="0">
            <a:spAutoFit/>
          </a:bodyPr>
          <a:lstStyle/>
          <a:p>
            <a:pPr algn="l" marL="0" indent="0" lvl="0">
              <a:lnSpc>
                <a:spcPts val="3620"/>
              </a:lnSpc>
              <a:spcBef>
                <a:spcPct val="0"/>
              </a:spcBef>
            </a:pPr>
            <a:r>
              <a:rPr lang="en-US" b="true" sz="2586">
                <a:solidFill>
                  <a:srgbClr val="000000"/>
                </a:solidFill>
                <a:latin typeface="Poppins Bold"/>
                <a:ea typeface="Poppins Bold"/>
                <a:cs typeface="Poppins Bold"/>
                <a:sym typeface="Poppins Bold"/>
              </a:rPr>
              <a:t>Ký số &amp; Nhắc hạn Tự động</a:t>
            </a:r>
          </a:p>
        </p:txBody>
      </p:sp>
      <p:sp>
        <p:nvSpPr>
          <p:cNvPr name="TextBox 26" id="26"/>
          <p:cNvSpPr txBox="true"/>
          <p:nvPr/>
        </p:nvSpPr>
        <p:spPr>
          <a:xfrm rot="0">
            <a:off x="10474665" y="7354474"/>
            <a:ext cx="4950288" cy="458182"/>
          </a:xfrm>
          <a:prstGeom prst="rect">
            <a:avLst/>
          </a:prstGeom>
        </p:spPr>
        <p:txBody>
          <a:bodyPr anchor="t" rtlCol="false" tIns="0" lIns="0" bIns="0" rIns="0">
            <a:spAutoFit/>
          </a:bodyPr>
          <a:lstStyle/>
          <a:p>
            <a:pPr algn="l" marL="0" indent="0" lvl="0">
              <a:lnSpc>
                <a:spcPts val="3620"/>
              </a:lnSpc>
              <a:spcBef>
                <a:spcPct val="0"/>
              </a:spcBef>
            </a:pPr>
            <a:r>
              <a:rPr lang="en-US" b="true" sz="2586">
                <a:solidFill>
                  <a:srgbClr val="000000"/>
                </a:solidFill>
                <a:latin typeface="Poppins Bold"/>
                <a:ea typeface="Poppins Bold"/>
                <a:cs typeface="Poppins Bold"/>
                <a:sym typeface="Poppins Bold"/>
              </a:rPr>
              <a:t>Báo cáo &amp; Lưu trữ Tài liệu</a:t>
            </a:r>
          </a:p>
        </p:txBody>
      </p:sp>
      <p:sp>
        <p:nvSpPr>
          <p:cNvPr name="TextBox 27" id="27"/>
          <p:cNvSpPr txBox="true"/>
          <p:nvPr/>
        </p:nvSpPr>
        <p:spPr>
          <a:xfrm rot="0">
            <a:off x="10474665" y="4361276"/>
            <a:ext cx="7139850" cy="904875"/>
          </a:xfrm>
          <a:prstGeom prst="rect">
            <a:avLst/>
          </a:prstGeom>
        </p:spPr>
        <p:txBody>
          <a:bodyPr anchor="t" rtlCol="false" tIns="0" lIns="0" bIns="0" rIns="0">
            <a:spAutoFit/>
          </a:bodyPr>
          <a:lstStyle/>
          <a:p>
            <a:pPr algn="just" marL="0" indent="0" lvl="0">
              <a:lnSpc>
                <a:spcPts val="2398"/>
              </a:lnSpc>
            </a:pPr>
            <a:r>
              <a:rPr lang="en-US" sz="1998">
                <a:solidFill>
                  <a:srgbClr val="000000"/>
                </a:solidFill>
                <a:latin typeface="Poppins"/>
                <a:ea typeface="Poppins"/>
                <a:cs typeface="Poppins"/>
                <a:sym typeface="Poppins"/>
              </a:rPr>
              <a:t>Quản lý vòng đời hợp đồng, phân quyền người dùng đa cấp (Admin / Manager / Employee), kiểm soát luồng phê duyệt linh hoạt theo quy trình tổ chức.</a:t>
            </a:r>
          </a:p>
        </p:txBody>
      </p:sp>
      <p:sp>
        <p:nvSpPr>
          <p:cNvPr name="TextBox 28" id="28"/>
          <p:cNvSpPr txBox="true"/>
          <p:nvPr/>
        </p:nvSpPr>
        <p:spPr>
          <a:xfrm rot="0">
            <a:off x="10484190" y="6211695"/>
            <a:ext cx="7139850" cy="904875"/>
          </a:xfrm>
          <a:prstGeom prst="rect">
            <a:avLst/>
          </a:prstGeom>
        </p:spPr>
        <p:txBody>
          <a:bodyPr anchor="t" rtlCol="false" tIns="0" lIns="0" bIns="0" rIns="0">
            <a:spAutoFit/>
          </a:bodyPr>
          <a:lstStyle/>
          <a:p>
            <a:pPr algn="just" marL="0" indent="0" lvl="0">
              <a:lnSpc>
                <a:spcPts val="2398"/>
              </a:lnSpc>
            </a:pPr>
            <a:r>
              <a:rPr lang="en-US" sz="1998">
                <a:solidFill>
                  <a:srgbClr val="000000"/>
                </a:solidFill>
                <a:latin typeface="Poppins"/>
                <a:ea typeface="Poppins"/>
                <a:cs typeface="Poppins"/>
                <a:sym typeface="Poppins"/>
              </a:rPr>
              <a:t>Ký hợp đồng điện tử, tự động nhắc hạn và gia hạn, gửi thông báo hệ thống đến đúng người phụ trách theo lịch đã cấu hình.</a:t>
            </a:r>
          </a:p>
        </p:txBody>
      </p:sp>
      <p:sp>
        <p:nvSpPr>
          <p:cNvPr name="TextBox 29" id="29"/>
          <p:cNvSpPr txBox="true"/>
          <p:nvPr/>
        </p:nvSpPr>
        <p:spPr>
          <a:xfrm rot="0">
            <a:off x="10484190" y="8021513"/>
            <a:ext cx="7139850" cy="904875"/>
          </a:xfrm>
          <a:prstGeom prst="rect">
            <a:avLst/>
          </a:prstGeom>
        </p:spPr>
        <p:txBody>
          <a:bodyPr anchor="t" rtlCol="false" tIns="0" lIns="0" bIns="0" rIns="0">
            <a:spAutoFit/>
          </a:bodyPr>
          <a:lstStyle/>
          <a:p>
            <a:pPr algn="just" marL="0" indent="0" lvl="0">
              <a:lnSpc>
                <a:spcPts val="2398"/>
              </a:lnSpc>
            </a:pPr>
            <a:r>
              <a:rPr lang="en-US" sz="1998">
                <a:solidFill>
                  <a:srgbClr val="000000"/>
                </a:solidFill>
                <a:latin typeface="Poppins"/>
                <a:ea typeface="Poppins"/>
                <a:cs typeface="Poppins"/>
                <a:sym typeface="Poppins"/>
              </a:rPr>
              <a:t>Báo cáo thống kê trực quan theo trạng thái và giá trị, lưu trữ tài liệu an toàn trên MinIO, tra cứu nhanh theo bộ lọc nâng cao.</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5400000">
            <a:off x="-183894" y="-674598"/>
            <a:ext cx="2117840" cy="3264897"/>
          </a:xfrm>
          <a:custGeom>
            <a:avLst/>
            <a:gdLst/>
            <a:ahLst/>
            <a:cxnLst/>
            <a:rect r="r" b="b" t="t" l="l"/>
            <a:pathLst>
              <a:path h="3264897" w="2117840">
                <a:moveTo>
                  <a:pt x="2117840" y="3264897"/>
                </a:moveTo>
                <a:lnTo>
                  <a:pt x="0" y="3264897"/>
                </a:lnTo>
                <a:lnTo>
                  <a:pt x="0" y="0"/>
                </a:lnTo>
                <a:lnTo>
                  <a:pt x="2117840" y="0"/>
                </a:lnTo>
                <a:lnTo>
                  <a:pt x="2117840" y="3264897"/>
                </a:lnTo>
                <a:close/>
              </a:path>
            </a:pathLst>
          </a:custGeom>
          <a:blipFill>
            <a:blip r:embed="rId2">
              <a:extLst>
                <a:ext uri="{96DAC541-7B7A-43D3-8B79-37D633B846F1}">
                  <asvg:svgBlip xmlns:asvg="http://schemas.microsoft.com/office/drawing/2016/SVG/main" r:embed="rId3"/>
                </a:ext>
              </a:extLst>
            </a:blip>
            <a:stretch>
              <a:fillRect l="0" t="0" r="-75183" b="0"/>
            </a:stretch>
          </a:blipFill>
        </p:spPr>
      </p:sp>
      <p:sp>
        <p:nvSpPr>
          <p:cNvPr name="Freeform 3" id="3"/>
          <p:cNvSpPr/>
          <p:nvPr/>
        </p:nvSpPr>
        <p:spPr>
          <a:xfrm flipH="true" flipV="false" rot="-5400000">
            <a:off x="16351493" y="-712127"/>
            <a:ext cx="2117840" cy="3264897"/>
          </a:xfrm>
          <a:custGeom>
            <a:avLst/>
            <a:gdLst/>
            <a:ahLst/>
            <a:cxnLst/>
            <a:rect r="r" b="b" t="t" l="l"/>
            <a:pathLst>
              <a:path h="3264897" w="2117840">
                <a:moveTo>
                  <a:pt x="2117840" y="0"/>
                </a:moveTo>
                <a:lnTo>
                  <a:pt x="0" y="0"/>
                </a:lnTo>
                <a:lnTo>
                  <a:pt x="0" y="3264898"/>
                </a:lnTo>
                <a:lnTo>
                  <a:pt x="2117840" y="3264898"/>
                </a:lnTo>
                <a:lnTo>
                  <a:pt x="2117840" y="0"/>
                </a:lnTo>
                <a:close/>
              </a:path>
            </a:pathLst>
          </a:custGeom>
          <a:blipFill>
            <a:blip r:embed="rId2">
              <a:extLst>
                <a:ext uri="{96DAC541-7B7A-43D3-8B79-37D633B846F1}">
                  <asvg:svgBlip xmlns:asvg="http://schemas.microsoft.com/office/drawing/2016/SVG/main" r:embed="rId3"/>
                </a:ext>
              </a:extLst>
            </a:blip>
            <a:stretch>
              <a:fillRect l="0" t="0" r="-75183" b="0"/>
            </a:stretch>
          </a:blipFill>
        </p:spPr>
      </p:sp>
      <p:grpSp>
        <p:nvGrpSpPr>
          <p:cNvPr name="Group 4" id="4"/>
          <p:cNvGrpSpPr/>
          <p:nvPr/>
        </p:nvGrpSpPr>
        <p:grpSpPr>
          <a:xfrm rot="0">
            <a:off x="3308674" y="9179570"/>
            <a:ext cx="16477376" cy="783580"/>
            <a:chOff x="0" y="0"/>
            <a:chExt cx="4339720" cy="206375"/>
          </a:xfrm>
        </p:grpSpPr>
        <p:sp>
          <p:nvSpPr>
            <p:cNvPr name="Freeform 5" id="5"/>
            <p:cNvSpPr/>
            <p:nvPr/>
          </p:nvSpPr>
          <p:spPr>
            <a:xfrm flipH="false" flipV="false" rot="0">
              <a:off x="0" y="0"/>
              <a:ext cx="4339720" cy="206375"/>
            </a:xfrm>
            <a:custGeom>
              <a:avLst/>
              <a:gdLst/>
              <a:ahLst/>
              <a:cxnLst/>
              <a:rect r="r" b="b" t="t" l="l"/>
              <a:pathLst>
                <a:path h="206375" w="4339720">
                  <a:moveTo>
                    <a:pt x="203200" y="0"/>
                  </a:moveTo>
                  <a:lnTo>
                    <a:pt x="4339720" y="0"/>
                  </a:lnTo>
                  <a:lnTo>
                    <a:pt x="4136520" y="206375"/>
                  </a:lnTo>
                  <a:lnTo>
                    <a:pt x="0" y="206375"/>
                  </a:lnTo>
                  <a:lnTo>
                    <a:pt x="203200" y="0"/>
                  </a:lnTo>
                  <a:close/>
                </a:path>
              </a:pathLst>
            </a:custGeom>
            <a:solidFill>
              <a:srgbClr val="FFA916"/>
            </a:solidFill>
          </p:spPr>
        </p:sp>
        <p:sp>
          <p:nvSpPr>
            <p:cNvPr name="TextBox 6" id="6"/>
            <p:cNvSpPr txBox="true"/>
            <p:nvPr/>
          </p:nvSpPr>
          <p:spPr>
            <a:xfrm>
              <a:off x="101600" y="-57150"/>
              <a:ext cx="4136520" cy="263525"/>
            </a:xfrm>
            <a:prstGeom prst="rect">
              <a:avLst/>
            </a:prstGeom>
          </p:spPr>
          <p:txBody>
            <a:bodyPr anchor="ctr" rtlCol="false" tIns="50800" lIns="50800" bIns="50800" rIns="50800"/>
            <a:lstStyle/>
            <a:p>
              <a:pPr algn="ctr" marL="0" indent="0" lvl="0">
                <a:lnSpc>
                  <a:spcPts val="2659"/>
                </a:lnSpc>
              </a:pPr>
            </a:p>
          </p:txBody>
        </p:sp>
      </p:grpSp>
      <p:grpSp>
        <p:nvGrpSpPr>
          <p:cNvPr name="Group 7" id="7"/>
          <p:cNvGrpSpPr/>
          <p:nvPr/>
        </p:nvGrpSpPr>
        <p:grpSpPr>
          <a:xfrm rot="0">
            <a:off x="-1024868" y="9963150"/>
            <a:ext cx="7295490" cy="783580"/>
            <a:chOff x="0" y="0"/>
            <a:chExt cx="1921446" cy="206375"/>
          </a:xfrm>
        </p:grpSpPr>
        <p:sp>
          <p:nvSpPr>
            <p:cNvPr name="Freeform 8" id="8"/>
            <p:cNvSpPr/>
            <p:nvPr/>
          </p:nvSpPr>
          <p:spPr>
            <a:xfrm flipH="false" flipV="false" rot="0">
              <a:off x="0" y="0"/>
              <a:ext cx="1921446" cy="206375"/>
            </a:xfrm>
            <a:custGeom>
              <a:avLst/>
              <a:gdLst/>
              <a:ahLst/>
              <a:cxnLst/>
              <a:rect r="r" b="b" t="t" l="l"/>
              <a:pathLst>
                <a:path h="206375" w="1921446">
                  <a:moveTo>
                    <a:pt x="203200" y="0"/>
                  </a:moveTo>
                  <a:lnTo>
                    <a:pt x="1921446" y="0"/>
                  </a:lnTo>
                  <a:lnTo>
                    <a:pt x="1718246" y="206375"/>
                  </a:lnTo>
                  <a:lnTo>
                    <a:pt x="0" y="206375"/>
                  </a:lnTo>
                  <a:lnTo>
                    <a:pt x="203200" y="0"/>
                  </a:lnTo>
                  <a:close/>
                </a:path>
              </a:pathLst>
            </a:custGeom>
            <a:solidFill>
              <a:srgbClr val="024A59"/>
            </a:solidFill>
          </p:spPr>
        </p:sp>
        <p:sp>
          <p:nvSpPr>
            <p:cNvPr name="TextBox 9" id="9"/>
            <p:cNvSpPr txBox="true"/>
            <p:nvPr/>
          </p:nvSpPr>
          <p:spPr>
            <a:xfrm>
              <a:off x="101600" y="-57150"/>
              <a:ext cx="1718246" cy="263525"/>
            </a:xfrm>
            <a:prstGeom prst="rect">
              <a:avLst/>
            </a:prstGeom>
          </p:spPr>
          <p:txBody>
            <a:bodyPr anchor="ctr" rtlCol="false" tIns="50800" lIns="50800" bIns="50800" rIns="50800"/>
            <a:lstStyle/>
            <a:p>
              <a:pPr algn="ctr" marL="0" indent="0" lvl="0">
                <a:lnSpc>
                  <a:spcPts val="2659"/>
                </a:lnSpc>
              </a:pPr>
            </a:p>
          </p:txBody>
        </p:sp>
      </p:grpSp>
      <p:grpSp>
        <p:nvGrpSpPr>
          <p:cNvPr name="Group 10" id="10"/>
          <p:cNvGrpSpPr/>
          <p:nvPr/>
        </p:nvGrpSpPr>
        <p:grpSpPr>
          <a:xfrm rot="0">
            <a:off x="8022742" y="2633514"/>
            <a:ext cx="1309167" cy="1125065"/>
            <a:chOff x="0" y="0"/>
            <a:chExt cx="812800" cy="698500"/>
          </a:xfrm>
        </p:grpSpPr>
        <p:sp>
          <p:nvSpPr>
            <p:cNvPr name="Freeform 11" id="11"/>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24A59"/>
            </a:solidFill>
            <a:ln w="85725" cap="sq">
              <a:solidFill>
                <a:srgbClr val="FFA916"/>
              </a:solidFill>
              <a:prstDash val="solid"/>
              <a:miter/>
            </a:ln>
          </p:spPr>
        </p:sp>
        <p:sp>
          <p:nvSpPr>
            <p:cNvPr name="TextBox 12" id="12"/>
            <p:cNvSpPr txBox="true"/>
            <p:nvPr/>
          </p:nvSpPr>
          <p:spPr>
            <a:xfrm>
              <a:off x="114300" y="-57150"/>
              <a:ext cx="584200" cy="755650"/>
            </a:xfrm>
            <a:prstGeom prst="rect">
              <a:avLst/>
            </a:prstGeom>
          </p:spPr>
          <p:txBody>
            <a:bodyPr anchor="ctr" rtlCol="false" tIns="50800" lIns="50800" bIns="50800" rIns="50800"/>
            <a:lstStyle/>
            <a:p>
              <a:pPr algn="ctr" marL="0" indent="0" lvl="0">
                <a:lnSpc>
                  <a:spcPts val="2659"/>
                </a:lnSpc>
              </a:pPr>
            </a:p>
          </p:txBody>
        </p:sp>
      </p:grpSp>
      <p:grpSp>
        <p:nvGrpSpPr>
          <p:cNvPr name="Group 13" id="13"/>
          <p:cNvGrpSpPr/>
          <p:nvPr/>
        </p:nvGrpSpPr>
        <p:grpSpPr>
          <a:xfrm rot="0">
            <a:off x="8022742" y="4203787"/>
            <a:ext cx="1309167" cy="1125065"/>
            <a:chOff x="0" y="0"/>
            <a:chExt cx="812800" cy="698500"/>
          </a:xfrm>
        </p:grpSpPr>
        <p:sp>
          <p:nvSpPr>
            <p:cNvPr name="Freeform 14" id="14"/>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24A59"/>
            </a:solidFill>
            <a:ln w="85725" cap="sq">
              <a:solidFill>
                <a:srgbClr val="FFA916"/>
              </a:solidFill>
              <a:prstDash val="solid"/>
              <a:miter/>
            </a:ln>
          </p:spPr>
        </p:sp>
        <p:sp>
          <p:nvSpPr>
            <p:cNvPr name="TextBox 15" id="15"/>
            <p:cNvSpPr txBox="true"/>
            <p:nvPr/>
          </p:nvSpPr>
          <p:spPr>
            <a:xfrm>
              <a:off x="114300" y="-57150"/>
              <a:ext cx="584200" cy="755650"/>
            </a:xfrm>
            <a:prstGeom prst="rect">
              <a:avLst/>
            </a:prstGeom>
          </p:spPr>
          <p:txBody>
            <a:bodyPr anchor="ctr" rtlCol="false" tIns="50800" lIns="50800" bIns="50800" rIns="50800"/>
            <a:lstStyle/>
            <a:p>
              <a:pPr algn="ctr" marL="0" indent="0" lvl="0">
                <a:lnSpc>
                  <a:spcPts val="2659"/>
                </a:lnSpc>
              </a:pPr>
            </a:p>
          </p:txBody>
        </p:sp>
      </p:grpSp>
      <p:grpSp>
        <p:nvGrpSpPr>
          <p:cNvPr name="Group 16" id="16"/>
          <p:cNvGrpSpPr/>
          <p:nvPr/>
        </p:nvGrpSpPr>
        <p:grpSpPr>
          <a:xfrm rot="0">
            <a:off x="8022742" y="5777686"/>
            <a:ext cx="1309167" cy="1125065"/>
            <a:chOff x="0" y="0"/>
            <a:chExt cx="812800" cy="698500"/>
          </a:xfrm>
        </p:grpSpPr>
        <p:sp>
          <p:nvSpPr>
            <p:cNvPr name="Freeform 17" id="17"/>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24A59"/>
            </a:solidFill>
            <a:ln w="85725" cap="sq">
              <a:solidFill>
                <a:srgbClr val="FFA916"/>
              </a:solidFill>
              <a:prstDash val="solid"/>
              <a:miter/>
            </a:ln>
          </p:spPr>
        </p:sp>
        <p:sp>
          <p:nvSpPr>
            <p:cNvPr name="TextBox 18" id="18"/>
            <p:cNvSpPr txBox="true"/>
            <p:nvPr/>
          </p:nvSpPr>
          <p:spPr>
            <a:xfrm>
              <a:off x="114300" y="-57150"/>
              <a:ext cx="584200" cy="755650"/>
            </a:xfrm>
            <a:prstGeom prst="rect">
              <a:avLst/>
            </a:prstGeom>
          </p:spPr>
          <p:txBody>
            <a:bodyPr anchor="ctr" rtlCol="false" tIns="50800" lIns="50800" bIns="50800" rIns="50800"/>
            <a:lstStyle/>
            <a:p>
              <a:pPr algn="ctr" marL="0" indent="0" lvl="0">
                <a:lnSpc>
                  <a:spcPts val="2659"/>
                </a:lnSpc>
              </a:pPr>
            </a:p>
          </p:txBody>
        </p:sp>
      </p:grpSp>
      <p:grpSp>
        <p:nvGrpSpPr>
          <p:cNvPr name="Group 19" id="19"/>
          <p:cNvGrpSpPr/>
          <p:nvPr/>
        </p:nvGrpSpPr>
        <p:grpSpPr>
          <a:xfrm rot="0">
            <a:off x="8022742" y="7349655"/>
            <a:ext cx="1309167" cy="1125065"/>
            <a:chOff x="0" y="0"/>
            <a:chExt cx="812800" cy="698500"/>
          </a:xfrm>
        </p:grpSpPr>
        <p:sp>
          <p:nvSpPr>
            <p:cNvPr name="Freeform 20" id="20"/>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24A59"/>
            </a:solidFill>
            <a:ln w="85725" cap="sq">
              <a:solidFill>
                <a:srgbClr val="FFA916"/>
              </a:solidFill>
              <a:prstDash val="solid"/>
              <a:miter/>
            </a:ln>
          </p:spPr>
        </p:sp>
        <p:sp>
          <p:nvSpPr>
            <p:cNvPr name="TextBox 21" id="21"/>
            <p:cNvSpPr txBox="true"/>
            <p:nvPr/>
          </p:nvSpPr>
          <p:spPr>
            <a:xfrm>
              <a:off x="114300" y="-57150"/>
              <a:ext cx="584200" cy="755650"/>
            </a:xfrm>
            <a:prstGeom prst="rect">
              <a:avLst/>
            </a:prstGeom>
          </p:spPr>
          <p:txBody>
            <a:bodyPr anchor="ctr" rtlCol="false" tIns="50800" lIns="50800" bIns="50800" rIns="50800"/>
            <a:lstStyle/>
            <a:p>
              <a:pPr algn="ctr" marL="0" indent="0" lvl="0">
                <a:lnSpc>
                  <a:spcPts val="2659"/>
                </a:lnSpc>
              </a:pPr>
            </a:p>
          </p:txBody>
        </p:sp>
      </p:grpSp>
      <p:sp>
        <p:nvSpPr>
          <p:cNvPr name="Freeform 22" id="22"/>
          <p:cNvSpPr/>
          <p:nvPr/>
        </p:nvSpPr>
        <p:spPr>
          <a:xfrm flipH="false" flipV="false" rot="0">
            <a:off x="1350674" y="2471586"/>
            <a:ext cx="5578767" cy="3135511"/>
          </a:xfrm>
          <a:custGeom>
            <a:avLst/>
            <a:gdLst/>
            <a:ahLst/>
            <a:cxnLst/>
            <a:rect r="r" b="b" t="t" l="l"/>
            <a:pathLst>
              <a:path h="3135511" w="5578767">
                <a:moveTo>
                  <a:pt x="0" y="0"/>
                </a:moveTo>
                <a:lnTo>
                  <a:pt x="5578767" y="0"/>
                </a:lnTo>
                <a:lnTo>
                  <a:pt x="5578767" y="3135511"/>
                </a:lnTo>
                <a:lnTo>
                  <a:pt x="0" y="3135511"/>
                </a:lnTo>
                <a:lnTo>
                  <a:pt x="0" y="0"/>
                </a:lnTo>
                <a:close/>
              </a:path>
            </a:pathLst>
          </a:custGeom>
          <a:blipFill>
            <a:blip r:embed="rId4"/>
            <a:stretch>
              <a:fillRect l="0" t="0" r="0" b="0"/>
            </a:stretch>
          </a:blipFill>
        </p:spPr>
      </p:sp>
      <p:sp>
        <p:nvSpPr>
          <p:cNvPr name="Freeform 23" id="23"/>
          <p:cNvSpPr/>
          <p:nvPr/>
        </p:nvSpPr>
        <p:spPr>
          <a:xfrm flipH="false" flipV="false" rot="0">
            <a:off x="1285261" y="5839973"/>
            <a:ext cx="5644180" cy="3172276"/>
          </a:xfrm>
          <a:custGeom>
            <a:avLst/>
            <a:gdLst/>
            <a:ahLst/>
            <a:cxnLst/>
            <a:rect r="r" b="b" t="t" l="l"/>
            <a:pathLst>
              <a:path h="3172276" w="5644180">
                <a:moveTo>
                  <a:pt x="0" y="0"/>
                </a:moveTo>
                <a:lnTo>
                  <a:pt x="5644180" y="0"/>
                </a:lnTo>
                <a:lnTo>
                  <a:pt x="5644180" y="3172276"/>
                </a:lnTo>
                <a:lnTo>
                  <a:pt x="0" y="3172276"/>
                </a:lnTo>
                <a:lnTo>
                  <a:pt x="0" y="0"/>
                </a:lnTo>
                <a:close/>
              </a:path>
            </a:pathLst>
          </a:custGeom>
          <a:blipFill>
            <a:blip r:embed="rId5"/>
            <a:stretch>
              <a:fillRect l="0" t="0" r="0" b="0"/>
            </a:stretch>
          </a:blipFill>
        </p:spPr>
      </p:sp>
      <p:sp>
        <p:nvSpPr>
          <p:cNvPr name="TextBox 24" id="24"/>
          <p:cNvSpPr txBox="true"/>
          <p:nvPr/>
        </p:nvSpPr>
        <p:spPr>
          <a:xfrm rot="0">
            <a:off x="4560885" y="545579"/>
            <a:ext cx="9163669" cy="1343005"/>
          </a:xfrm>
          <a:prstGeom prst="rect">
            <a:avLst/>
          </a:prstGeom>
        </p:spPr>
        <p:txBody>
          <a:bodyPr anchor="t" rtlCol="false" tIns="0" lIns="0" bIns="0" rIns="0">
            <a:spAutoFit/>
          </a:bodyPr>
          <a:lstStyle/>
          <a:p>
            <a:pPr algn="ctr" marL="0" indent="0" lvl="0">
              <a:lnSpc>
                <a:spcPts val="5171"/>
              </a:lnSpc>
            </a:pPr>
            <a:r>
              <a:rPr lang="en-US" b="true" sz="4496">
                <a:solidFill>
                  <a:srgbClr val="000000"/>
                </a:solidFill>
                <a:latin typeface="Poppins Bold"/>
                <a:ea typeface="Poppins Bold"/>
                <a:cs typeface="Poppins Bold"/>
                <a:sym typeface="Poppins Bold"/>
              </a:rPr>
              <a:t>Kiến trúc hệ thống</a:t>
            </a:r>
          </a:p>
          <a:p>
            <a:pPr algn="ctr" marL="0" indent="0" lvl="0">
              <a:lnSpc>
                <a:spcPts val="5171"/>
              </a:lnSpc>
            </a:pPr>
            <a:r>
              <a:rPr lang="en-US" b="true" sz="4496">
                <a:solidFill>
                  <a:srgbClr val="000000"/>
                </a:solidFill>
                <a:latin typeface="Poppins Bold"/>
                <a:ea typeface="Poppins Bold"/>
                <a:cs typeface="Poppins Bold"/>
                <a:sym typeface="Poppins Bold"/>
              </a:rPr>
              <a:t>ECMS System Architecture</a:t>
            </a:r>
          </a:p>
        </p:txBody>
      </p:sp>
      <p:sp>
        <p:nvSpPr>
          <p:cNvPr name="TextBox 25" id="25"/>
          <p:cNvSpPr txBox="true"/>
          <p:nvPr/>
        </p:nvSpPr>
        <p:spPr>
          <a:xfrm rot="0">
            <a:off x="9599906" y="2651991"/>
            <a:ext cx="5002227" cy="376372"/>
          </a:xfrm>
          <a:prstGeom prst="rect">
            <a:avLst/>
          </a:prstGeom>
        </p:spPr>
        <p:txBody>
          <a:bodyPr anchor="t" rtlCol="false" tIns="0" lIns="0" bIns="0" rIns="0">
            <a:spAutoFit/>
          </a:bodyPr>
          <a:lstStyle/>
          <a:p>
            <a:pPr algn="l" marL="0" indent="0" lvl="0">
              <a:lnSpc>
                <a:spcPts val="2942"/>
              </a:lnSpc>
              <a:spcBef>
                <a:spcPct val="0"/>
              </a:spcBef>
            </a:pPr>
            <a:r>
              <a:rPr lang="en-US" b="true" sz="2101">
                <a:solidFill>
                  <a:srgbClr val="000000"/>
                </a:solidFill>
                <a:latin typeface="Poppins Bold"/>
                <a:ea typeface="Poppins Bold"/>
                <a:cs typeface="Poppins Bold"/>
                <a:sym typeface="Poppins Bold"/>
              </a:rPr>
              <a:t>Client → Next.js App Server</a:t>
            </a:r>
          </a:p>
        </p:txBody>
      </p:sp>
      <p:sp>
        <p:nvSpPr>
          <p:cNvPr name="TextBox 26" id="26"/>
          <p:cNvSpPr txBox="true"/>
          <p:nvPr/>
        </p:nvSpPr>
        <p:spPr>
          <a:xfrm rot="0">
            <a:off x="8336183" y="2762434"/>
            <a:ext cx="682286" cy="628867"/>
          </a:xfrm>
          <a:prstGeom prst="rect">
            <a:avLst/>
          </a:prstGeom>
        </p:spPr>
        <p:txBody>
          <a:bodyPr anchor="t" rtlCol="false" tIns="0" lIns="0" bIns="0" rIns="0">
            <a:spAutoFit/>
          </a:bodyPr>
          <a:lstStyle/>
          <a:p>
            <a:pPr algn="ctr" marL="0" indent="0" lvl="0">
              <a:lnSpc>
                <a:spcPts val="4943"/>
              </a:lnSpc>
              <a:spcBef>
                <a:spcPct val="0"/>
              </a:spcBef>
            </a:pPr>
            <a:r>
              <a:rPr lang="en-US" b="true" sz="3530">
                <a:solidFill>
                  <a:srgbClr val="FFFFFF"/>
                </a:solidFill>
                <a:latin typeface="Poppins Bold"/>
                <a:ea typeface="Poppins Bold"/>
                <a:cs typeface="Poppins Bold"/>
                <a:sym typeface="Poppins Bold"/>
              </a:rPr>
              <a:t>01</a:t>
            </a:r>
          </a:p>
        </p:txBody>
      </p:sp>
      <p:sp>
        <p:nvSpPr>
          <p:cNvPr name="TextBox 27" id="27"/>
          <p:cNvSpPr txBox="true"/>
          <p:nvPr/>
        </p:nvSpPr>
        <p:spPr>
          <a:xfrm rot="0">
            <a:off x="8149866" y="4332706"/>
            <a:ext cx="1054919" cy="628867"/>
          </a:xfrm>
          <a:prstGeom prst="rect">
            <a:avLst/>
          </a:prstGeom>
        </p:spPr>
        <p:txBody>
          <a:bodyPr anchor="t" rtlCol="false" tIns="0" lIns="0" bIns="0" rIns="0">
            <a:spAutoFit/>
          </a:bodyPr>
          <a:lstStyle/>
          <a:p>
            <a:pPr algn="ctr" marL="0" indent="0" lvl="0">
              <a:lnSpc>
                <a:spcPts val="4943"/>
              </a:lnSpc>
              <a:spcBef>
                <a:spcPct val="0"/>
              </a:spcBef>
            </a:pPr>
            <a:r>
              <a:rPr lang="en-US" b="true" sz="3530">
                <a:solidFill>
                  <a:srgbClr val="FFFFFF"/>
                </a:solidFill>
                <a:latin typeface="Poppins Bold"/>
                <a:ea typeface="Poppins Bold"/>
                <a:cs typeface="Poppins Bold"/>
                <a:sym typeface="Poppins Bold"/>
              </a:rPr>
              <a:t>02</a:t>
            </a:r>
          </a:p>
        </p:txBody>
      </p:sp>
      <p:sp>
        <p:nvSpPr>
          <p:cNvPr name="TextBox 28" id="28"/>
          <p:cNvSpPr txBox="true"/>
          <p:nvPr/>
        </p:nvSpPr>
        <p:spPr>
          <a:xfrm rot="0">
            <a:off x="8201264" y="5901414"/>
            <a:ext cx="952124" cy="628867"/>
          </a:xfrm>
          <a:prstGeom prst="rect">
            <a:avLst/>
          </a:prstGeom>
        </p:spPr>
        <p:txBody>
          <a:bodyPr anchor="t" rtlCol="false" tIns="0" lIns="0" bIns="0" rIns="0">
            <a:spAutoFit/>
          </a:bodyPr>
          <a:lstStyle/>
          <a:p>
            <a:pPr algn="ctr" marL="0" indent="0" lvl="0">
              <a:lnSpc>
                <a:spcPts val="4943"/>
              </a:lnSpc>
              <a:spcBef>
                <a:spcPct val="0"/>
              </a:spcBef>
            </a:pPr>
            <a:r>
              <a:rPr lang="en-US" b="true" sz="3530">
                <a:solidFill>
                  <a:srgbClr val="FFFFFF"/>
                </a:solidFill>
                <a:latin typeface="Poppins Bold"/>
                <a:ea typeface="Poppins Bold"/>
                <a:cs typeface="Poppins Bold"/>
                <a:sym typeface="Poppins Bold"/>
              </a:rPr>
              <a:t>03</a:t>
            </a:r>
          </a:p>
        </p:txBody>
      </p:sp>
      <p:sp>
        <p:nvSpPr>
          <p:cNvPr name="TextBox 29" id="29"/>
          <p:cNvSpPr txBox="true"/>
          <p:nvPr/>
        </p:nvSpPr>
        <p:spPr>
          <a:xfrm rot="0">
            <a:off x="8201264" y="7473383"/>
            <a:ext cx="952124" cy="628867"/>
          </a:xfrm>
          <a:prstGeom prst="rect">
            <a:avLst/>
          </a:prstGeom>
        </p:spPr>
        <p:txBody>
          <a:bodyPr anchor="t" rtlCol="false" tIns="0" lIns="0" bIns="0" rIns="0">
            <a:spAutoFit/>
          </a:bodyPr>
          <a:lstStyle/>
          <a:p>
            <a:pPr algn="ctr" marL="0" indent="0" lvl="0">
              <a:lnSpc>
                <a:spcPts val="4943"/>
              </a:lnSpc>
              <a:spcBef>
                <a:spcPct val="0"/>
              </a:spcBef>
            </a:pPr>
            <a:r>
              <a:rPr lang="en-US" b="true" sz="3530">
                <a:solidFill>
                  <a:srgbClr val="FFFFFF"/>
                </a:solidFill>
                <a:latin typeface="Poppins Bold"/>
                <a:ea typeface="Poppins Bold"/>
                <a:cs typeface="Poppins Bold"/>
                <a:sym typeface="Poppins Bold"/>
              </a:rPr>
              <a:t>04</a:t>
            </a:r>
          </a:p>
        </p:txBody>
      </p:sp>
      <p:sp>
        <p:nvSpPr>
          <p:cNvPr name="TextBox 30" id="30"/>
          <p:cNvSpPr txBox="true"/>
          <p:nvPr/>
        </p:nvSpPr>
        <p:spPr>
          <a:xfrm rot="0">
            <a:off x="9599906" y="4254252"/>
            <a:ext cx="4288436" cy="376372"/>
          </a:xfrm>
          <a:prstGeom prst="rect">
            <a:avLst/>
          </a:prstGeom>
        </p:spPr>
        <p:txBody>
          <a:bodyPr anchor="t" rtlCol="false" tIns="0" lIns="0" bIns="0" rIns="0">
            <a:spAutoFit/>
          </a:bodyPr>
          <a:lstStyle/>
          <a:p>
            <a:pPr algn="l" marL="0" indent="0" lvl="0">
              <a:lnSpc>
                <a:spcPts val="2942"/>
              </a:lnSpc>
              <a:spcBef>
                <a:spcPct val="0"/>
              </a:spcBef>
            </a:pPr>
            <a:r>
              <a:rPr lang="en-US" b="true" sz="2101">
                <a:solidFill>
                  <a:srgbClr val="000000"/>
                </a:solidFill>
                <a:latin typeface="Poppins Bold"/>
                <a:ea typeface="Poppins Bold"/>
                <a:cs typeface="Poppins Bold"/>
                <a:sym typeface="Poppins Bold"/>
              </a:rPr>
              <a:t>API Routes → Business Services</a:t>
            </a:r>
          </a:p>
        </p:txBody>
      </p:sp>
      <p:sp>
        <p:nvSpPr>
          <p:cNvPr name="TextBox 31" id="31"/>
          <p:cNvSpPr txBox="true"/>
          <p:nvPr/>
        </p:nvSpPr>
        <p:spPr>
          <a:xfrm rot="0">
            <a:off x="9599906" y="5796163"/>
            <a:ext cx="3363266" cy="376372"/>
          </a:xfrm>
          <a:prstGeom prst="rect">
            <a:avLst/>
          </a:prstGeom>
        </p:spPr>
        <p:txBody>
          <a:bodyPr anchor="t" rtlCol="false" tIns="0" lIns="0" bIns="0" rIns="0">
            <a:spAutoFit/>
          </a:bodyPr>
          <a:lstStyle/>
          <a:p>
            <a:pPr algn="l" marL="0" indent="0" lvl="0">
              <a:lnSpc>
                <a:spcPts val="2942"/>
              </a:lnSpc>
              <a:spcBef>
                <a:spcPct val="0"/>
              </a:spcBef>
            </a:pPr>
            <a:r>
              <a:rPr lang="en-US" b="true" sz="2101">
                <a:solidFill>
                  <a:srgbClr val="000000"/>
                </a:solidFill>
                <a:latin typeface="Poppins Bold"/>
                <a:ea typeface="Poppins Bold"/>
                <a:cs typeface="Poppins Bold"/>
                <a:sym typeface="Poppins Bold"/>
              </a:rPr>
              <a:t>PostgreSQL / MinIO</a:t>
            </a:r>
          </a:p>
        </p:txBody>
      </p:sp>
      <p:sp>
        <p:nvSpPr>
          <p:cNvPr name="TextBox 32" id="32"/>
          <p:cNvSpPr txBox="true"/>
          <p:nvPr/>
        </p:nvSpPr>
        <p:spPr>
          <a:xfrm rot="0">
            <a:off x="9599906" y="7368132"/>
            <a:ext cx="3363266" cy="376372"/>
          </a:xfrm>
          <a:prstGeom prst="rect">
            <a:avLst/>
          </a:prstGeom>
        </p:spPr>
        <p:txBody>
          <a:bodyPr anchor="t" rtlCol="false" tIns="0" lIns="0" bIns="0" rIns="0">
            <a:spAutoFit/>
          </a:bodyPr>
          <a:lstStyle/>
          <a:p>
            <a:pPr algn="l" marL="0" indent="0" lvl="0">
              <a:lnSpc>
                <a:spcPts val="2942"/>
              </a:lnSpc>
              <a:spcBef>
                <a:spcPct val="0"/>
              </a:spcBef>
            </a:pPr>
            <a:r>
              <a:rPr lang="en-US" b="true" sz="2101">
                <a:solidFill>
                  <a:srgbClr val="000000"/>
                </a:solidFill>
                <a:latin typeface="Poppins Bold"/>
                <a:ea typeface="Poppins Bold"/>
                <a:cs typeface="Poppins Bold"/>
                <a:sym typeface="Poppins Bold"/>
              </a:rPr>
              <a:t>Bảo mật &amp; Triển khai</a:t>
            </a:r>
          </a:p>
        </p:txBody>
      </p:sp>
      <p:sp>
        <p:nvSpPr>
          <p:cNvPr name="TextBox 33" id="33"/>
          <p:cNvSpPr txBox="true"/>
          <p:nvPr/>
        </p:nvSpPr>
        <p:spPr>
          <a:xfrm rot="0">
            <a:off x="9599906" y="3211730"/>
            <a:ext cx="7029574" cy="702071"/>
          </a:xfrm>
          <a:prstGeom prst="rect">
            <a:avLst/>
          </a:prstGeom>
        </p:spPr>
        <p:txBody>
          <a:bodyPr anchor="t" rtlCol="false" tIns="0" lIns="0" bIns="0" rIns="0">
            <a:spAutoFit/>
          </a:bodyPr>
          <a:lstStyle/>
          <a:p>
            <a:pPr algn="just" marL="0" indent="0" lvl="0">
              <a:lnSpc>
                <a:spcPts val="1868"/>
              </a:lnSpc>
            </a:pPr>
            <a:r>
              <a:rPr lang="en-US" sz="1556">
                <a:solidFill>
                  <a:srgbClr val="000000"/>
                </a:solidFill>
                <a:latin typeface="Poppins"/>
                <a:ea typeface="Poppins"/>
                <a:cs typeface="Poppins"/>
                <a:sym typeface="Poppins"/>
              </a:rPr>
              <a:t>Trình duyệt gửi request đến Next.js Application Server. Nginx Reverse Proxy xử lý định tuyến. Giao tiếp qua HTTPS với xác thực JWT và phân quyền RBAC theo vai trò người dùng.</a:t>
            </a:r>
          </a:p>
        </p:txBody>
      </p:sp>
      <p:sp>
        <p:nvSpPr>
          <p:cNvPr name="TextBox 34" id="34"/>
          <p:cNvSpPr txBox="true"/>
          <p:nvPr/>
        </p:nvSpPr>
        <p:spPr>
          <a:xfrm rot="0">
            <a:off x="9599906" y="4813992"/>
            <a:ext cx="7029574" cy="702071"/>
          </a:xfrm>
          <a:prstGeom prst="rect">
            <a:avLst/>
          </a:prstGeom>
        </p:spPr>
        <p:txBody>
          <a:bodyPr anchor="t" rtlCol="false" tIns="0" lIns="0" bIns="0" rIns="0">
            <a:spAutoFit/>
          </a:bodyPr>
          <a:lstStyle/>
          <a:p>
            <a:pPr algn="just" marL="0" indent="0" lvl="0">
              <a:lnSpc>
                <a:spcPts val="1868"/>
              </a:lnSpc>
            </a:pPr>
            <a:r>
              <a:rPr lang="en-US" sz="1556">
                <a:solidFill>
                  <a:srgbClr val="000000"/>
                </a:solidFill>
                <a:latin typeface="Poppins"/>
                <a:ea typeface="Poppins"/>
                <a:cs typeface="Poppins"/>
                <a:sym typeface="Poppins"/>
              </a:rPr>
              <a:t>Next.js API Routes tiếp nhận và xử lý logic nghiệp vụ. Business Services thực hiện các tác vụ như quản lý hợp đồng, phê duyệt, nhắc hạn và ký số thông qua Prisma ORM.</a:t>
            </a:r>
          </a:p>
        </p:txBody>
      </p:sp>
      <p:sp>
        <p:nvSpPr>
          <p:cNvPr name="TextBox 35" id="35"/>
          <p:cNvSpPr txBox="true"/>
          <p:nvPr/>
        </p:nvSpPr>
        <p:spPr>
          <a:xfrm rot="0">
            <a:off x="9599906" y="6355902"/>
            <a:ext cx="7029574" cy="702071"/>
          </a:xfrm>
          <a:prstGeom prst="rect">
            <a:avLst/>
          </a:prstGeom>
        </p:spPr>
        <p:txBody>
          <a:bodyPr anchor="t" rtlCol="false" tIns="0" lIns="0" bIns="0" rIns="0">
            <a:spAutoFit/>
          </a:bodyPr>
          <a:lstStyle/>
          <a:p>
            <a:pPr algn="just" marL="0" indent="0" lvl="0">
              <a:lnSpc>
                <a:spcPts val="1868"/>
              </a:lnSpc>
            </a:pPr>
            <a:r>
              <a:rPr lang="en-US" sz="1556">
                <a:solidFill>
                  <a:srgbClr val="000000"/>
                </a:solidFill>
                <a:latin typeface="Poppins"/>
                <a:ea typeface="Poppins"/>
                <a:cs typeface="Poppins"/>
                <a:sym typeface="Poppins"/>
              </a:rPr>
              <a:t>Prisma ORM kết nối PostgreSQL để lưu trữ dữ liệu hợp đồng, người dùng, phê duyệt. MinIO lưu trữ file đính kèm và tài liệu hợp đồng dạng object storage.</a:t>
            </a:r>
          </a:p>
        </p:txBody>
      </p:sp>
      <p:sp>
        <p:nvSpPr>
          <p:cNvPr name="TextBox 36" id="36"/>
          <p:cNvSpPr txBox="true"/>
          <p:nvPr/>
        </p:nvSpPr>
        <p:spPr>
          <a:xfrm rot="0">
            <a:off x="9599906" y="7927872"/>
            <a:ext cx="7029574" cy="702071"/>
          </a:xfrm>
          <a:prstGeom prst="rect">
            <a:avLst/>
          </a:prstGeom>
        </p:spPr>
        <p:txBody>
          <a:bodyPr anchor="t" rtlCol="false" tIns="0" lIns="0" bIns="0" rIns="0">
            <a:spAutoFit/>
          </a:bodyPr>
          <a:lstStyle/>
          <a:p>
            <a:pPr algn="just" marL="0" indent="0" lvl="0">
              <a:lnSpc>
                <a:spcPts val="1868"/>
              </a:lnSpc>
            </a:pPr>
            <a:r>
              <a:rPr lang="en-US" sz="1556">
                <a:solidFill>
                  <a:srgbClr val="000000"/>
                </a:solidFill>
                <a:latin typeface="Poppins"/>
                <a:ea typeface="Poppins"/>
                <a:cs typeface="Poppins"/>
                <a:sym typeface="Poppins"/>
              </a:rPr>
              <a:t>JWT xác thực phiên đăng nhập. RBAC phân quyền theo vai trò Admin/Manager/Employee. Docker đóng gói toàn bộ hệ thống. Nginx làm reverse proxy và load balancer.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787783">
            <a:off x="1765300" y="10149589"/>
            <a:ext cx="13758345" cy="7410406"/>
            <a:chOff x="0" y="0"/>
            <a:chExt cx="1296853" cy="698500"/>
          </a:xfrm>
        </p:grpSpPr>
        <p:sp>
          <p:nvSpPr>
            <p:cNvPr name="Freeform 3" id="3"/>
            <p:cNvSpPr/>
            <p:nvPr/>
          </p:nvSpPr>
          <p:spPr>
            <a:xfrm flipH="false" flipV="false" rot="0">
              <a:off x="0" y="0"/>
              <a:ext cx="1296853" cy="698500"/>
            </a:xfrm>
            <a:custGeom>
              <a:avLst/>
              <a:gdLst/>
              <a:ahLst/>
              <a:cxnLst/>
              <a:rect r="r" b="b" t="t" l="l"/>
              <a:pathLst>
                <a:path h="698500" w="1296853">
                  <a:moveTo>
                    <a:pt x="1296853" y="349250"/>
                  </a:moveTo>
                  <a:lnTo>
                    <a:pt x="1093653" y="698500"/>
                  </a:lnTo>
                  <a:lnTo>
                    <a:pt x="203200" y="698500"/>
                  </a:lnTo>
                  <a:lnTo>
                    <a:pt x="0" y="349250"/>
                  </a:lnTo>
                  <a:lnTo>
                    <a:pt x="203200" y="0"/>
                  </a:lnTo>
                  <a:lnTo>
                    <a:pt x="1093653" y="0"/>
                  </a:lnTo>
                  <a:lnTo>
                    <a:pt x="1296853" y="349250"/>
                  </a:lnTo>
                  <a:close/>
                </a:path>
              </a:pathLst>
            </a:custGeom>
            <a:solidFill>
              <a:srgbClr val="FFA916"/>
            </a:solidFill>
          </p:spPr>
        </p:sp>
        <p:sp>
          <p:nvSpPr>
            <p:cNvPr name="TextBox 4" id="4"/>
            <p:cNvSpPr txBox="true"/>
            <p:nvPr/>
          </p:nvSpPr>
          <p:spPr>
            <a:xfrm>
              <a:off x="114300" y="-57150"/>
              <a:ext cx="1068253" cy="755650"/>
            </a:xfrm>
            <a:prstGeom prst="rect">
              <a:avLst/>
            </a:prstGeom>
          </p:spPr>
          <p:txBody>
            <a:bodyPr anchor="ctr" rtlCol="false" tIns="50800" lIns="50800" bIns="50800" rIns="50800"/>
            <a:lstStyle/>
            <a:p>
              <a:pPr algn="ctr" marL="0" indent="0" lvl="0">
                <a:lnSpc>
                  <a:spcPts val="3219"/>
                </a:lnSpc>
              </a:pPr>
            </a:p>
          </p:txBody>
        </p:sp>
      </p:grpSp>
      <p:grpSp>
        <p:nvGrpSpPr>
          <p:cNvPr name="Group 5" id="5"/>
          <p:cNvGrpSpPr/>
          <p:nvPr/>
        </p:nvGrpSpPr>
        <p:grpSpPr>
          <a:xfrm rot="-1787783">
            <a:off x="5129591" y="9086430"/>
            <a:ext cx="13531543" cy="3065584"/>
            <a:chOff x="0" y="0"/>
            <a:chExt cx="3083192" cy="698500"/>
          </a:xfrm>
        </p:grpSpPr>
        <p:sp>
          <p:nvSpPr>
            <p:cNvPr name="Freeform 6" id="6"/>
            <p:cNvSpPr/>
            <p:nvPr/>
          </p:nvSpPr>
          <p:spPr>
            <a:xfrm flipH="false" flipV="false" rot="0">
              <a:off x="0" y="0"/>
              <a:ext cx="3083192" cy="698500"/>
            </a:xfrm>
            <a:custGeom>
              <a:avLst/>
              <a:gdLst/>
              <a:ahLst/>
              <a:cxnLst/>
              <a:rect r="r" b="b" t="t" l="l"/>
              <a:pathLst>
                <a:path h="698500" w="3083192">
                  <a:moveTo>
                    <a:pt x="3083192" y="349250"/>
                  </a:moveTo>
                  <a:lnTo>
                    <a:pt x="2879992" y="698500"/>
                  </a:lnTo>
                  <a:lnTo>
                    <a:pt x="203200" y="698500"/>
                  </a:lnTo>
                  <a:lnTo>
                    <a:pt x="0" y="349250"/>
                  </a:lnTo>
                  <a:lnTo>
                    <a:pt x="203200" y="0"/>
                  </a:lnTo>
                  <a:lnTo>
                    <a:pt x="2879992" y="0"/>
                  </a:lnTo>
                  <a:lnTo>
                    <a:pt x="3083192" y="349250"/>
                  </a:lnTo>
                  <a:close/>
                </a:path>
              </a:pathLst>
            </a:custGeom>
            <a:solidFill>
              <a:srgbClr val="024A59"/>
            </a:solidFill>
          </p:spPr>
        </p:sp>
        <p:sp>
          <p:nvSpPr>
            <p:cNvPr name="TextBox 7" id="7"/>
            <p:cNvSpPr txBox="true"/>
            <p:nvPr/>
          </p:nvSpPr>
          <p:spPr>
            <a:xfrm>
              <a:off x="114300" y="-57150"/>
              <a:ext cx="2854592" cy="755650"/>
            </a:xfrm>
            <a:prstGeom prst="rect">
              <a:avLst/>
            </a:prstGeom>
          </p:spPr>
          <p:txBody>
            <a:bodyPr anchor="ctr" rtlCol="false" tIns="50800" lIns="50800" bIns="50800" rIns="50800"/>
            <a:lstStyle/>
            <a:p>
              <a:pPr algn="ctr" marL="0" indent="0" lvl="0">
                <a:lnSpc>
                  <a:spcPts val="3219"/>
                </a:lnSpc>
              </a:pPr>
            </a:p>
          </p:txBody>
        </p:sp>
      </p:grpSp>
      <p:grpSp>
        <p:nvGrpSpPr>
          <p:cNvPr name="Group 8" id="8"/>
          <p:cNvGrpSpPr/>
          <p:nvPr/>
        </p:nvGrpSpPr>
        <p:grpSpPr>
          <a:xfrm rot="-1787783">
            <a:off x="10578981" y="-1870630"/>
            <a:ext cx="13758345" cy="7410406"/>
            <a:chOff x="0" y="0"/>
            <a:chExt cx="1296853" cy="698500"/>
          </a:xfrm>
        </p:grpSpPr>
        <p:sp>
          <p:nvSpPr>
            <p:cNvPr name="Freeform 9" id="9"/>
            <p:cNvSpPr/>
            <p:nvPr/>
          </p:nvSpPr>
          <p:spPr>
            <a:xfrm flipH="false" flipV="false" rot="0">
              <a:off x="0" y="0"/>
              <a:ext cx="1296853" cy="698500"/>
            </a:xfrm>
            <a:custGeom>
              <a:avLst/>
              <a:gdLst/>
              <a:ahLst/>
              <a:cxnLst/>
              <a:rect r="r" b="b" t="t" l="l"/>
              <a:pathLst>
                <a:path h="698500" w="1296853">
                  <a:moveTo>
                    <a:pt x="1296853" y="349250"/>
                  </a:moveTo>
                  <a:lnTo>
                    <a:pt x="1093653" y="698500"/>
                  </a:lnTo>
                  <a:lnTo>
                    <a:pt x="203200" y="698500"/>
                  </a:lnTo>
                  <a:lnTo>
                    <a:pt x="0" y="349250"/>
                  </a:lnTo>
                  <a:lnTo>
                    <a:pt x="203200" y="0"/>
                  </a:lnTo>
                  <a:lnTo>
                    <a:pt x="1093653" y="0"/>
                  </a:lnTo>
                  <a:lnTo>
                    <a:pt x="1296853" y="349250"/>
                  </a:lnTo>
                  <a:close/>
                </a:path>
              </a:pathLst>
            </a:custGeom>
            <a:solidFill>
              <a:srgbClr val="024A59"/>
            </a:solidFill>
          </p:spPr>
        </p:sp>
        <p:sp>
          <p:nvSpPr>
            <p:cNvPr name="TextBox 10" id="10"/>
            <p:cNvSpPr txBox="true"/>
            <p:nvPr/>
          </p:nvSpPr>
          <p:spPr>
            <a:xfrm>
              <a:off x="114300" y="-57150"/>
              <a:ext cx="1068253" cy="755650"/>
            </a:xfrm>
            <a:prstGeom prst="rect">
              <a:avLst/>
            </a:prstGeom>
          </p:spPr>
          <p:txBody>
            <a:bodyPr anchor="ctr" rtlCol="false" tIns="50800" lIns="50800" bIns="50800" rIns="50800"/>
            <a:lstStyle/>
            <a:p>
              <a:pPr algn="ctr" marL="0" indent="0" lvl="0">
                <a:lnSpc>
                  <a:spcPts val="3219"/>
                </a:lnSpc>
              </a:pPr>
            </a:p>
          </p:txBody>
        </p:sp>
      </p:grpSp>
      <p:grpSp>
        <p:nvGrpSpPr>
          <p:cNvPr name="Group 11" id="11"/>
          <p:cNvGrpSpPr/>
          <p:nvPr/>
        </p:nvGrpSpPr>
        <p:grpSpPr>
          <a:xfrm rot="-1787783">
            <a:off x="9316170" y="-96463"/>
            <a:ext cx="14503583" cy="7811799"/>
            <a:chOff x="0" y="0"/>
            <a:chExt cx="1296853" cy="698500"/>
          </a:xfrm>
        </p:grpSpPr>
        <p:sp>
          <p:nvSpPr>
            <p:cNvPr name="Freeform 12" id="12"/>
            <p:cNvSpPr/>
            <p:nvPr/>
          </p:nvSpPr>
          <p:spPr>
            <a:xfrm flipH="false" flipV="false" rot="0">
              <a:off x="0" y="0"/>
              <a:ext cx="1296853" cy="698500"/>
            </a:xfrm>
            <a:custGeom>
              <a:avLst/>
              <a:gdLst/>
              <a:ahLst/>
              <a:cxnLst/>
              <a:rect r="r" b="b" t="t" l="l"/>
              <a:pathLst>
                <a:path h="698500" w="1296853">
                  <a:moveTo>
                    <a:pt x="1296853" y="349250"/>
                  </a:moveTo>
                  <a:lnTo>
                    <a:pt x="1093653" y="698500"/>
                  </a:lnTo>
                  <a:lnTo>
                    <a:pt x="203200" y="698500"/>
                  </a:lnTo>
                  <a:lnTo>
                    <a:pt x="0" y="349250"/>
                  </a:lnTo>
                  <a:lnTo>
                    <a:pt x="203200" y="0"/>
                  </a:lnTo>
                  <a:lnTo>
                    <a:pt x="1093653" y="0"/>
                  </a:lnTo>
                  <a:lnTo>
                    <a:pt x="1296853" y="349250"/>
                  </a:lnTo>
                  <a:close/>
                </a:path>
              </a:pathLst>
            </a:custGeom>
            <a:solidFill>
              <a:srgbClr val="FFA916"/>
            </a:solidFill>
          </p:spPr>
        </p:sp>
        <p:sp>
          <p:nvSpPr>
            <p:cNvPr name="TextBox 13" id="13"/>
            <p:cNvSpPr txBox="true"/>
            <p:nvPr/>
          </p:nvSpPr>
          <p:spPr>
            <a:xfrm>
              <a:off x="114300" y="-57150"/>
              <a:ext cx="1068253" cy="755650"/>
            </a:xfrm>
            <a:prstGeom prst="rect">
              <a:avLst/>
            </a:prstGeom>
          </p:spPr>
          <p:txBody>
            <a:bodyPr anchor="ctr" rtlCol="false" tIns="50800" lIns="50800" bIns="50800" rIns="50800"/>
            <a:lstStyle/>
            <a:p>
              <a:pPr algn="ctr" marL="0" indent="0" lvl="0">
                <a:lnSpc>
                  <a:spcPts val="3219"/>
                </a:lnSpc>
              </a:pPr>
            </a:p>
          </p:txBody>
        </p:sp>
      </p:grpSp>
      <p:sp>
        <p:nvSpPr>
          <p:cNvPr name="Freeform 14" id="14"/>
          <p:cNvSpPr/>
          <p:nvPr/>
        </p:nvSpPr>
        <p:spPr>
          <a:xfrm flipH="false" flipV="false" rot="-1813147">
            <a:off x="9836813" y="1312669"/>
            <a:ext cx="8743695" cy="7661663"/>
          </a:xfrm>
          <a:custGeom>
            <a:avLst/>
            <a:gdLst/>
            <a:ahLst/>
            <a:cxnLst/>
            <a:rect r="r" b="b" t="t" l="l"/>
            <a:pathLst>
              <a:path h="7661663" w="8743695">
                <a:moveTo>
                  <a:pt x="0" y="0"/>
                </a:moveTo>
                <a:lnTo>
                  <a:pt x="8743694" y="0"/>
                </a:lnTo>
                <a:lnTo>
                  <a:pt x="8743694" y="7661662"/>
                </a:lnTo>
                <a:lnTo>
                  <a:pt x="0" y="7661662"/>
                </a:lnTo>
                <a:lnTo>
                  <a:pt x="0" y="0"/>
                </a:lnTo>
                <a:close/>
              </a:path>
            </a:pathLst>
          </a:custGeom>
          <a:blipFill>
            <a:blip r:embed="rId2"/>
            <a:stretch>
              <a:fillRect l="0" t="0" r="0" b="0"/>
            </a:stretch>
          </a:blipFill>
        </p:spPr>
      </p:sp>
      <p:grpSp>
        <p:nvGrpSpPr>
          <p:cNvPr name="Group 15" id="15"/>
          <p:cNvGrpSpPr/>
          <p:nvPr/>
        </p:nvGrpSpPr>
        <p:grpSpPr>
          <a:xfrm rot="0">
            <a:off x="10595487" y="939081"/>
            <a:ext cx="7226346" cy="8408839"/>
            <a:chOff x="0" y="0"/>
            <a:chExt cx="698500" cy="812800"/>
          </a:xfrm>
        </p:grpSpPr>
        <p:sp>
          <p:nvSpPr>
            <p:cNvPr name="Freeform 16" id="16"/>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24A59"/>
            </a:solidFill>
          </p:spPr>
        </p:sp>
        <p:sp>
          <p:nvSpPr>
            <p:cNvPr name="TextBox 17" id="17"/>
            <p:cNvSpPr txBox="true"/>
            <p:nvPr/>
          </p:nvSpPr>
          <p:spPr>
            <a:xfrm>
              <a:off x="0" y="82550"/>
              <a:ext cx="698500" cy="590550"/>
            </a:xfrm>
            <a:prstGeom prst="rect">
              <a:avLst/>
            </a:prstGeom>
          </p:spPr>
          <p:txBody>
            <a:bodyPr anchor="ctr" rtlCol="false" tIns="50800" lIns="50800" bIns="50800" rIns="50800"/>
            <a:lstStyle/>
            <a:p>
              <a:pPr algn="ctr" marL="0" indent="0" lvl="0">
                <a:lnSpc>
                  <a:spcPts val="3219"/>
                </a:lnSpc>
              </a:pPr>
            </a:p>
          </p:txBody>
        </p:sp>
      </p:grpSp>
      <p:grpSp>
        <p:nvGrpSpPr>
          <p:cNvPr name="Group 18" id="18"/>
          <p:cNvGrpSpPr>
            <a:grpSpLocks noChangeAspect="true"/>
          </p:cNvGrpSpPr>
          <p:nvPr/>
        </p:nvGrpSpPr>
        <p:grpSpPr>
          <a:xfrm rot="0">
            <a:off x="10819302" y="1229804"/>
            <a:ext cx="6778716" cy="7827392"/>
            <a:chOff x="0" y="0"/>
            <a:chExt cx="31287555" cy="36127779"/>
          </a:xfrm>
        </p:grpSpPr>
        <p:sp>
          <p:nvSpPr>
            <p:cNvPr name="Freeform 19" id="19"/>
            <p:cNvSpPr/>
            <p:nvPr/>
          </p:nvSpPr>
          <p:spPr>
            <a:xfrm flipH="false" flipV="false" rot="0">
              <a:off x="0" y="0"/>
              <a:ext cx="31287467" cy="36127817"/>
            </a:xfrm>
            <a:custGeom>
              <a:avLst/>
              <a:gdLst/>
              <a:ahLst/>
              <a:cxnLst/>
              <a:rect r="r" b="b" t="t" l="l"/>
              <a:pathLst>
                <a:path h="36127817" w="31287467">
                  <a:moveTo>
                    <a:pt x="15643733" y="0"/>
                  </a:moveTo>
                  <a:lnTo>
                    <a:pt x="0" y="9031859"/>
                  </a:lnTo>
                  <a:lnTo>
                    <a:pt x="0" y="27095831"/>
                  </a:lnTo>
                  <a:lnTo>
                    <a:pt x="15643733" y="36127817"/>
                  </a:lnTo>
                  <a:lnTo>
                    <a:pt x="31287467" y="27095958"/>
                  </a:lnTo>
                  <a:lnTo>
                    <a:pt x="31287467" y="9031859"/>
                  </a:lnTo>
                  <a:lnTo>
                    <a:pt x="15643861" y="0"/>
                  </a:lnTo>
                  <a:close/>
                </a:path>
              </a:pathLst>
            </a:custGeom>
            <a:blipFill>
              <a:blip r:embed="rId3"/>
              <a:stretch>
                <a:fillRect l="0" t="-3540" r="0" b="-3540"/>
              </a:stretch>
            </a:blipFill>
          </p:spPr>
        </p:sp>
      </p:grpSp>
      <p:grpSp>
        <p:nvGrpSpPr>
          <p:cNvPr name="Group 20" id="20"/>
          <p:cNvGrpSpPr/>
          <p:nvPr/>
        </p:nvGrpSpPr>
        <p:grpSpPr>
          <a:xfrm rot="0">
            <a:off x="391274" y="3913019"/>
            <a:ext cx="4613268" cy="2649617"/>
            <a:chOff x="0" y="0"/>
            <a:chExt cx="1216164" cy="698500"/>
          </a:xfrm>
        </p:grpSpPr>
        <p:sp>
          <p:nvSpPr>
            <p:cNvPr name="Freeform 21" id="21"/>
            <p:cNvSpPr/>
            <p:nvPr/>
          </p:nvSpPr>
          <p:spPr>
            <a:xfrm flipH="false" flipV="false" rot="0">
              <a:off x="0" y="0"/>
              <a:ext cx="1216164" cy="698500"/>
            </a:xfrm>
            <a:custGeom>
              <a:avLst/>
              <a:gdLst/>
              <a:ahLst/>
              <a:cxnLst/>
              <a:rect r="r" b="b" t="t" l="l"/>
              <a:pathLst>
                <a:path h="698500" w="1216164">
                  <a:moveTo>
                    <a:pt x="1216164" y="349250"/>
                  </a:moveTo>
                  <a:lnTo>
                    <a:pt x="1012964" y="698500"/>
                  </a:lnTo>
                  <a:lnTo>
                    <a:pt x="203200" y="698500"/>
                  </a:lnTo>
                  <a:lnTo>
                    <a:pt x="0" y="349250"/>
                  </a:lnTo>
                  <a:lnTo>
                    <a:pt x="203200" y="0"/>
                  </a:lnTo>
                  <a:lnTo>
                    <a:pt x="1012964" y="0"/>
                  </a:lnTo>
                  <a:lnTo>
                    <a:pt x="1216164" y="349250"/>
                  </a:lnTo>
                  <a:close/>
                </a:path>
              </a:pathLst>
            </a:custGeom>
            <a:solidFill>
              <a:srgbClr val="024A59"/>
            </a:solidFill>
          </p:spPr>
        </p:sp>
        <p:sp>
          <p:nvSpPr>
            <p:cNvPr name="TextBox 22" id="22"/>
            <p:cNvSpPr txBox="true"/>
            <p:nvPr/>
          </p:nvSpPr>
          <p:spPr>
            <a:xfrm>
              <a:off x="114300" y="-57150"/>
              <a:ext cx="987564" cy="755650"/>
            </a:xfrm>
            <a:prstGeom prst="rect">
              <a:avLst/>
            </a:prstGeom>
          </p:spPr>
          <p:txBody>
            <a:bodyPr anchor="ctr" rtlCol="false" tIns="50800" lIns="50800" bIns="50800" rIns="50800"/>
            <a:lstStyle/>
            <a:p>
              <a:pPr algn="ctr" marL="0" indent="0" lvl="0">
                <a:lnSpc>
                  <a:spcPts val="3219"/>
                </a:lnSpc>
              </a:pPr>
            </a:p>
          </p:txBody>
        </p:sp>
      </p:grpSp>
      <p:grpSp>
        <p:nvGrpSpPr>
          <p:cNvPr name="Group 23" id="23"/>
          <p:cNvGrpSpPr/>
          <p:nvPr/>
        </p:nvGrpSpPr>
        <p:grpSpPr>
          <a:xfrm rot="0">
            <a:off x="391274" y="6698302"/>
            <a:ext cx="4613268" cy="2649617"/>
            <a:chOff x="0" y="0"/>
            <a:chExt cx="1216164" cy="698500"/>
          </a:xfrm>
        </p:grpSpPr>
        <p:sp>
          <p:nvSpPr>
            <p:cNvPr name="Freeform 24" id="24"/>
            <p:cNvSpPr/>
            <p:nvPr/>
          </p:nvSpPr>
          <p:spPr>
            <a:xfrm flipH="false" flipV="false" rot="0">
              <a:off x="0" y="0"/>
              <a:ext cx="1216164" cy="698500"/>
            </a:xfrm>
            <a:custGeom>
              <a:avLst/>
              <a:gdLst/>
              <a:ahLst/>
              <a:cxnLst/>
              <a:rect r="r" b="b" t="t" l="l"/>
              <a:pathLst>
                <a:path h="698500" w="1216164">
                  <a:moveTo>
                    <a:pt x="1216164" y="349250"/>
                  </a:moveTo>
                  <a:lnTo>
                    <a:pt x="1012964" y="698500"/>
                  </a:lnTo>
                  <a:lnTo>
                    <a:pt x="203200" y="698500"/>
                  </a:lnTo>
                  <a:lnTo>
                    <a:pt x="0" y="349250"/>
                  </a:lnTo>
                  <a:lnTo>
                    <a:pt x="203200" y="0"/>
                  </a:lnTo>
                  <a:lnTo>
                    <a:pt x="1012964" y="0"/>
                  </a:lnTo>
                  <a:lnTo>
                    <a:pt x="1216164" y="349250"/>
                  </a:lnTo>
                  <a:close/>
                </a:path>
              </a:pathLst>
            </a:custGeom>
            <a:solidFill>
              <a:srgbClr val="FFA916"/>
            </a:solidFill>
          </p:spPr>
        </p:sp>
        <p:sp>
          <p:nvSpPr>
            <p:cNvPr name="TextBox 25" id="25"/>
            <p:cNvSpPr txBox="true"/>
            <p:nvPr/>
          </p:nvSpPr>
          <p:spPr>
            <a:xfrm>
              <a:off x="114300" y="-57150"/>
              <a:ext cx="987564" cy="755650"/>
            </a:xfrm>
            <a:prstGeom prst="rect">
              <a:avLst/>
            </a:prstGeom>
          </p:spPr>
          <p:txBody>
            <a:bodyPr anchor="ctr" rtlCol="false" tIns="50800" lIns="50800" bIns="50800" rIns="50800"/>
            <a:lstStyle/>
            <a:p>
              <a:pPr algn="ctr" marL="0" indent="0" lvl="0">
                <a:lnSpc>
                  <a:spcPts val="3219"/>
                </a:lnSpc>
              </a:pPr>
            </a:p>
          </p:txBody>
        </p:sp>
      </p:grpSp>
      <p:grpSp>
        <p:nvGrpSpPr>
          <p:cNvPr name="Group 26" id="26"/>
          <p:cNvGrpSpPr/>
          <p:nvPr/>
        </p:nvGrpSpPr>
        <p:grpSpPr>
          <a:xfrm rot="0">
            <a:off x="5033976" y="3913019"/>
            <a:ext cx="4613268" cy="2649617"/>
            <a:chOff x="0" y="0"/>
            <a:chExt cx="1216164" cy="698500"/>
          </a:xfrm>
        </p:grpSpPr>
        <p:sp>
          <p:nvSpPr>
            <p:cNvPr name="Freeform 27" id="27"/>
            <p:cNvSpPr/>
            <p:nvPr/>
          </p:nvSpPr>
          <p:spPr>
            <a:xfrm flipH="false" flipV="false" rot="0">
              <a:off x="0" y="0"/>
              <a:ext cx="1216164" cy="698500"/>
            </a:xfrm>
            <a:custGeom>
              <a:avLst/>
              <a:gdLst/>
              <a:ahLst/>
              <a:cxnLst/>
              <a:rect r="r" b="b" t="t" l="l"/>
              <a:pathLst>
                <a:path h="698500" w="1216164">
                  <a:moveTo>
                    <a:pt x="1216164" y="349250"/>
                  </a:moveTo>
                  <a:lnTo>
                    <a:pt x="1012964" y="698500"/>
                  </a:lnTo>
                  <a:lnTo>
                    <a:pt x="203200" y="698500"/>
                  </a:lnTo>
                  <a:lnTo>
                    <a:pt x="0" y="349250"/>
                  </a:lnTo>
                  <a:lnTo>
                    <a:pt x="203200" y="0"/>
                  </a:lnTo>
                  <a:lnTo>
                    <a:pt x="1012964" y="0"/>
                  </a:lnTo>
                  <a:lnTo>
                    <a:pt x="1216164" y="349250"/>
                  </a:lnTo>
                  <a:close/>
                </a:path>
              </a:pathLst>
            </a:custGeom>
            <a:solidFill>
              <a:srgbClr val="FFA916"/>
            </a:solidFill>
          </p:spPr>
        </p:sp>
        <p:sp>
          <p:nvSpPr>
            <p:cNvPr name="TextBox 28" id="28"/>
            <p:cNvSpPr txBox="true"/>
            <p:nvPr/>
          </p:nvSpPr>
          <p:spPr>
            <a:xfrm>
              <a:off x="114300" y="-57150"/>
              <a:ext cx="987564" cy="755650"/>
            </a:xfrm>
            <a:prstGeom prst="rect">
              <a:avLst/>
            </a:prstGeom>
          </p:spPr>
          <p:txBody>
            <a:bodyPr anchor="ctr" rtlCol="false" tIns="50800" lIns="50800" bIns="50800" rIns="50800"/>
            <a:lstStyle/>
            <a:p>
              <a:pPr algn="ctr" marL="0" indent="0" lvl="0">
                <a:lnSpc>
                  <a:spcPts val="3219"/>
                </a:lnSpc>
              </a:pPr>
            </a:p>
          </p:txBody>
        </p:sp>
      </p:grpSp>
      <p:grpSp>
        <p:nvGrpSpPr>
          <p:cNvPr name="Group 29" id="29"/>
          <p:cNvGrpSpPr/>
          <p:nvPr/>
        </p:nvGrpSpPr>
        <p:grpSpPr>
          <a:xfrm rot="0">
            <a:off x="5033976" y="6698302"/>
            <a:ext cx="4613268" cy="2649617"/>
            <a:chOff x="0" y="0"/>
            <a:chExt cx="1216164" cy="698500"/>
          </a:xfrm>
        </p:grpSpPr>
        <p:sp>
          <p:nvSpPr>
            <p:cNvPr name="Freeform 30" id="30"/>
            <p:cNvSpPr/>
            <p:nvPr/>
          </p:nvSpPr>
          <p:spPr>
            <a:xfrm flipH="false" flipV="false" rot="0">
              <a:off x="0" y="0"/>
              <a:ext cx="1216164" cy="698500"/>
            </a:xfrm>
            <a:custGeom>
              <a:avLst/>
              <a:gdLst/>
              <a:ahLst/>
              <a:cxnLst/>
              <a:rect r="r" b="b" t="t" l="l"/>
              <a:pathLst>
                <a:path h="698500" w="1216164">
                  <a:moveTo>
                    <a:pt x="1216164" y="349250"/>
                  </a:moveTo>
                  <a:lnTo>
                    <a:pt x="1012964" y="698500"/>
                  </a:lnTo>
                  <a:lnTo>
                    <a:pt x="203200" y="698500"/>
                  </a:lnTo>
                  <a:lnTo>
                    <a:pt x="0" y="349250"/>
                  </a:lnTo>
                  <a:lnTo>
                    <a:pt x="203200" y="0"/>
                  </a:lnTo>
                  <a:lnTo>
                    <a:pt x="1012964" y="0"/>
                  </a:lnTo>
                  <a:lnTo>
                    <a:pt x="1216164" y="349250"/>
                  </a:lnTo>
                  <a:close/>
                </a:path>
              </a:pathLst>
            </a:custGeom>
            <a:solidFill>
              <a:srgbClr val="024A59"/>
            </a:solidFill>
          </p:spPr>
        </p:sp>
        <p:sp>
          <p:nvSpPr>
            <p:cNvPr name="TextBox 31" id="31"/>
            <p:cNvSpPr txBox="true"/>
            <p:nvPr/>
          </p:nvSpPr>
          <p:spPr>
            <a:xfrm>
              <a:off x="114300" y="-57150"/>
              <a:ext cx="987564" cy="755650"/>
            </a:xfrm>
            <a:prstGeom prst="rect">
              <a:avLst/>
            </a:prstGeom>
          </p:spPr>
          <p:txBody>
            <a:bodyPr anchor="ctr" rtlCol="false" tIns="50800" lIns="50800" bIns="50800" rIns="50800"/>
            <a:lstStyle/>
            <a:p>
              <a:pPr algn="ctr" marL="0" indent="0" lvl="0">
                <a:lnSpc>
                  <a:spcPts val="3219"/>
                </a:lnSpc>
              </a:pPr>
            </a:p>
          </p:txBody>
        </p:sp>
      </p:grpSp>
      <p:sp>
        <p:nvSpPr>
          <p:cNvPr name="TextBox 32" id="32"/>
          <p:cNvSpPr txBox="true"/>
          <p:nvPr/>
        </p:nvSpPr>
        <p:spPr>
          <a:xfrm rot="0">
            <a:off x="1028700" y="1009650"/>
            <a:ext cx="6377522" cy="764520"/>
          </a:xfrm>
          <a:prstGeom prst="rect">
            <a:avLst/>
          </a:prstGeom>
        </p:spPr>
        <p:txBody>
          <a:bodyPr anchor="t" rtlCol="false" tIns="0" lIns="0" bIns="0" rIns="0">
            <a:spAutoFit/>
          </a:bodyPr>
          <a:lstStyle/>
          <a:p>
            <a:pPr algn="l" marL="0" indent="0" lvl="0">
              <a:lnSpc>
                <a:spcPts val="5631"/>
              </a:lnSpc>
            </a:pPr>
            <a:r>
              <a:rPr lang="en-US" b="true" sz="4896">
                <a:solidFill>
                  <a:srgbClr val="000000"/>
                </a:solidFill>
                <a:latin typeface="Poppins Bold"/>
                <a:ea typeface="Poppins Bold"/>
                <a:cs typeface="Poppins Bold"/>
                <a:sym typeface="Poppins Bold"/>
              </a:rPr>
              <a:t>Công nghệ Sử dụng</a:t>
            </a:r>
          </a:p>
        </p:txBody>
      </p:sp>
      <p:sp>
        <p:nvSpPr>
          <p:cNvPr name="TextBox 33" id="33"/>
          <p:cNvSpPr txBox="true"/>
          <p:nvPr/>
        </p:nvSpPr>
        <p:spPr>
          <a:xfrm rot="0">
            <a:off x="1009313" y="4301422"/>
            <a:ext cx="3377191" cy="406742"/>
          </a:xfrm>
          <a:prstGeom prst="rect">
            <a:avLst/>
          </a:prstGeom>
        </p:spPr>
        <p:txBody>
          <a:bodyPr anchor="t" rtlCol="false" tIns="0" lIns="0" bIns="0" rIns="0">
            <a:spAutoFit/>
          </a:bodyPr>
          <a:lstStyle/>
          <a:p>
            <a:pPr algn="ctr" marL="0" indent="0" lvl="0">
              <a:lnSpc>
                <a:spcPts val="2936"/>
              </a:lnSpc>
            </a:pPr>
            <a:r>
              <a:rPr lang="en-US" b="true" sz="2553">
                <a:solidFill>
                  <a:srgbClr val="FFFFFF"/>
                </a:solidFill>
                <a:latin typeface="Poppins Bold"/>
                <a:ea typeface="Poppins Bold"/>
                <a:cs typeface="Poppins Bold"/>
                <a:sym typeface="Poppins Bold"/>
              </a:rPr>
              <a:t>Frontend</a:t>
            </a:r>
          </a:p>
        </p:txBody>
      </p:sp>
      <p:sp>
        <p:nvSpPr>
          <p:cNvPr name="TextBox 34" id="34"/>
          <p:cNvSpPr txBox="true"/>
          <p:nvPr/>
        </p:nvSpPr>
        <p:spPr>
          <a:xfrm rot="0">
            <a:off x="5971345" y="7132545"/>
            <a:ext cx="2738528" cy="778217"/>
          </a:xfrm>
          <a:prstGeom prst="rect">
            <a:avLst/>
          </a:prstGeom>
        </p:spPr>
        <p:txBody>
          <a:bodyPr anchor="t" rtlCol="false" tIns="0" lIns="0" bIns="0" rIns="0">
            <a:spAutoFit/>
          </a:bodyPr>
          <a:lstStyle/>
          <a:p>
            <a:pPr algn="ctr" marL="0" indent="0" lvl="0">
              <a:lnSpc>
                <a:spcPts val="2936"/>
              </a:lnSpc>
            </a:pPr>
            <a:r>
              <a:rPr lang="en-US" b="true" sz="2553">
                <a:solidFill>
                  <a:srgbClr val="FFFFFF"/>
                </a:solidFill>
                <a:latin typeface="Poppins Bold"/>
                <a:ea typeface="Poppins Bold"/>
                <a:cs typeface="Poppins Bold"/>
                <a:sym typeface="Poppins Bold"/>
              </a:rPr>
              <a:t>Deployment &amp; Security</a:t>
            </a:r>
          </a:p>
        </p:txBody>
      </p:sp>
      <p:sp>
        <p:nvSpPr>
          <p:cNvPr name="TextBox 35" id="35"/>
          <p:cNvSpPr txBox="true"/>
          <p:nvPr/>
        </p:nvSpPr>
        <p:spPr>
          <a:xfrm rot="0">
            <a:off x="5971345" y="4347261"/>
            <a:ext cx="2738528" cy="406742"/>
          </a:xfrm>
          <a:prstGeom prst="rect">
            <a:avLst/>
          </a:prstGeom>
        </p:spPr>
        <p:txBody>
          <a:bodyPr anchor="t" rtlCol="false" tIns="0" lIns="0" bIns="0" rIns="0">
            <a:spAutoFit/>
          </a:bodyPr>
          <a:lstStyle/>
          <a:p>
            <a:pPr algn="ctr" marL="0" indent="0" lvl="0">
              <a:lnSpc>
                <a:spcPts val="2936"/>
              </a:lnSpc>
            </a:pPr>
            <a:r>
              <a:rPr lang="en-US" b="true" sz="2553">
                <a:solidFill>
                  <a:srgbClr val="231F20"/>
                </a:solidFill>
                <a:latin typeface="Poppins Bold"/>
                <a:ea typeface="Poppins Bold"/>
                <a:cs typeface="Poppins Bold"/>
                <a:sym typeface="Poppins Bold"/>
              </a:rPr>
              <a:t>Backend</a:t>
            </a:r>
          </a:p>
        </p:txBody>
      </p:sp>
      <p:sp>
        <p:nvSpPr>
          <p:cNvPr name="TextBox 36" id="36"/>
          <p:cNvSpPr txBox="true"/>
          <p:nvPr/>
        </p:nvSpPr>
        <p:spPr>
          <a:xfrm rot="0">
            <a:off x="1338049" y="7132545"/>
            <a:ext cx="2738528" cy="778217"/>
          </a:xfrm>
          <a:prstGeom prst="rect">
            <a:avLst/>
          </a:prstGeom>
        </p:spPr>
        <p:txBody>
          <a:bodyPr anchor="t" rtlCol="false" tIns="0" lIns="0" bIns="0" rIns="0">
            <a:spAutoFit/>
          </a:bodyPr>
          <a:lstStyle/>
          <a:p>
            <a:pPr algn="ctr" marL="0" indent="0" lvl="0">
              <a:lnSpc>
                <a:spcPts val="2936"/>
              </a:lnSpc>
            </a:pPr>
            <a:r>
              <a:rPr lang="en-US" b="true" sz="2553">
                <a:solidFill>
                  <a:srgbClr val="231F20"/>
                </a:solidFill>
                <a:latin typeface="Poppins Bold"/>
                <a:ea typeface="Poppins Bold"/>
                <a:cs typeface="Poppins Bold"/>
                <a:sym typeface="Poppins Bold"/>
              </a:rPr>
              <a:t>Database &amp; Storage</a:t>
            </a:r>
          </a:p>
        </p:txBody>
      </p:sp>
      <p:sp>
        <p:nvSpPr>
          <p:cNvPr name="TextBox 37" id="37"/>
          <p:cNvSpPr txBox="true"/>
          <p:nvPr/>
        </p:nvSpPr>
        <p:spPr>
          <a:xfrm rot="0">
            <a:off x="1111607" y="5146880"/>
            <a:ext cx="3067264" cy="523875"/>
          </a:xfrm>
          <a:prstGeom prst="rect">
            <a:avLst/>
          </a:prstGeom>
        </p:spPr>
        <p:txBody>
          <a:bodyPr anchor="t" rtlCol="false" tIns="0" lIns="0" bIns="0" rIns="0">
            <a:spAutoFit/>
          </a:bodyPr>
          <a:lstStyle/>
          <a:p>
            <a:pPr algn="ctr" marL="0" indent="0" lvl="0">
              <a:lnSpc>
                <a:spcPts val="2017"/>
              </a:lnSpc>
            </a:pPr>
            <a:r>
              <a:rPr lang="en-US" sz="1681">
                <a:solidFill>
                  <a:srgbClr val="FFFFFF"/>
                </a:solidFill>
                <a:latin typeface="Poppins"/>
                <a:ea typeface="Poppins"/>
                <a:cs typeface="Poppins"/>
                <a:sym typeface="Poppins"/>
              </a:rPr>
              <a:t>Next.js · React · TypeScript · Tailwind CSS · Shadcn/UI</a:t>
            </a:r>
          </a:p>
        </p:txBody>
      </p:sp>
      <p:sp>
        <p:nvSpPr>
          <p:cNvPr name="TextBox 38" id="38"/>
          <p:cNvSpPr txBox="true"/>
          <p:nvPr/>
        </p:nvSpPr>
        <p:spPr>
          <a:xfrm rot="0">
            <a:off x="5806977" y="5146880"/>
            <a:ext cx="3067264" cy="523875"/>
          </a:xfrm>
          <a:prstGeom prst="rect">
            <a:avLst/>
          </a:prstGeom>
        </p:spPr>
        <p:txBody>
          <a:bodyPr anchor="t" rtlCol="false" tIns="0" lIns="0" bIns="0" rIns="0">
            <a:spAutoFit/>
          </a:bodyPr>
          <a:lstStyle/>
          <a:p>
            <a:pPr algn="ctr" marL="0" indent="0" lvl="0">
              <a:lnSpc>
                <a:spcPts val="2017"/>
              </a:lnSpc>
            </a:pPr>
            <a:r>
              <a:rPr lang="en-US" sz="1681">
                <a:solidFill>
                  <a:srgbClr val="000000"/>
                </a:solidFill>
                <a:latin typeface="Poppins"/>
                <a:ea typeface="Poppins"/>
                <a:cs typeface="Poppins"/>
                <a:sym typeface="Poppins"/>
              </a:rPr>
              <a:t>Next.js API Routes · Prisma ORM · RESTful API</a:t>
            </a:r>
          </a:p>
        </p:txBody>
      </p:sp>
      <p:sp>
        <p:nvSpPr>
          <p:cNvPr name="TextBox 39" id="39"/>
          <p:cNvSpPr txBox="true"/>
          <p:nvPr/>
        </p:nvSpPr>
        <p:spPr>
          <a:xfrm rot="0">
            <a:off x="1111607" y="7893640"/>
            <a:ext cx="3067264" cy="523875"/>
          </a:xfrm>
          <a:prstGeom prst="rect">
            <a:avLst/>
          </a:prstGeom>
        </p:spPr>
        <p:txBody>
          <a:bodyPr anchor="t" rtlCol="false" tIns="0" lIns="0" bIns="0" rIns="0">
            <a:spAutoFit/>
          </a:bodyPr>
          <a:lstStyle/>
          <a:p>
            <a:pPr algn="ctr" marL="0" indent="0" lvl="0">
              <a:lnSpc>
                <a:spcPts val="2017"/>
              </a:lnSpc>
            </a:pPr>
            <a:r>
              <a:rPr lang="en-US" sz="1681">
                <a:solidFill>
                  <a:srgbClr val="000000"/>
                </a:solidFill>
                <a:latin typeface="Poppins"/>
                <a:ea typeface="Poppins"/>
                <a:cs typeface="Poppins"/>
                <a:sym typeface="Poppins"/>
              </a:rPr>
              <a:t>PostgreSQL · MinIO Object Storage</a:t>
            </a:r>
          </a:p>
        </p:txBody>
      </p:sp>
      <p:sp>
        <p:nvSpPr>
          <p:cNvPr name="TextBox 40" id="40"/>
          <p:cNvSpPr txBox="true"/>
          <p:nvPr/>
        </p:nvSpPr>
        <p:spPr>
          <a:xfrm rot="0">
            <a:off x="5806977" y="7893640"/>
            <a:ext cx="3067264" cy="523875"/>
          </a:xfrm>
          <a:prstGeom prst="rect">
            <a:avLst/>
          </a:prstGeom>
        </p:spPr>
        <p:txBody>
          <a:bodyPr anchor="t" rtlCol="false" tIns="0" lIns="0" bIns="0" rIns="0">
            <a:spAutoFit/>
          </a:bodyPr>
          <a:lstStyle/>
          <a:p>
            <a:pPr algn="ctr" marL="0" indent="0" lvl="0">
              <a:lnSpc>
                <a:spcPts val="2017"/>
              </a:lnSpc>
            </a:pPr>
            <a:r>
              <a:rPr lang="en-US" sz="1681">
                <a:solidFill>
                  <a:srgbClr val="FFFFFF"/>
                </a:solidFill>
                <a:latin typeface="Poppins"/>
                <a:ea typeface="Poppins"/>
                <a:cs typeface="Poppins"/>
                <a:sym typeface="Poppins"/>
              </a:rPr>
              <a:t>Docker · Nginx · VPS · JWT · RBAC</a:t>
            </a:r>
          </a:p>
        </p:txBody>
      </p:sp>
      <p:sp>
        <p:nvSpPr>
          <p:cNvPr name="TextBox 41" id="41"/>
          <p:cNvSpPr txBox="true"/>
          <p:nvPr/>
        </p:nvSpPr>
        <p:spPr>
          <a:xfrm rot="0">
            <a:off x="1028700" y="2085583"/>
            <a:ext cx="8410696" cy="1365156"/>
          </a:xfrm>
          <a:prstGeom prst="rect">
            <a:avLst/>
          </a:prstGeom>
        </p:spPr>
        <p:txBody>
          <a:bodyPr anchor="t" rtlCol="false" tIns="0" lIns="0" bIns="0" rIns="0">
            <a:spAutoFit/>
          </a:bodyPr>
          <a:lstStyle/>
          <a:p>
            <a:pPr algn="just" marL="0" indent="0" lvl="0">
              <a:lnSpc>
                <a:spcPts val="3584"/>
              </a:lnSpc>
            </a:pPr>
            <a:r>
              <a:rPr lang="en-US" sz="2757">
                <a:solidFill>
                  <a:srgbClr val="000000"/>
                </a:solidFill>
                <a:latin typeface="Poppins"/>
                <a:ea typeface="Poppins"/>
                <a:cs typeface="Poppins"/>
                <a:sym typeface="Poppins"/>
              </a:rPr>
              <a:t>Hệ thống được xây dựng trên nền tảng công nghệ hiện đại, tối ưu hiệu suất và bảo mật cho quản lý hợp đồng điện tử.</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787783">
            <a:off x="1765300" y="10149589"/>
            <a:ext cx="13758345" cy="7410406"/>
            <a:chOff x="0" y="0"/>
            <a:chExt cx="1296853" cy="698500"/>
          </a:xfrm>
        </p:grpSpPr>
        <p:sp>
          <p:nvSpPr>
            <p:cNvPr name="Freeform 3" id="3"/>
            <p:cNvSpPr/>
            <p:nvPr/>
          </p:nvSpPr>
          <p:spPr>
            <a:xfrm flipH="false" flipV="false" rot="0">
              <a:off x="0" y="0"/>
              <a:ext cx="1296853" cy="698500"/>
            </a:xfrm>
            <a:custGeom>
              <a:avLst/>
              <a:gdLst/>
              <a:ahLst/>
              <a:cxnLst/>
              <a:rect r="r" b="b" t="t" l="l"/>
              <a:pathLst>
                <a:path h="698500" w="1296853">
                  <a:moveTo>
                    <a:pt x="1296853" y="349250"/>
                  </a:moveTo>
                  <a:lnTo>
                    <a:pt x="1093653" y="698500"/>
                  </a:lnTo>
                  <a:lnTo>
                    <a:pt x="203200" y="698500"/>
                  </a:lnTo>
                  <a:lnTo>
                    <a:pt x="0" y="349250"/>
                  </a:lnTo>
                  <a:lnTo>
                    <a:pt x="203200" y="0"/>
                  </a:lnTo>
                  <a:lnTo>
                    <a:pt x="1093653" y="0"/>
                  </a:lnTo>
                  <a:lnTo>
                    <a:pt x="1296853" y="349250"/>
                  </a:lnTo>
                  <a:close/>
                </a:path>
              </a:pathLst>
            </a:custGeom>
            <a:solidFill>
              <a:srgbClr val="FFA916"/>
            </a:solidFill>
          </p:spPr>
        </p:sp>
        <p:sp>
          <p:nvSpPr>
            <p:cNvPr name="TextBox 4" id="4"/>
            <p:cNvSpPr txBox="true"/>
            <p:nvPr/>
          </p:nvSpPr>
          <p:spPr>
            <a:xfrm>
              <a:off x="114300" y="-57150"/>
              <a:ext cx="1068253" cy="75565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1787783">
            <a:off x="5129591" y="9086430"/>
            <a:ext cx="13531543" cy="3065584"/>
            <a:chOff x="0" y="0"/>
            <a:chExt cx="3083192" cy="698500"/>
          </a:xfrm>
        </p:grpSpPr>
        <p:sp>
          <p:nvSpPr>
            <p:cNvPr name="Freeform 6" id="6"/>
            <p:cNvSpPr/>
            <p:nvPr/>
          </p:nvSpPr>
          <p:spPr>
            <a:xfrm flipH="false" flipV="false" rot="0">
              <a:off x="0" y="0"/>
              <a:ext cx="3083192" cy="698500"/>
            </a:xfrm>
            <a:custGeom>
              <a:avLst/>
              <a:gdLst/>
              <a:ahLst/>
              <a:cxnLst/>
              <a:rect r="r" b="b" t="t" l="l"/>
              <a:pathLst>
                <a:path h="698500" w="3083192">
                  <a:moveTo>
                    <a:pt x="3083192" y="349250"/>
                  </a:moveTo>
                  <a:lnTo>
                    <a:pt x="2879992" y="698500"/>
                  </a:lnTo>
                  <a:lnTo>
                    <a:pt x="203200" y="698500"/>
                  </a:lnTo>
                  <a:lnTo>
                    <a:pt x="0" y="349250"/>
                  </a:lnTo>
                  <a:lnTo>
                    <a:pt x="203200" y="0"/>
                  </a:lnTo>
                  <a:lnTo>
                    <a:pt x="2879992" y="0"/>
                  </a:lnTo>
                  <a:lnTo>
                    <a:pt x="3083192" y="349250"/>
                  </a:lnTo>
                  <a:close/>
                </a:path>
              </a:pathLst>
            </a:custGeom>
            <a:solidFill>
              <a:srgbClr val="024A59"/>
            </a:solidFill>
          </p:spPr>
        </p:sp>
        <p:sp>
          <p:nvSpPr>
            <p:cNvPr name="TextBox 7" id="7"/>
            <p:cNvSpPr txBox="true"/>
            <p:nvPr/>
          </p:nvSpPr>
          <p:spPr>
            <a:xfrm>
              <a:off x="114300" y="-57150"/>
              <a:ext cx="2854592" cy="755650"/>
            </a:xfrm>
            <a:prstGeom prst="rect">
              <a:avLst/>
            </a:prstGeom>
          </p:spPr>
          <p:txBody>
            <a:bodyPr anchor="ctr" rtlCol="false" tIns="50800" lIns="50800" bIns="50800" rIns="50800"/>
            <a:lstStyle/>
            <a:p>
              <a:pPr algn="ctr" marL="0" indent="0" lvl="0">
                <a:lnSpc>
                  <a:spcPts val="2659"/>
                </a:lnSpc>
              </a:pPr>
            </a:p>
          </p:txBody>
        </p:sp>
      </p:grpSp>
      <p:grpSp>
        <p:nvGrpSpPr>
          <p:cNvPr name="Group 8" id="8"/>
          <p:cNvGrpSpPr/>
          <p:nvPr/>
        </p:nvGrpSpPr>
        <p:grpSpPr>
          <a:xfrm rot="-1787783">
            <a:off x="10578981" y="-1870630"/>
            <a:ext cx="13758345" cy="7410406"/>
            <a:chOff x="0" y="0"/>
            <a:chExt cx="1296853" cy="698500"/>
          </a:xfrm>
        </p:grpSpPr>
        <p:sp>
          <p:nvSpPr>
            <p:cNvPr name="Freeform 9" id="9"/>
            <p:cNvSpPr/>
            <p:nvPr/>
          </p:nvSpPr>
          <p:spPr>
            <a:xfrm flipH="false" flipV="false" rot="0">
              <a:off x="0" y="0"/>
              <a:ext cx="1296853" cy="698500"/>
            </a:xfrm>
            <a:custGeom>
              <a:avLst/>
              <a:gdLst/>
              <a:ahLst/>
              <a:cxnLst/>
              <a:rect r="r" b="b" t="t" l="l"/>
              <a:pathLst>
                <a:path h="698500" w="1296853">
                  <a:moveTo>
                    <a:pt x="1296853" y="349250"/>
                  </a:moveTo>
                  <a:lnTo>
                    <a:pt x="1093653" y="698500"/>
                  </a:lnTo>
                  <a:lnTo>
                    <a:pt x="203200" y="698500"/>
                  </a:lnTo>
                  <a:lnTo>
                    <a:pt x="0" y="349250"/>
                  </a:lnTo>
                  <a:lnTo>
                    <a:pt x="203200" y="0"/>
                  </a:lnTo>
                  <a:lnTo>
                    <a:pt x="1093653" y="0"/>
                  </a:lnTo>
                  <a:lnTo>
                    <a:pt x="1296853" y="349250"/>
                  </a:lnTo>
                  <a:close/>
                </a:path>
              </a:pathLst>
            </a:custGeom>
            <a:solidFill>
              <a:srgbClr val="024A59"/>
            </a:solidFill>
          </p:spPr>
        </p:sp>
        <p:sp>
          <p:nvSpPr>
            <p:cNvPr name="TextBox 10" id="10"/>
            <p:cNvSpPr txBox="true"/>
            <p:nvPr/>
          </p:nvSpPr>
          <p:spPr>
            <a:xfrm>
              <a:off x="114300" y="-57150"/>
              <a:ext cx="1068253" cy="755650"/>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1787783">
            <a:off x="9316170" y="-96463"/>
            <a:ext cx="14503583" cy="7811799"/>
            <a:chOff x="0" y="0"/>
            <a:chExt cx="1296853" cy="698500"/>
          </a:xfrm>
        </p:grpSpPr>
        <p:sp>
          <p:nvSpPr>
            <p:cNvPr name="Freeform 12" id="12"/>
            <p:cNvSpPr/>
            <p:nvPr/>
          </p:nvSpPr>
          <p:spPr>
            <a:xfrm flipH="false" flipV="false" rot="0">
              <a:off x="0" y="0"/>
              <a:ext cx="1296853" cy="698500"/>
            </a:xfrm>
            <a:custGeom>
              <a:avLst/>
              <a:gdLst/>
              <a:ahLst/>
              <a:cxnLst/>
              <a:rect r="r" b="b" t="t" l="l"/>
              <a:pathLst>
                <a:path h="698500" w="1296853">
                  <a:moveTo>
                    <a:pt x="1296853" y="349250"/>
                  </a:moveTo>
                  <a:lnTo>
                    <a:pt x="1093653" y="698500"/>
                  </a:lnTo>
                  <a:lnTo>
                    <a:pt x="203200" y="698500"/>
                  </a:lnTo>
                  <a:lnTo>
                    <a:pt x="0" y="349250"/>
                  </a:lnTo>
                  <a:lnTo>
                    <a:pt x="203200" y="0"/>
                  </a:lnTo>
                  <a:lnTo>
                    <a:pt x="1093653" y="0"/>
                  </a:lnTo>
                  <a:lnTo>
                    <a:pt x="1296853" y="349250"/>
                  </a:lnTo>
                  <a:close/>
                </a:path>
              </a:pathLst>
            </a:custGeom>
            <a:solidFill>
              <a:srgbClr val="FFA916"/>
            </a:solidFill>
          </p:spPr>
        </p:sp>
        <p:sp>
          <p:nvSpPr>
            <p:cNvPr name="TextBox 13" id="13"/>
            <p:cNvSpPr txBox="true"/>
            <p:nvPr/>
          </p:nvSpPr>
          <p:spPr>
            <a:xfrm>
              <a:off x="114300" y="-57150"/>
              <a:ext cx="1068253" cy="755650"/>
            </a:xfrm>
            <a:prstGeom prst="rect">
              <a:avLst/>
            </a:prstGeom>
          </p:spPr>
          <p:txBody>
            <a:bodyPr anchor="ctr" rtlCol="false" tIns="50800" lIns="50800" bIns="50800" rIns="50800"/>
            <a:lstStyle/>
            <a:p>
              <a:pPr algn="ctr" marL="0" indent="0" lvl="0">
                <a:lnSpc>
                  <a:spcPts val="2659"/>
                </a:lnSpc>
              </a:pPr>
            </a:p>
          </p:txBody>
        </p:sp>
      </p:grpSp>
      <p:sp>
        <p:nvSpPr>
          <p:cNvPr name="Freeform 14" id="14"/>
          <p:cNvSpPr/>
          <p:nvPr/>
        </p:nvSpPr>
        <p:spPr>
          <a:xfrm flipH="false" flipV="false" rot="-1813147">
            <a:off x="10020702" y="1552681"/>
            <a:ext cx="8366626" cy="7151556"/>
          </a:xfrm>
          <a:custGeom>
            <a:avLst/>
            <a:gdLst/>
            <a:ahLst/>
            <a:cxnLst/>
            <a:rect r="r" b="b" t="t" l="l"/>
            <a:pathLst>
              <a:path h="7151556" w="8366626">
                <a:moveTo>
                  <a:pt x="0" y="0"/>
                </a:moveTo>
                <a:lnTo>
                  <a:pt x="8366626" y="0"/>
                </a:lnTo>
                <a:lnTo>
                  <a:pt x="8366626" y="7151556"/>
                </a:lnTo>
                <a:lnTo>
                  <a:pt x="0" y="7151556"/>
                </a:lnTo>
                <a:lnTo>
                  <a:pt x="0" y="0"/>
                </a:lnTo>
                <a:close/>
              </a:path>
            </a:pathLst>
          </a:custGeom>
          <a:blipFill>
            <a:blip r:embed="rId2"/>
            <a:stretch>
              <a:fillRect l="0" t="0" r="0" b="0"/>
            </a:stretch>
          </a:blipFill>
        </p:spPr>
      </p:sp>
      <p:grpSp>
        <p:nvGrpSpPr>
          <p:cNvPr name="Group 15" id="15"/>
          <p:cNvGrpSpPr/>
          <p:nvPr/>
        </p:nvGrpSpPr>
        <p:grpSpPr>
          <a:xfrm rot="0">
            <a:off x="10595487" y="939081"/>
            <a:ext cx="7226346" cy="8408839"/>
            <a:chOff x="0" y="0"/>
            <a:chExt cx="698500" cy="812800"/>
          </a:xfrm>
        </p:grpSpPr>
        <p:sp>
          <p:nvSpPr>
            <p:cNvPr name="Freeform 16" id="16"/>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24A59"/>
            </a:solidFill>
          </p:spPr>
        </p:sp>
        <p:sp>
          <p:nvSpPr>
            <p:cNvPr name="TextBox 17" id="17"/>
            <p:cNvSpPr txBox="true"/>
            <p:nvPr/>
          </p:nvSpPr>
          <p:spPr>
            <a:xfrm>
              <a:off x="0" y="82550"/>
              <a:ext cx="698500" cy="590550"/>
            </a:xfrm>
            <a:prstGeom prst="rect">
              <a:avLst/>
            </a:prstGeom>
          </p:spPr>
          <p:txBody>
            <a:bodyPr anchor="ctr" rtlCol="false" tIns="50800" lIns="50800" bIns="50800" rIns="50800"/>
            <a:lstStyle/>
            <a:p>
              <a:pPr algn="ctr" marL="0" indent="0" lvl="0">
                <a:lnSpc>
                  <a:spcPts val="2659"/>
                </a:lnSpc>
              </a:pPr>
            </a:p>
          </p:txBody>
        </p:sp>
      </p:grpSp>
      <p:grpSp>
        <p:nvGrpSpPr>
          <p:cNvPr name="Group 18" id="18"/>
          <p:cNvGrpSpPr>
            <a:grpSpLocks noChangeAspect="true"/>
          </p:cNvGrpSpPr>
          <p:nvPr/>
        </p:nvGrpSpPr>
        <p:grpSpPr>
          <a:xfrm rot="0">
            <a:off x="10819302" y="1229804"/>
            <a:ext cx="6778716" cy="7827392"/>
            <a:chOff x="0" y="0"/>
            <a:chExt cx="31287555" cy="36127779"/>
          </a:xfrm>
        </p:grpSpPr>
        <p:sp>
          <p:nvSpPr>
            <p:cNvPr name="Freeform 19" id="19"/>
            <p:cNvSpPr/>
            <p:nvPr/>
          </p:nvSpPr>
          <p:spPr>
            <a:xfrm flipH="false" flipV="false" rot="0">
              <a:off x="0" y="0"/>
              <a:ext cx="31287467" cy="36127817"/>
            </a:xfrm>
            <a:custGeom>
              <a:avLst/>
              <a:gdLst/>
              <a:ahLst/>
              <a:cxnLst/>
              <a:rect r="r" b="b" t="t" l="l"/>
              <a:pathLst>
                <a:path h="36127817" w="31287467">
                  <a:moveTo>
                    <a:pt x="15643733" y="0"/>
                  </a:moveTo>
                  <a:lnTo>
                    <a:pt x="0" y="9031859"/>
                  </a:lnTo>
                  <a:lnTo>
                    <a:pt x="0" y="27095831"/>
                  </a:lnTo>
                  <a:lnTo>
                    <a:pt x="15643733" y="36127817"/>
                  </a:lnTo>
                  <a:lnTo>
                    <a:pt x="31287467" y="27095958"/>
                  </a:lnTo>
                  <a:lnTo>
                    <a:pt x="31287467" y="9031859"/>
                  </a:lnTo>
                  <a:lnTo>
                    <a:pt x="15643861" y="0"/>
                  </a:lnTo>
                  <a:close/>
                </a:path>
              </a:pathLst>
            </a:custGeom>
            <a:blipFill>
              <a:blip r:embed="rId3"/>
              <a:stretch>
                <a:fillRect l="0" t="-3540" r="0" b="-3540"/>
              </a:stretch>
            </a:blipFill>
          </p:spPr>
        </p:sp>
      </p:grpSp>
      <p:sp>
        <p:nvSpPr>
          <p:cNvPr name="TextBox 20" id="20"/>
          <p:cNvSpPr txBox="true"/>
          <p:nvPr/>
        </p:nvSpPr>
        <p:spPr>
          <a:xfrm rot="0">
            <a:off x="1028700" y="1009650"/>
            <a:ext cx="7615772" cy="704850"/>
          </a:xfrm>
          <a:prstGeom prst="rect">
            <a:avLst/>
          </a:prstGeom>
        </p:spPr>
        <p:txBody>
          <a:bodyPr anchor="t" rtlCol="false" tIns="0" lIns="0" bIns="0" rIns="0">
            <a:spAutoFit/>
          </a:bodyPr>
          <a:lstStyle/>
          <a:p>
            <a:pPr algn="l" marL="0" indent="0" lvl="0">
              <a:lnSpc>
                <a:spcPts val="5174"/>
              </a:lnSpc>
            </a:pPr>
            <a:r>
              <a:rPr lang="en-US" b="true" sz="4500">
                <a:solidFill>
                  <a:srgbClr val="000000"/>
                </a:solidFill>
                <a:latin typeface="Poppins Bold"/>
                <a:ea typeface="Poppins Bold"/>
                <a:cs typeface="Poppins Bold"/>
                <a:sym typeface="Poppins Bold"/>
              </a:rPr>
              <a:t>Cơ sở dữ liệu &amp; ERD</a:t>
            </a:r>
          </a:p>
        </p:txBody>
      </p:sp>
      <p:sp>
        <p:nvSpPr>
          <p:cNvPr name="TextBox 21" id="21"/>
          <p:cNvSpPr txBox="true"/>
          <p:nvPr/>
        </p:nvSpPr>
        <p:spPr>
          <a:xfrm rot="0">
            <a:off x="1028700" y="2557834"/>
            <a:ext cx="8618543" cy="5353050"/>
          </a:xfrm>
          <a:prstGeom prst="rect">
            <a:avLst/>
          </a:prstGeom>
        </p:spPr>
        <p:txBody>
          <a:bodyPr anchor="t" rtlCol="false" tIns="0" lIns="0" bIns="0" rIns="0">
            <a:spAutoFit/>
          </a:bodyPr>
          <a:lstStyle/>
          <a:p>
            <a:pPr algn="just" marL="0" indent="0" lvl="0">
              <a:lnSpc>
                <a:spcPts val="3899"/>
              </a:lnSpc>
            </a:pPr>
            <a:r>
              <a:rPr lang="en-US" sz="2999">
                <a:solidFill>
                  <a:srgbClr val="000000"/>
                </a:solidFill>
                <a:latin typeface="Poppins"/>
                <a:ea typeface="Poppins"/>
                <a:cs typeface="Poppins"/>
                <a:sym typeface="Poppins"/>
              </a:rPr>
              <a:t>Các thực thể chính trong hệ thống ECMS:</a:t>
            </a:r>
          </a:p>
          <a:p>
            <a:pPr algn="just" marL="0" indent="0" lvl="0">
              <a:lnSpc>
                <a:spcPts val="3899"/>
              </a:lnSpc>
            </a:pPr>
            <a:r>
              <a:rPr lang="en-US" sz="2999">
                <a:solidFill>
                  <a:srgbClr val="000000"/>
                </a:solidFill>
                <a:latin typeface="Poppins"/>
                <a:ea typeface="Poppins"/>
                <a:cs typeface="Poppins"/>
                <a:sym typeface="Poppins"/>
              </a:rPr>
              <a:t>• User — Role — Department</a:t>
            </a:r>
          </a:p>
          <a:p>
            <a:pPr algn="just" marL="0" indent="0" lvl="0">
              <a:lnSpc>
                <a:spcPts val="3899"/>
              </a:lnSpc>
            </a:pPr>
            <a:r>
              <a:rPr lang="en-US" sz="2999">
                <a:solidFill>
                  <a:srgbClr val="000000"/>
                </a:solidFill>
                <a:latin typeface="Poppins"/>
                <a:ea typeface="Poppins"/>
                <a:cs typeface="Poppins"/>
                <a:sym typeface="Poppins"/>
              </a:rPr>
              <a:t>Người dùng, vai trò và phòng ban</a:t>
            </a:r>
          </a:p>
          <a:p>
            <a:pPr algn="just" marL="0" indent="0" lvl="0">
              <a:lnSpc>
                <a:spcPts val="3899"/>
              </a:lnSpc>
            </a:pPr>
            <a:r>
              <a:rPr lang="en-US" sz="2999">
                <a:solidFill>
                  <a:srgbClr val="000000"/>
                </a:solidFill>
                <a:latin typeface="Poppins"/>
                <a:ea typeface="Poppins"/>
                <a:cs typeface="Poppins"/>
                <a:sym typeface="Poppins"/>
              </a:rPr>
              <a:t>• Contract — ContractVersion</a:t>
            </a:r>
          </a:p>
          <a:p>
            <a:pPr algn="just" marL="0" indent="0" lvl="0">
              <a:lnSpc>
                <a:spcPts val="3899"/>
              </a:lnSpc>
            </a:pPr>
            <a:r>
              <a:rPr lang="en-US" sz="2999">
                <a:solidFill>
                  <a:srgbClr val="000000"/>
                </a:solidFill>
                <a:latin typeface="Poppins"/>
                <a:ea typeface="Poppins"/>
                <a:cs typeface="Poppins"/>
                <a:sym typeface="Poppins"/>
              </a:rPr>
              <a:t>Hợp đồng và các phiên bản lịch sử</a:t>
            </a:r>
          </a:p>
          <a:p>
            <a:pPr algn="just" marL="0" indent="0" lvl="0">
              <a:lnSpc>
                <a:spcPts val="3899"/>
              </a:lnSpc>
            </a:pPr>
            <a:r>
              <a:rPr lang="en-US" sz="2999">
                <a:solidFill>
                  <a:srgbClr val="000000"/>
                </a:solidFill>
                <a:latin typeface="Poppins"/>
                <a:ea typeface="Poppins"/>
                <a:cs typeface="Poppins"/>
                <a:sym typeface="Poppins"/>
              </a:rPr>
              <a:t>• ApprovalWorkflow — Signature</a:t>
            </a:r>
          </a:p>
          <a:p>
            <a:pPr algn="just" marL="0" indent="0" lvl="0">
              <a:lnSpc>
                <a:spcPts val="3899"/>
              </a:lnSpc>
            </a:pPr>
            <a:r>
              <a:rPr lang="en-US" sz="2999">
                <a:solidFill>
                  <a:srgbClr val="000000"/>
                </a:solidFill>
                <a:latin typeface="Poppins"/>
                <a:ea typeface="Poppins"/>
                <a:cs typeface="Poppins"/>
                <a:sym typeface="Poppins"/>
              </a:rPr>
              <a:t>Quy trình phê duyệt và chữ ký</a:t>
            </a:r>
          </a:p>
          <a:p>
            <a:pPr algn="just" marL="0" indent="0" lvl="0">
              <a:lnSpc>
                <a:spcPts val="3899"/>
              </a:lnSpc>
            </a:pPr>
            <a:r>
              <a:rPr lang="en-US" sz="2999">
                <a:solidFill>
                  <a:srgbClr val="000000"/>
                </a:solidFill>
                <a:latin typeface="Poppins"/>
                <a:ea typeface="Poppins"/>
                <a:cs typeface="Poppins"/>
                <a:sym typeface="Poppins"/>
              </a:rPr>
              <a:t>• Notification — Reminder</a:t>
            </a:r>
          </a:p>
          <a:p>
            <a:pPr algn="just" marL="0" indent="0" lvl="0">
              <a:lnSpc>
                <a:spcPts val="3899"/>
              </a:lnSpc>
            </a:pPr>
            <a:r>
              <a:rPr lang="en-US" sz="2999">
                <a:solidFill>
                  <a:srgbClr val="000000"/>
                </a:solidFill>
                <a:latin typeface="Poppins"/>
                <a:ea typeface="Poppins"/>
                <a:cs typeface="Poppins"/>
                <a:sym typeface="Poppins"/>
              </a:rPr>
              <a:t>Thông báo và nhắc hạn tự động</a:t>
            </a:r>
          </a:p>
          <a:p>
            <a:pPr algn="just" marL="0" indent="0" lvl="0">
              <a:lnSpc>
                <a:spcPts val="3899"/>
              </a:lnSpc>
            </a:pPr>
            <a:r>
              <a:rPr lang="en-US" sz="2999">
                <a:solidFill>
                  <a:srgbClr val="000000"/>
                </a:solidFill>
                <a:latin typeface="Poppins"/>
                <a:ea typeface="Poppins"/>
                <a:cs typeface="Poppins"/>
                <a:sym typeface="Poppins"/>
              </a:rPr>
              <a:t>• AuditLog — FileAttachment</a:t>
            </a:r>
          </a:p>
          <a:p>
            <a:pPr algn="just" marL="0" indent="0" lvl="0">
              <a:lnSpc>
                <a:spcPts val="3899"/>
              </a:lnSpc>
            </a:pPr>
            <a:r>
              <a:rPr lang="en-US" sz="2999">
                <a:solidFill>
                  <a:srgbClr val="000000"/>
                </a:solidFill>
                <a:latin typeface="Poppins"/>
                <a:ea typeface="Poppins"/>
                <a:cs typeface="Poppins"/>
                <a:sym typeface="Poppins"/>
              </a:rPr>
              <a:t>Nhật ký kiểm toán và tệp đính kèm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5400000">
            <a:off x="-183894" y="-674598"/>
            <a:ext cx="2117840" cy="3264897"/>
          </a:xfrm>
          <a:custGeom>
            <a:avLst/>
            <a:gdLst/>
            <a:ahLst/>
            <a:cxnLst/>
            <a:rect r="r" b="b" t="t" l="l"/>
            <a:pathLst>
              <a:path h="3264897" w="2117840">
                <a:moveTo>
                  <a:pt x="2117840" y="3264897"/>
                </a:moveTo>
                <a:lnTo>
                  <a:pt x="0" y="3264897"/>
                </a:lnTo>
                <a:lnTo>
                  <a:pt x="0" y="0"/>
                </a:lnTo>
                <a:lnTo>
                  <a:pt x="2117840" y="0"/>
                </a:lnTo>
                <a:lnTo>
                  <a:pt x="2117840" y="3264897"/>
                </a:lnTo>
                <a:close/>
              </a:path>
            </a:pathLst>
          </a:custGeom>
          <a:blipFill>
            <a:blip r:embed="rId2">
              <a:extLst>
                <a:ext uri="{96DAC541-7B7A-43D3-8B79-37D633B846F1}">
                  <asvg:svgBlip xmlns:asvg="http://schemas.microsoft.com/office/drawing/2016/SVG/main" r:embed="rId3"/>
                </a:ext>
              </a:extLst>
            </a:blip>
            <a:stretch>
              <a:fillRect l="0" t="0" r="-75183" b="0"/>
            </a:stretch>
          </a:blipFill>
        </p:spPr>
      </p:sp>
      <p:sp>
        <p:nvSpPr>
          <p:cNvPr name="Freeform 3" id="3"/>
          <p:cNvSpPr/>
          <p:nvPr/>
        </p:nvSpPr>
        <p:spPr>
          <a:xfrm flipH="true" flipV="false" rot="-5400000">
            <a:off x="16351493" y="-712127"/>
            <a:ext cx="2117840" cy="3264897"/>
          </a:xfrm>
          <a:custGeom>
            <a:avLst/>
            <a:gdLst/>
            <a:ahLst/>
            <a:cxnLst/>
            <a:rect r="r" b="b" t="t" l="l"/>
            <a:pathLst>
              <a:path h="3264897" w="2117840">
                <a:moveTo>
                  <a:pt x="2117840" y="0"/>
                </a:moveTo>
                <a:lnTo>
                  <a:pt x="0" y="0"/>
                </a:lnTo>
                <a:lnTo>
                  <a:pt x="0" y="3264898"/>
                </a:lnTo>
                <a:lnTo>
                  <a:pt x="2117840" y="3264898"/>
                </a:lnTo>
                <a:lnTo>
                  <a:pt x="2117840" y="0"/>
                </a:lnTo>
                <a:close/>
              </a:path>
            </a:pathLst>
          </a:custGeom>
          <a:blipFill>
            <a:blip r:embed="rId2">
              <a:extLst>
                <a:ext uri="{96DAC541-7B7A-43D3-8B79-37D633B846F1}">
                  <asvg:svgBlip xmlns:asvg="http://schemas.microsoft.com/office/drawing/2016/SVG/main" r:embed="rId3"/>
                </a:ext>
              </a:extLst>
            </a:blip>
            <a:stretch>
              <a:fillRect l="0" t="0" r="-75183" b="0"/>
            </a:stretch>
          </a:blipFill>
        </p:spPr>
      </p:sp>
      <p:grpSp>
        <p:nvGrpSpPr>
          <p:cNvPr name="Group 4" id="4"/>
          <p:cNvGrpSpPr/>
          <p:nvPr/>
        </p:nvGrpSpPr>
        <p:grpSpPr>
          <a:xfrm rot="0">
            <a:off x="3938494" y="9963150"/>
            <a:ext cx="16477376" cy="783580"/>
            <a:chOff x="0" y="0"/>
            <a:chExt cx="4339720" cy="206375"/>
          </a:xfrm>
        </p:grpSpPr>
        <p:sp>
          <p:nvSpPr>
            <p:cNvPr name="Freeform 5" id="5"/>
            <p:cNvSpPr/>
            <p:nvPr/>
          </p:nvSpPr>
          <p:spPr>
            <a:xfrm flipH="false" flipV="false" rot="0">
              <a:off x="0" y="0"/>
              <a:ext cx="4339720" cy="206375"/>
            </a:xfrm>
            <a:custGeom>
              <a:avLst/>
              <a:gdLst/>
              <a:ahLst/>
              <a:cxnLst/>
              <a:rect r="r" b="b" t="t" l="l"/>
              <a:pathLst>
                <a:path h="206375" w="4339720">
                  <a:moveTo>
                    <a:pt x="203200" y="0"/>
                  </a:moveTo>
                  <a:lnTo>
                    <a:pt x="4339720" y="0"/>
                  </a:lnTo>
                  <a:lnTo>
                    <a:pt x="4136520" y="206375"/>
                  </a:lnTo>
                  <a:lnTo>
                    <a:pt x="0" y="206375"/>
                  </a:lnTo>
                  <a:lnTo>
                    <a:pt x="203200" y="0"/>
                  </a:lnTo>
                  <a:close/>
                </a:path>
              </a:pathLst>
            </a:custGeom>
            <a:solidFill>
              <a:srgbClr val="FFA916"/>
            </a:solidFill>
          </p:spPr>
        </p:sp>
        <p:sp>
          <p:nvSpPr>
            <p:cNvPr name="TextBox 6" id="6"/>
            <p:cNvSpPr txBox="true"/>
            <p:nvPr/>
          </p:nvSpPr>
          <p:spPr>
            <a:xfrm>
              <a:off x="101600" y="-57150"/>
              <a:ext cx="4136520" cy="263525"/>
            </a:xfrm>
            <a:prstGeom prst="rect">
              <a:avLst/>
            </a:prstGeom>
          </p:spPr>
          <p:txBody>
            <a:bodyPr anchor="ctr" rtlCol="false" tIns="50800" lIns="50800" bIns="50800" rIns="50800"/>
            <a:lstStyle/>
            <a:p>
              <a:pPr algn="ctr" marL="0" indent="0" lvl="0">
                <a:lnSpc>
                  <a:spcPts val="2939"/>
                </a:lnSpc>
              </a:pPr>
            </a:p>
          </p:txBody>
        </p:sp>
      </p:grpSp>
      <p:grpSp>
        <p:nvGrpSpPr>
          <p:cNvPr name="Group 7" id="7"/>
          <p:cNvGrpSpPr/>
          <p:nvPr/>
        </p:nvGrpSpPr>
        <p:grpSpPr>
          <a:xfrm rot="0">
            <a:off x="-1024868" y="9963150"/>
            <a:ext cx="7295490" cy="783580"/>
            <a:chOff x="0" y="0"/>
            <a:chExt cx="1921446" cy="206375"/>
          </a:xfrm>
        </p:grpSpPr>
        <p:sp>
          <p:nvSpPr>
            <p:cNvPr name="Freeform 8" id="8"/>
            <p:cNvSpPr/>
            <p:nvPr/>
          </p:nvSpPr>
          <p:spPr>
            <a:xfrm flipH="false" flipV="false" rot="0">
              <a:off x="0" y="0"/>
              <a:ext cx="1921446" cy="206375"/>
            </a:xfrm>
            <a:custGeom>
              <a:avLst/>
              <a:gdLst/>
              <a:ahLst/>
              <a:cxnLst/>
              <a:rect r="r" b="b" t="t" l="l"/>
              <a:pathLst>
                <a:path h="206375" w="1921446">
                  <a:moveTo>
                    <a:pt x="203200" y="0"/>
                  </a:moveTo>
                  <a:lnTo>
                    <a:pt x="1921446" y="0"/>
                  </a:lnTo>
                  <a:lnTo>
                    <a:pt x="1718246" y="206375"/>
                  </a:lnTo>
                  <a:lnTo>
                    <a:pt x="0" y="206375"/>
                  </a:lnTo>
                  <a:lnTo>
                    <a:pt x="203200" y="0"/>
                  </a:lnTo>
                  <a:close/>
                </a:path>
              </a:pathLst>
            </a:custGeom>
            <a:solidFill>
              <a:srgbClr val="024A59"/>
            </a:solidFill>
          </p:spPr>
        </p:sp>
        <p:sp>
          <p:nvSpPr>
            <p:cNvPr name="TextBox 9" id="9"/>
            <p:cNvSpPr txBox="true"/>
            <p:nvPr/>
          </p:nvSpPr>
          <p:spPr>
            <a:xfrm>
              <a:off x="101600" y="-57150"/>
              <a:ext cx="1718246" cy="263525"/>
            </a:xfrm>
            <a:prstGeom prst="rect">
              <a:avLst/>
            </a:prstGeom>
          </p:spPr>
          <p:txBody>
            <a:bodyPr anchor="ctr" rtlCol="false" tIns="50800" lIns="50800" bIns="50800" rIns="50800"/>
            <a:lstStyle/>
            <a:p>
              <a:pPr algn="ctr" marL="0" indent="0" lvl="0">
                <a:lnSpc>
                  <a:spcPts val="2939"/>
                </a:lnSpc>
              </a:pPr>
            </a:p>
          </p:txBody>
        </p:sp>
      </p:grpSp>
      <p:grpSp>
        <p:nvGrpSpPr>
          <p:cNvPr name="Group 10" id="10"/>
          <p:cNvGrpSpPr/>
          <p:nvPr/>
        </p:nvGrpSpPr>
        <p:grpSpPr>
          <a:xfrm rot="0">
            <a:off x="2848755" y="4682194"/>
            <a:ext cx="2615533" cy="2615533"/>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31F20"/>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marL="0" indent="0" lvl="0">
                <a:lnSpc>
                  <a:spcPts val="2939"/>
                </a:lnSpc>
              </a:pPr>
            </a:p>
          </p:txBody>
        </p:sp>
      </p:grpSp>
      <p:sp>
        <p:nvSpPr>
          <p:cNvPr name="Freeform 13" id="13"/>
          <p:cNvSpPr/>
          <p:nvPr/>
        </p:nvSpPr>
        <p:spPr>
          <a:xfrm flipH="false" flipV="false" rot="0">
            <a:off x="1028700" y="3069357"/>
            <a:ext cx="6255643" cy="5841206"/>
          </a:xfrm>
          <a:custGeom>
            <a:avLst/>
            <a:gdLst/>
            <a:ahLst/>
            <a:cxnLst/>
            <a:rect r="r" b="b" t="t" l="l"/>
            <a:pathLst>
              <a:path h="5841206" w="6255643">
                <a:moveTo>
                  <a:pt x="0" y="0"/>
                </a:moveTo>
                <a:lnTo>
                  <a:pt x="6255643" y="0"/>
                </a:lnTo>
                <a:lnTo>
                  <a:pt x="6255643" y="5841206"/>
                </a:lnTo>
                <a:lnTo>
                  <a:pt x="0" y="5841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8652563" y="2948512"/>
            <a:ext cx="1309167" cy="1125065"/>
            <a:chOff x="0" y="0"/>
            <a:chExt cx="812800" cy="698500"/>
          </a:xfrm>
        </p:grpSpPr>
        <p:sp>
          <p:nvSpPr>
            <p:cNvPr name="Freeform 15" id="15"/>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24A59"/>
            </a:solidFill>
            <a:ln w="85725" cap="sq">
              <a:solidFill>
                <a:srgbClr val="FFA916"/>
              </a:solidFill>
              <a:prstDash val="solid"/>
              <a:miter/>
            </a:ln>
          </p:spPr>
        </p:sp>
        <p:sp>
          <p:nvSpPr>
            <p:cNvPr name="TextBox 16" id="16"/>
            <p:cNvSpPr txBox="true"/>
            <p:nvPr/>
          </p:nvSpPr>
          <p:spPr>
            <a:xfrm>
              <a:off x="114300" y="-57150"/>
              <a:ext cx="584200" cy="755650"/>
            </a:xfrm>
            <a:prstGeom prst="rect">
              <a:avLst/>
            </a:prstGeom>
          </p:spPr>
          <p:txBody>
            <a:bodyPr anchor="ctr" rtlCol="false" tIns="50800" lIns="50800" bIns="50800" rIns="50800"/>
            <a:lstStyle/>
            <a:p>
              <a:pPr algn="ctr" marL="0" indent="0" lvl="0">
                <a:lnSpc>
                  <a:spcPts val="2939"/>
                </a:lnSpc>
              </a:pPr>
            </a:p>
          </p:txBody>
        </p:sp>
      </p:grpSp>
      <p:grpSp>
        <p:nvGrpSpPr>
          <p:cNvPr name="Group 17" id="17"/>
          <p:cNvGrpSpPr/>
          <p:nvPr/>
        </p:nvGrpSpPr>
        <p:grpSpPr>
          <a:xfrm rot="0">
            <a:off x="8652563" y="4518785"/>
            <a:ext cx="1309167" cy="1125065"/>
            <a:chOff x="0" y="0"/>
            <a:chExt cx="812800" cy="698500"/>
          </a:xfrm>
        </p:grpSpPr>
        <p:sp>
          <p:nvSpPr>
            <p:cNvPr name="Freeform 18" id="18"/>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24A59"/>
            </a:solidFill>
            <a:ln w="85725" cap="sq">
              <a:solidFill>
                <a:srgbClr val="FFA916"/>
              </a:solidFill>
              <a:prstDash val="solid"/>
              <a:miter/>
            </a:ln>
          </p:spPr>
        </p:sp>
        <p:sp>
          <p:nvSpPr>
            <p:cNvPr name="TextBox 19" id="19"/>
            <p:cNvSpPr txBox="true"/>
            <p:nvPr/>
          </p:nvSpPr>
          <p:spPr>
            <a:xfrm>
              <a:off x="114300" y="-57150"/>
              <a:ext cx="584200" cy="755650"/>
            </a:xfrm>
            <a:prstGeom prst="rect">
              <a:avLst/>
            </a:prstGeom>
          </p:spPr>
          <p:txBody>
            <a:bodyPr anchor="ctr" rtlCol="false" tIns="50800" lIns="50800" bIns="50800" rIns="50800"/>
            <a:lstStyle/>
            <a:p>
              <a:pPr algn="ctr" marL="0" indent="0" lvl="0">
                <a:lnSpc>
                  <a:spcPts val="2939"/>
                </a:lnSpc>
              </a:pPr>
            </a:p>
          </p:txBody>
        </p:sp>
      </p:grpSp>
      <p:grpSp>
        <p:nvGrpSpPr>
          <p:cNvPr name="Group 20" id="20"/>
          <p:cNvGrpSpPr/>
          <p:nvPr/>
        </p:nvGrpSpPr>
        <p:grpSpPr>
          <a:xfrm rot="0">
            <a:off x="8652563" y="6092684"/>
            <a:ext cx="1309167" cy="1125065"/>
            <a:chOff x="0" y="0"/>
            <a:chExt cx="812800" cy="698500"/>
          </a:xfrm>
        </p:grpSpPr>
        <p:sp>
          <p:nvSpPr>
            <p:cNvPr name="Freeform 21" id="21"/>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24A59"/>
            </a:solidFill>
            <a:ln w="85725" cap="sq">
              <a:solidFill>
                <a:srgbClr val="FFA916"/>
              </a:solidFill>
              <a:prstDash val="solid"/>
              <a:miter/>
            </a:ln>
          </p:spPr>
        </p:sp>
        <p:sp>
          <p:nvSpPr>
            <p:cNvPr name="TextBox 22" id="22"/>
            <p:cNvSpPr txBox="true"/>
            <p:nvPr/>
          </p:nvSpPr>
          <p:spPr>
            <a:xfrm>
              <a:off x="114300" y="-57150"/>
              <a:ext cx="584200" cy="755650"/>
            </a:xfrm>
            <a:prstGeom prst="rect">
              <a:avLst/>
            </a:prstGeom>
          </p:spPr>
          <p:txBody>
            <a:bodyPr anchor="ctr" rtlCol="false" tIns="50800" lIns="50800" bIns="50800" rIns="50800"/>
            <a:lstStyle/>
            <a:p>
              <a:pPr algn="ctr" marL="0" indent="0" lvl="0">
                <a:lnSpc>
                  <a:spcPts val="2939"/>
                </a:lnSpc>
              </a:pPr>
            </a:p>
          </p:txBody>
        </p:sp>
      </p:grpSp>
      <p:grpSp>
        <p:nvGrpSpPr>
          <p:cNvPr name="Group 23" id="23"/>
          <p:cNvGrpSpPr/>
          <p:nvPr/>
        </p:nvGrpSpPr>
        <p:grpSpPr>
          <a:xfrm rot="0">
            <a:off x="8652563" y="7664653"/>
            <a:ext cx="1309167" cy="1125065"/>
            <a:chOff x="0" y="0"/>
            <a:chExt cx="812800" cy="698500"/>
          </a:xfrm>
        </p:grpSpPr>
        <p:sp>
          <p:nvSpPr>
            <p:cNvPr name="Freeform 24" id="24"/>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24A59"/>
            </a:solidFill>
            <a:ln w="85725" cap="sq">
              <a:solidFill>
                <a:srgbClr val="FFA916"/>
              </a:solidFill>
              <a:prstDash val="solid"/>
              <a:miter/>
            </a:ln>
          </p:spPr>
        </p:sp>
        <p:sp>
          <p:nvSpPr>
            <p:cNvPr name="TextBox 25" id="25"/>
            <p:cNvSpPr txBox="true"/>
            <p:nvPr/>
          </p:nvSpPr>
          <p:spPr>
            <a:xfrm>
              <a:off x="114300" y="-57150"/>
              <a:ext cx="584200" cy="755650"/>
            </a:xfrm>
            <a:prstGeom prst="rect">
              <a:avLst/>
            </a:prstGeom>
          </p:spPr>
          <p:txBody>
            <a:bodyPr anchor="ctr" rtlCol="false" tIns="50800" lIns="50800" bIns="50800" rIns="50800"/>
            <a:lstStyle/>
            <a:p>
              <a:pPr algn="ctr" marL="0" indent="0" lvl="0">
                <a:lnSpc>
                  <a:spcPts val="2939"/>
                </a:lnSpc>
              </a:pPr>
            </a:p>
          </p:txBody>
        </p:sp>
      </p:grpSp>
      <p:sp>
        <p:nvSpPr>
          <p:cNvPr name="Freeform 26" id="26"/>
          <p:cNvSpPr/>
          <p:nvPr/>
        </p:nvSpPr>
        <p:spPr>
          <a:xfrm flipH="false" flipV="false" rot="0">
            <a:off x="3652105" y="5184350"/>
            <a:ext cx="1110183" cy="1597385"/>
          </a:xfrm>
          <a:custGeom>
            <a:avLst/>
            <a:gdLst/>
            <a:ahLst/>
            <a:cxnLst/>
            <a:rect r="r" b="b" t="t" l="l"/>
            <a:pathLst>
              <a:path h="1597385" w="1110183">
                <a:moveTo>
                  <a:pt x="0" y="0"/>
                </a:moveTo>
                <a:lnTo>
                  <a:pt x="1110182" y="0"/>
                </a:lnTo>
                <a:lnTo>
                  <a:pt x="1110182" y="1597385"/>
                </a:lnTo>
                <a:lnTo>
                  <a:pt x="0" y="1597385"/>
                </a:lnTo>
                <a:lnTo>
                  <a:pt x="0" y="0"/>
                </a:lnTo>
                <a:close/>
              </a:path>
            </a:pathLst>
          </a:custGeom>
          <a:blipFill>
            <a:blip r:embed="rId6"/>
            <a:stretch>
              <a:fillRect l="0" t="0" r="0" b="0"/>
            </a:stretch>
          </a:blipFill>
        </p:spPr>
      </p:sp>
      <p:sp>
        <p:nvSpPr>
          <p:cNvPr name="Freeform 27" id="27"/>
          <p:cNvSpPr/>
          <p:nvPr/>
        </p:nvSpPr>
        <p:spPr>
          <a:xfrm flipH="false" flipV="false" rot="0">
            <a:off x="1619955" y="3444562"/>
            <a:ext cx="1249640" cy="1580836"/>
          </a:xfrm>
          <a:custGeom>
            <a:avLst/>
            <a:gdLst/>
            <a:ahLst/>
            <a:cxnLst/>
            <a:rect r="r" b="b" t="t" l="l"/>
            <a:pathLst>
              <a:path h="1580836" w="1249640">
                <a:moveTo>
                  <a:pt x="0" y="0"/>
                </a:moveTo>
                <a:lnTo>
                  <a:pt x="1249640" y="0"/>
                </a:lnTo>
                <a:lnTo>
                  <a:pt x="1249640" y="1580836"/>
                </a:lnTo>
                <a:lnTo>
                  <a:pt x="0" y="1580836"/>
                </a:lnTo>
                <a:lnTo>
                  <a:pt x="0" y="0"/>
                </a:lnTo>
                <a:close/>
              </a:path>
            </a:pathLst>
          </a:custGeom>
          <a:blipFill>
            <a:blip r:embed="rId7"/>
            <a:stretch>
              <a:fillRect l="0" t="0" r="0" b="0"/>
            </a:stretch>
          </a:blipFill>
        </p:spPr>
      </p:sp>
      <p:sp>
        <p:nvSpPr>
          <p:cNvPr name="Freeform 28" id="28"/>
          <p:cNvSpPr/>
          <p:nvPr/>
        </p:nvSpPr>
        <p:spPr>
          <a:xfrm flipH="false" flipV="false" rot="0">
            <a:off x="5448966" y="3548852"/>
            <a:ext cx="1116164" cy="1381482"/>
          </a:xfrm>
          <a:custGeom>
            <a:avLst/>
            <a:gdLst/>
            <a:ahLst/>
            <a:cxnLst/>
            <a:rect r="r" b="b" t="t" l="l"/>
            <a:pathLst>
              <a:path h="1381482" w="1116164">
                <a:moveTo>
                  <a:pt x="0" y="0"/>
                </a:moveTo>
                <a:lnTo>
                  <a:pt x="1116164" y="0"/>
                </a:lnTo>
                <a:lnTo>
                  <a:pt x="1116164" y="1381483"/>
                </a:lnTo>
                <a:lnTo>
                  <a:pt x="0" y="1381483"/>
                </a:lnTo>
                <a:lnTo>
                  <a:pt x="0" y="0"/>
                </a:lnTo>
                <a:close/>
              </a:path>
            </a:pathLst>
          </a:custGeom>
          <a:blipFill>
            <a:blip r:embed="rId8"/>
            <a:stretch>
              <a:fillRect l="0" t="0" r="0" b="0"/>
            </a:stretch>
          </a:blipFill>
        </p:spPr>
      </p:sp>
      <p:sp>
        <p:nvSpPr>
          <p:cNvPr name="Freeform 29" id="29"/>
          <p:cNvSpPr/>
          <p:nvPr/>
        </p:nvSpPr>
        <p:spPr>
          <a:xfrm flipH="false" flipV="false" rot="0">
            <a:off x="1661138" y="7177872"/>
            <a:ext cx="1365570" cy="1074836"/>
          </a:xfrm>
          <a:custGeom>
            <a:avLst/>
            <a:gdLst/>
            <a:ahLst/>
            <a:cxnLst/>
            <a:rect r="r" b="b" t="t" l="l"/>
            <a:pathLst>
              <a:path h="1074836" w="1365570">
                <a:moveTo>
                  <a:pt x="0" y="0"/>
                </a:moveTo>
                <a:lnTo>
                  <a:pt x="1365570" y="0"/>
                </a:lnTo>
                <a:lnTo>
                  <a:pt x="1365570" y="1074836"/>
                </a:lnTo>
                <a:lnTo>
                  <a:pt x="0" y="1074836"/>
                </a:lnTo>
                <a:lnTo>
                  <a:pt x="0" y="0"/>
                </a:lnTo>
                <a:close/>
              </a:path>
            </a:pathLst>
          </a:custGeom>
          <a:blipFill>
            <a:blip r:embed="rId9"/>
            <a:stretch>
              <a:fillRect l="0" t="0" r="0" b="0"/>
            </a:stretch>
          </a:blipFill>
        </p:spPr>
      </p:sp>
      <p:sp>
        <p:nvSpPr>
          <p:cNvPr name="Freeform 30" id="30"/>
          <p:cNvSpPr/>
          <p:nvPr/>
        </p:nvSpPr>
        <p:spPr>
          <a:xfrm flipH="false" flipV="false" rot="0">
            <a:off x="5268700" y="6789947"/>
            <a:ext cx="1434879" cy="1652035"/>
          </a:xfrm>
          <a:custGeom>
            <a:avLst/>
            <a:gdLst/>
            <a:ahLst/>
            <a:cxnLst/>
            <a:rect r="r" b="b" t="t" l="l"/>
            <a:pathLst>
              <a:path h="1652035" w="1434879">
                <a:moveTo>
                  <a:pt x="0" y="0"/>
                </a:moveTo>
                <a:lnTo>
                  <a:pt x="1434879" y="0"/>
                </a:lnTo>
                <a:lnTo>
                  <a:pt x="1434879" y="1652034"/>
                </a:lnTo>
                <a:lnTo>
                  <a:pt x="0" y="1652034"/>
                </a:lnTo>
                <a:lnTo>
                  <a:pt x="0" y="0"/>
                </a:lnTo>
                <a:close/>
              </a:path>
            </a:pathLst>
          </a:custGeom>
          <a:blipFill>
            <a:blip r:embed="rId10"/>
            <a:stretch>
              <a:fillRect l="0" t="0" r="0" b="0"/>
            </a:stretch>
          </a:blipFill>
        </p:spPr>
      </p:sp>
      <p:sp>
        <p:nvSpPr>
          <p:cNvPr name="TextBox 31" id="31"/>
          <p:cNvSpPr txBox="true"/>
          <p:nvPr/>
        </p:nvSpPr>
        <p:spPr>
          <a:xfrm rot="0">
            <a:off x="4562165" y="1000125"/>
            <a:ext cx="9163669" cy="744220"/>
          </a:xfrm>
          <a:prstGeom prst="rect">
            <a:avLst/>
          </a:prstGeom>
        </p:spPr>
        <p:txBody>
          <a:bodyPr anchor="t" rtlCol="false" tIns="0" lIns="0" bIns="0" rIns="0">
            <a:spAutoFit/>
          </a:bodyPr>
          <a:lstStyle/>
          <a:p>
            <a:pPr algn="ctr" marL="0" indent="0" lvl="0">
              <a:lnSpc>
                <a:spcPts val="5404"/>
              </a:lnSpc>
            </a:pPr>
            <a:r>
              <a:rPr lang="en-US" b="true" sz="4699">
                <a:solidFill>
                  <a:srgbClr val="000000"/>
                </a:solidFill>
                <a:latin typeface="Poppins Bold"/>
                <a:ea typeface="Poppins Bold"/>
                <a:cs typeface="Poppins Bold"/>
                <a:sym typeface="Poppins Bold"/>
              </a:rPr>
              <a:t>Quy Trình Xử Lý Hợp Đồng</a:t>
            </a:r>
          </a:p>
        </p:txBody>
      </p:sp>
      <p:sp>
        <p:nvSpPr>
          <p:cNvPr name="TextBox 32" id="32"/>
          <p:cNvSpPr txBox="true"/>
          <p:nvPr/>
        </p:nvSpPr>
        <p:spPr>
          <a:xfrm rot="0">
            <a:off x="10229726" y="2957464"/>
            <a:ext cx="5002227" cy="375639"/>
          </a:xfrm>
          <a:prstGeom prst="rect">
            <a:avLst/>
          </a:prstGeom>
        </p:spPr>
        <p:txBody>
          <a:bodyPr anchor="t" rtlCol="false" tIns="0" lIns="0" bIns="0" rIns="0">
            <a:spAutoFit/>
          </a:bodyPr>
          <a:lstStyle/>
          <a:p>
            <a:pPr algn="l" marL="0" indent="0" lvl="0">
              <a:lnSpc>
                <a:spcPts val="2920"/>
              </a:lnSpc>
              <a:spcBef>
                <a:spcPct val="0"/>
              </a:spcBef>
            </a:pPr>
            <a:r>
              <a:rPr lang="en-US" b="true" sz="2086">
                <a:solidFill>
                  <a:srgbClr val="000000"/>
                </a:solidFill>
                <a:latin typeface="Poppins Bold"/>
                <a:ea typeface="Poppins Bold"/>
                <a:cs typeface="Poppins Bold"/>
                <a:sym typeface="Poppins Bold"/>
              </a:rPr>
              <a:t>Tạo hợp đồng</a:t>
            </a:r>
          </a:p>
        </p:txBody>
      </p:sp>
      <p:sp>
        <p:nvSpPr>
          <p:cNvPr name="TextBox 33" id="33"/>
          <p:cNvSpPr txBox="true"/>
          <p:nvPr/>
        </p:nvSpPr>
        <p:spPr>
          <a:xfrm rot="0">
            <a:off x="8966004" y="3067906"/>
            <a:ext cx="682286" cy="618377"/>
          </a:xfrm>
          <a:prstGeom prst="rect">
            <a:avLst/>
          </a:prstGeom>
        </p:spPr>
        <p:txBody>
          <a:bodyPr anchor="t" rtlCol="false" tIns="0" lIns="0" bIns="0" rIns="0">
            <a:spAutoFit/>
          </a:bodyPr>
          <a:lstStyle/>
          <a:p>
            <a:pPr algn="ctr" marL="0" indent="0" lvl="0">
              <a:lnSpc>
                <a:spcPts val="4766"/>
              </a:lnSpc>
              <a:spcBef>
                <a:spcPct val="0"/>
              </a:spcBef>
            </a:pPr>
            <a:r>
              <a:rPr lang="en-US" b="true" sz="3404">
                <a:solidFill>
                  <a:srgbClr val="FFFFFF"/>
                </a:solidFill>
                <a:latin typeface="Poppins Bold"/>
                <a:ea typeface="Poppins Bold"/>
                <a:cs typeface="Poppins Bold"/>
                <a:sym typeface="Poppins Bold"/>
              </a:rPr>
              <a:t>01</a:t>
            </a:r>
          </a:p>
        </p:txBody>
      </p:sp>
      <p:sp>
        <p:nvSpPr>
          <p:cNvPr name="TextBox 34" id="34"/>
          <p:cNvSpPr txBox="true"/>
          <p:nvPr/>
        </p:nvSpPr>
        <p:spPr>
          <a:xfrm rot="0">
            <a:off x="8779687" y="4638179"/>
            <a:ext cx="1054919" cy="618377"/>
          </a:xfrm>
          <a:prstGeom prst="rect">
            <a:avLst/>
          </a:prstGeom>
        </p:spPr>
        <p:txBody>
          <a:bodyPr anchor="t" rtlCol="false" tIns="0" lIns="0" bIns="0" rIns="0">
            <a:spAutoFit/>
          </a:bodyPr>
          <a:lstStyle/>
          <a:p>
            <a:pPr algn="ctr" marL="0" indent="0" lvl="0">
              <a:lnSpc>
                <a:spcPts val="4766"/>
              </a:lnSpc>
              <a:spcBef>
                <a:spcPct val="0"/>
              </a:spcBef>
            </a:pPr>
            <a:r>
              <a:rPr lang="en-US" b="true" sz="3404">
                <a:solidFill>
                  <a:srgbClr val="FFFFFF"/>
                </a:solidFill>
                <a:latin typeface="Poppins Bold"/>
                <a:ea typeface="Poppins Bold"/>
                <a:cs typeface="Poppins Bold"/>
                <a:sym typeface="Poppins Bold"/>
              </a:rPr>
              <a:t>02</a:t>
            </a:r>
          </a:p>
        </p:txBody>
      </p:sp>
      <p:sp>
        <p:nvSpPr>
          <p:cNvPr name="TextBox 35" id="35"/>
          <p:cNvSpPr txBox="true"/>
          <p:nvPr/>
        </p:nvSpPr>
        <p:spPr>
          <a:xfrm rot="0">
            <a:off x="8831085" y="6206887"/>
            <a:ext cx="952124" cy="618377"/>
          </a:xfrm>
          <a:prstGeom prst="rect">
            <a:avLst/>
          </a:prstGeom>
        </p:spPr>
        <p:txBody>
          <a:bodyPr anchor="t" rtlCol="false" tIns="0" lIns="0" bIns="0" rIns="0">
            <a:spAutoFit/>
          </a:bodyPr>
          <a:lstStyle/>
          <a:p>
            <a:pPr algn="ctr" marL="0" indent="0" lvl="0">
              <a:lnSpc>
                <a:spcPts val="4766"/>
              </a:lnSpc>
              <a:spcBef>
                <a:spcPct val="0"/>
              </a:spcBef>
            </a:pPr>
            <a:r>
              <a:rPr lang="en-US" b="true" sz="3404">
                <a:solidFill>
                  <a:srgbClr val="FFFFFF"/>
                </a:solidFill>
                <a:latin typeface="Poppins Bold"/>
                <a:ea typeface="Poppins Bold"/>
                <a:cs typeface="Poppins Bold"/>
                <a:sym typeface="Poppins Bold"/>
              </a:rPr>
              <a:t>03</a:t>
            </a:r>
          </a:p>
        </p:txBody>
      </p:sp>
      <p:sp>
        <p:nvSpPr>
          <p:cNvPr name="TextBox 36" id="36"/>
          <p:cNvSpPr txBox="true"/>
          <p:nvPr/>
        </p:nvSpPr>
        <p:spPr>
          <a:xfrm rot="0">
            <a:off x="8831085" y="7778856"/>
            <a:ext cx="952124" cy="618377"/>
          </a:xfrm>
          <a:prstGeom prst="rect">
            <a:avLst/>
          </a:prstGeom>
        </p:spPr>
        <p:txBody>
          <a:bodyPr anchor="t" rtlCol="false" tIns="0" lIns="0" bIns="0" rIns="0">
            <a:spAutoFit/>
          </a:bodyPr>
          <a:lstStyle/>
          <a:p>
            <a:pPr algn="ctr" marL="0" indent="0" lvl="0">
              <a:lnSpc>
                <a:spcPts val="4766"/>
              </a:lnSpc>
              <a:spcBef>
                <a:spcPct val="0"/>
              </a:spcBef>
            </a:pPr>
            <a:r>
              <a:rPr lang="en-US" b="true" sz="3404">
                <a:solidFill>
                  <a:srgbClr val="FFFFFF"/>
                </a:solidFill>
                <a:latin typeface="Poppins Bold"/>
                <a:ea typeface="Poppins Bold"/>
                <a:cs typeface="Poppins Bold"/>
                <a:sym typeface="Poppins Bold"/>
              </a:rPr>
              <a:t>04</a:t>
            </a:r>
          </a:p>
        </p:txBody>
      </p:sp>
      <p:sp>
        <p:nvSpPr>
          <p:cNvPr name="TextBox 37" id="37"/>
          <p:cNvSpPr txBox="true"/>
          <p:nvPr/>
        </p:nvSpPr>
        <p:spPr>
          <a:xfrm rot="0">
            <a:off x="10229726" y="4559725"/>
            <a:ext cx="4738308" cy="375639"/>
          </a:xfrm>
          <a:prstGeom prst="rect">
            <a:avLst/>
          </a:prstGeom>
        </p:spPr>
        <p:txBody>
          <a:bodyPr anchor="t" rtlCol="false" tIns="0" lIns="0" bIns="0" rIns="0">
            <a:spAutoFit/>
          </a:bodyPr>
          <a:lstStyle/>
          <a:p>
            <a:pPr algn="l" marL="0" indent="0" lvl="0">
              <a:lnSpc>
                <a:spcPts val="2920"/>
              </a:lnSpc>
              <a:spcBef>
                <a:spcPct val="0"/>
              </a:spcBef>
            </a:pPr>
            <a:r>
              <a:rPr lang="en-US" b="true" sz="2086">
                <a:solidFill>
                  <a:srgbClr val="000000"/>
                </a:solidFill>
                <a:latin typeface="Poppins Bold"/>
                <a:ea typeface="Poppins Bold"/>
                <a:cs typeface="Poppins Bold"/>
                <a:sym typeface="Poppins Bold"/>
              </a:rPr>
              <a:t>Gửi phê duyệt &amp; Kiểm tra nội dung</a:t>
            </a:r>
          </a:p>
        </p:txBody>
      </p:sp>
      <p:sp>
        <p:nvSpPr>
          <p:cNvPr name="TextBox 38" id="38"/>
          <p:cNvSpPr txBox="true"/>
          <p:nvPr/>
        </p:nvSpPr>
        <p:spPr>
          <a:xfrm rot="0">
            <a:off x="10229726" y="6101635"/>
            <a:ext cx="3363266" cy="375639"/>
          </a:xfrm>
          <a:prstGeom prst="rect">
            <a:avLst/>
          </a:prstGeom>
        </p:spPr>
        <p:txBody>
          <a:bodyPr anchor="t" rtlCol="false" tIns="0" lIns="0" bIns="0" rIns="0">
            <a:spAutoFit/>
          </a:bodyPr>
          <a:lstStyle/>
          <a:p>
            <a:pPr algn="l" marL="0" indent="0" lvl="0">
              <a:lnSpc>
                <a:spcPts val="2920"/>
              </a:lnSpc>
              <a:spcBef>
                <a:spcPct val="0"/>
              </a:spcBef>
            </a:pPr>
            <a:r>
              <a:rPr lang="en-US" b="true" sz="2086">
                <a:solidFill>
                  <a:srgbClr val="000000"/>
                </a:solidFill>
                <a:latin typeface="Poppins Bold"/>
                <a:ea typeface="Poppins Bold"/>
                <a:cs typeface="Poppins Bold"/>
                <a:sym typeface="Poppins Bold"/>
              </a:rPr>
              <a:t>Ký hợp đồng</a:t>
            </a:r>
          </a:p>
        </p:txBody>
      </p:sp>
      <p:sp>
        <p:nvSpPr>
          <p:cNvPr name="TextBox 39" id="39"/>
          <p:cNvSpPr txBox="true"/>
          <p:nvPr/>
        </p:nvSpPr>
        <p:spPr>
          <a:xfrm rot="0">
            <a:off x="10229726" y="7673605"/>
            <a:ext cx="3723163" cy="375639"/>
          </a:xfrm>
          <a:prstGeom prst="rect">
            <a:avLst/>
          </a:prstGeom>
        </p:spPr>
        <p:txBody>
          <a:bodyPr anchor="t" rtlCol="false" tIns="0" lIns="0" bIns="0" rIns="0">
            <a:spAutoFit/>
          </a:bodyPr>
          <a:lstStyle/>
          <a:p>
            <a:pPr algn="l" marL="0" indent="0" lvl="0">
              <a:lnSpc>
                <a:spcPts val="2920"/>
              </a:lnSpc>
              <a:spcBef>
                <a:spcPct val="0"/>
              </a:spcBef>
            </a:pPr>
            <a:r>
              <a:rPr lang="en-US" b="true" sz="2086">
                <a:solidFill>
                  <a:srgbClr val="000000"/>
                </a:solidFill>
                <a:latin typeface="Poppins Bold"/>
                <a:ea typeface="Poppins Bold"/>
                <a:cs typeface="Poppins Bold"/>
                <a:sym typeface="Poppins Bold"/>
              </a:rPr>
              <a:t>Lưu trữ &amp; Nhắc hạn/gia hạn</a:t>
            </a:r>
          </a:p>
        </p:txBody>
      </p:sp>
      <p:sp>
        <p:nvSpPr>
          <p:cNvPr name="TextBox 40" id="40"/>
          <p:cNvSpPr txBox="true"/>
          <p:nvPr/>
        </p:nvSpPr>
        <p:spPr>
          <a:xfrm rot="0">
            <a:off x="10229726" y="3526728"/>
            <a:ext cx="7029574" cy="523875"/>
          </a:xfrm>
          <a:prstGeom prst="rect">
            <a:avLst/>
          </a:prstGeom>
        </p:spPr>
        <p:txBody>
          <a:bodyPr anchor="t" rtlCol="false" tIns="0" lIns="0" bIns="0" rIns="0">
            <a:spAutoFit/>
          </a:bodyPr>
          <a:lstStyle/>
          <a:p>
            <a:pPr algn="just" marL="0" indent="0" lvl="0">
              <a:lnSpc>
                <a:spcPts val="2093"/>
              </a:lnSpc>
            </a:pPr>
            <a:r>
              <a:rPr lang="en-US" sz="1744">
                <a:solidFill>
                  <a:srgbClr val="000000"/>
                </a:solidFill>
                <a:latin typeface="Poppins"/>
                <a:ea typeface="Poppins"/>
                <a:cs typeface="Poppins"/>
                <a:sym typeface="Poppins"/>
              </a:rPr>
              <a:t>Người dùng khởi tạo hợp đồng mới, nhập thông tin, đính kèm tài liệu và chọn quy trình phê duyệt phù hợp.</a:t>
            </a:r>
          </a:p>
        </p:txBody>
      </p:sp>
      <p:sp>
        <p:nvSpPr>
          <p:cNvPr name="TextBox 41" id="41"/>
          <p:cNvSpPr txBox="true"/>
          <p:nvPr/>
        </p:nvSpPr>
        <p:spPr>
          <a:xfrm rot="0">
            <a:off x="10229726" y="5128990"/>
            <a:ext cx="7029574" cy="523875"/>
          </a:xfrm>
          <a:prstGeom prst="rect">
            <a:avLst/>
          </a:prstGeom>
        </p:spPr>
        <p:txBody>
          <a:bodyPr anchor="t" rtlCol="false" tIns="0" lIns="0" bIns="0" rIns="0">
            <a:spAutoFit/>
          </a:bodyPr>
          <a:lstStyle/>
          <a:p>
            <a:pPr algn="just" marL="0" indent="0" lvl="0">
              <a:lnSpc>
                <a:spcPts val="2093"/>
              </a:lnSpc>
            </a:pPr>
            <a:r>
              <a:rPr lang="en-US" sz="1744">
                <a:solidFill>
                  <a:srgbClr val="000000"/>
                </a:solidFill>
                <a:latin typeface="Poppins"/>
                <a:ea typeface="Poppins"/>
                <a:cs typeface="Poppins"/>
                <a:sym typeface="Poppins"/>
              </a:rPr>
              <a:t>Hợp đồng được gửi lên chuỗi phê duyệt nhiều cấp. Từng cấp kiểm tra nội dung, yêu cầu chỉnh sửa hoặc phê duyệt.</a:t>
            </a:r>
          </a:p>
        </p:txBody>
      </p:sp>
      <p:sp>
        <p:nvSpPr>
          <p:cNvPr name="TextBox 42" id="42"/>
          <p:cNvSpPr txBox="true"/>
          <p:nvPr/>
        </p:nvSpPr>
        <p:spPr>
          <a:xfrm rot="0">
            <a:off x="10229726" y="6670900"/>
            <a:ext cx="7029574" cy="523875"/>
          </a:xfrm>
          <a:prstGeom prst="rect">
            <a:avLst/>
          </a:prstGeom>
        </p:spPr>
        <p:txBody>
          <a:bodyPr anchor="t" rtlCol="false" tIns="0" lIns="0" bIns="0" rIns="0">
            <a:spAutoFit/>
          </a:bodyPr>
          <a:lstStyle/>
          <a:p>
            <a:pPr algn="just" marL="0" indent="0" lvl="0">
              <a:lnSpc>
                <a:spcPts val="2093"/>
              </a:lnSpc>
            </a:pPr>
            <a:r>
              <a:rPr lang="en-US" sz="1744">
                <a:solidFill>
                  <a:srgbClr val="000000"/>
                </a:solidFill>
                <a:latin typeface="Poppins"/>
                <a:ea typeface="Poppins"/>
                <a:cs typeface="Poppins"/>
                <a:sym typeface="Poppins"/>
              </a:rPr>
              <a:t>Các bên liên quan thực hiện ký hợp đồng điện tử. Hệ thống xác thực chữ ký và cập nhật trạng thái.</a:t>
            </a:r>
          </a:p>
        </p:txBody>
      </p:sp>
      <p:sp>
        <p:nvSpPr>
          <p:cNvPr name="TextBox 43" id="43"/>
          <p:cNvSpPr txBox="true"/>
          <p:nvPr/>
        </p:nvSpPr>
        <p:spPr>
          <a:xfrm rot="0">
            <a:off x="10229726" y="8242869"/>
            <a:ext cx="7029574" cy="523875"/>
          </a:xfrm>
          <a:prstGeom prst="rect">
            <a:avLst/>
          </a:prstGeom>
        </p:spPr>
        <p:txBody>
          <a:bodyPr anchor="t" rtlCol="false" tIns="0" lIns="0" bIns="0" rIns="0">
            <a:spAutoFit/>
          </a:bodyPr>
          <a:lstStyle/>
          <a:p>
            <a:pPr algn="just" marL="0" indent="0" lvl="0">
              <a:lnSpc>
                <a:spcPts val="2093"/>
              </a:lnSpc>
            </a:pPr>
            <a:r>
              <a:rPr lang="en-US" sz="1744">
                <a:solidFill>
                  <a:srgbClr val="000000"/>
                </a:solidFill>
                <a:latin typeface="Poppins"/>
                <a:ea typeface="Poppins"/>
                <a:cs typeface="Poppins"/>
                <a:sym typeface="Poppins"/>
              </a:rPr>
              <a:t>Hợp đồng được lưu trữ an toàn. Hệ thống tự động nhắc hạn và hỗ trợ gia hạn khi đến kỳ hết hiệu lực.</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8995798">
            <a:off x="4899020" y="11022230"/>
            <a:ext cx="13531543" cy="3065584"/>
            <a:chOff x="0" y="0"/>
            <a:chExt cx="3083192" cy="698500"/>
          </a:xfrm>
        </p:grpSpPr>
        <p:sp>
          <p:nvSpPr>
            <p:cNvPr name="Freeform 3" id="3"/>
            <p:cNvSpPr/>
            <p:nvPr/>
          </p:nvSpPr>
          <p:spPr>
            <a:xfrm flipH="false" flipV="false" rot="0">
              <a:off x="0" y="0"/>
              <a:ext cx="3083192" cy="698500"/>
            </a:xfrm>
            <a:custGeom>
              <a:avLst/>
              <a:gdLst/>
              <a:ahLst/>
              <a:cxnLst/>
              <a:rect r="r" b="b" t="t" l="l"/>
              <a:pathLst>
                <a:path h="698500" w="3083192">
                  <a:moveTo>
                    <a:pt x="3083192" y="349250"/>
                  </a:moveTo>
                  <a:lnTo>
                    <a:pt x="2879992" y="698500"/>
                  </a:lnTo>
                  <a:lnTo>
                    <a:pt x="203200" y="698500"/>
                  </a:lnTo>
                  <a:lnTo>
                    <a:pt x="0" y="349250"/>
                  </a:lnTo>
                  <a:lnTo>
                    <a:pt x="203200" y="0"/>
                  </a:lnTo>
                  <a:lnTo>
                    <a:pt x="2879992" y="0"/>
                  </a:lnTo>
                  <a:lnTo>
                    <a:pt x="3083192" y="349250"/>
                  </a:lnTo>
                  <a:close/>
                </a:path>
              </a:pathLst>
            </a:custGeom>
            <a:solidFill>
              <a:srgbClr val="FFA916"/>
            </a:solidFill>
          </p:spPr>
        </p:sp>
        <p:sp>
          <p:nvSpPr>
            <p:cNvPr name="TextBox 4" id="4"/>
            <p:cNvSpPr txBox="true"/>
            <p:nvPr/>
          </p:nvSpPr>
          <p:spPr>
            <a:xfrm>
              <a:off x="114300" y="-57150"/>
              <a:ext cx="2854592" cy="755650"/>
            </a:xfrm>
            <a:prstGeom prst="rect">
              <a:avLst/>
            </a:prstGeom>
          </p:spPr>
          <p:txBody>
            <a:bodyPr anchor="ctr" rtlCol="false" tIns="50800" lIns="50800" bIns="50800" rIns="50800"/>
            <a:lstStyle/>
            <a:p>
              <a:pPr algn="ctr" marL="0" indent="0" lvl="0">
                <a:lnSpc>
                  <a:spcPts val="2939"/>
                </a:lnSpc>
              </a:pPr>
            </a:p>
          </p:txBody>
        </p:sp>
      </p:grpSp>
      <p:grpSp>
        <p:nvGrpSpPr>
          <p:cNvPr name="Group 5" id="5"/>
          <p:cNvGrpSpPr/>
          <p:nvPr/>
        </p:nvGrpSpPr>
        <p:grpSpPr>
          <a:xfrm rot="-8995798">
            <a:off x="-355651" y="9121343"/>
            <a:ext cx="13531543" cy="3065584"/>
            <a:chOff x="0" y="0"/>
            <a:chExt cx="3083192" cy="698500"/>
          </a:xfrm>
        </p:grpSpPr>
        <p:sp>
          <p:nvSpPr>
            <p:cNvPr name="Freeform 6" id="6"/>
            <p:cNvSpPr/>
            <p:nvPr/>
          </p:nvSpPr>
          <p:spPr>
            <a:xfrm flipH="false" flipV="false" rot="0">
              <a:off x="0" y="0"/>
              <a:ext cx="3083192" cy="698500"/>
            </a:xfrm>
            <a:custGeom>
              <a:avLst/>
              <a:gdLst/>
              <a:ahLst/>
              <a:cxnLst/>
              <a:rect r="r" b="b" t="t" l="l"/>
              <a:pathLst>
                <a:path h="698500" w="3083192">
                  <a:moveTo>
                    <a:pt x="3083192" y="349250"/>
                  </a:moveTo>
                  <a:lnTo>
                    <a:pt x="2879992" y="698500"/>
                  </a:lnTo>
                  <a:lnTo>
                    <a:pt x="203200" y="698500"/>
                  </a:lnTo>
                  <a:lnTo>
                    <a:pt x="0" y="349250"/>
                  </a:lnTo>
                  <a:lnTo>
                    <a:pt x="203200" y="0"/>
                  </a:lnTo>
                  <a:lnTo>
                    <a:pt x="2879992" y="0"/>
                  </a:lnTo>
                  <a:lnTo>
                    <a:pt x="3083192" y="349250"/>
                  </a:lnTo>
                  <a:close/>
                </a:path>
              </a:pathLst>
            </a:custGeom>
            <a:solidFill>
              <a:srgbClr val="024A59"/>
            </a:solidFill>
          </p:spPr>
        </p:sp>
        <p:sp>
          <p:nvSpPr>
            <p:cNvPr name="TextBox 7" id="7"/>
            <p:cNvSpPr txBox="true"/>
            <p:nvPr/>
          </p:nvSpPr>
          <p:spPr>
            <a:xfrm>
              <a:off x="114300" y="-57150"/>
              <a:ext cx="2854592" cy="755650"/>
            </a:xfrm>
            <a:prstGeom prst="rect">
              <a:avLst/>
            </a:prstGeom>
          </p:spPr>
          <p:txBody>
            <a:bodyPr anchor="ctr" rtlCol="false" tIns="50800" lIns="50800" bIns="50800" rIns="50800"/>
            <a:lstStyle/>
            <a:p>
              <a:pPr algn="ctr" marL="0" indent="0" lvl="0">
                <a:lnSpc>
                  <a:spcPts val="2939"/>
                </a:lnSpc>
              </a:pPr>
            </a:p>
          </p:txBody>
        </p:sp>
      </p:grpSp>
      <p:grpSp>
        <p:nvGrpSpPr>
          <p:cNvPr name="Group 8" id="8"/>
          <p:cNvGrpSpPr/>
          <p:nvPr/>
        </p:nvGrpSpPr>
        <p:grpSpPr>
          <a:xfrm rot="-8998130">
            <a:off x="-5149813" y="-1738765"/>
            <a:ext cx="12822069" cy="6906116"/>
            <a:chOff x="0" y="0"/>
            <a:chExt cx="1296853" cy="698500"/>
          </a:xfrm>
        </p:grpSpPr>
        <p:sp>
          <p:nvSpPr>
            <p:cNvPr name="Freeform 9" id="9"/>
            <p:cNvSpPr/>
            <p:nvPr/>
          </p:nvSpPr>
          <p:spPr>
            <a:xfrm flipH="false" flipV="false" rot="0">
              <a:off x="0" y="0"/>
              <a:ext cx="1296853" cy="698500"/>
            </a:xfrm>
            <a:custGeom>
              <a:avLst/>
              <a:gdLst/>
              <a:ahLst/>
              <a:cxnLst/>
              <a:rect r="r" b="b" t="t" l="l"/>
              <a:pathLst>
                <a:path h="698500" w="1296853">
                  <a:moveTo>
                    <a:pt x="1296853" y="349250"/>
                  </a:moveTo>
                  <a:lnTo>
                    <a:pt x="1093653" y="698500"/>
                  </a:lnTo>
                  <a:lnTo>
                    <a:pt x="203200" y="698500"/>
                  </a:lnTo>
                  <a:lnTo>
                    <a:pt x="0" y="349250"/>
                  </a:lnTo>
                  <a:lnTo>
                    <a:pt x="203200" y="0"/>
                  </a:lnTo>
                  <a:lnTo>
                    <a:pt x="1093653" y="0"/>
                  </a:lnTo>
                  <a:lnTo>
                    <a:pt x="1296853" y="349250"/>
                  </a:lnTo>
                  <a:close/>
                </a:path>
              </a:pathLst>
            </a:custGeom>
            <a:solidFill>
              <a:srgbClr val="024A59"/>
            </a:solidFill>
          </p:spPr>
        </p:sp>
        <p:sp>
          <p:nvSpPr>
            <p:cNvPr name="TextBox 10" id="10"/>
            <p:cNvSpPr txBox="true"/>
            <p:nvPr/>
          </p:nvSpPr>
          <p:spPr>
            <a:xfrm>
              <a:off x="114300" y="-57150"/>
              <a:ext cx="1068253" cy="755650"/>
            </a:xfrm>
            <a:prstGeom prst="rect">
              <a:avLst/>
            </a:prstGeom>
          </p:spPr>
          <p:txBody>
            <a:bodyPr anchor="ctr" rtlCol="false" tIns="50800" lIns="50800" bIns="50800" rIns="50800"/>
            <a:lstStyle/>
            <a:p>
              <a:pPr algn="ctr" marL="0" indent="0" lvl="0">
                <a:lnSpc>
                  <a:spcPts val="2939"/>
                </a:lnSpc>
              </a:pPr>
            </a:p>
          </p:txBody>
        </p:sp>
      </p:grpSp>
      <p:grpSp>
        <p:nvGrpSpPr>
          <p:cNvPr name="Group 11" id="11"/>
          <p:cNvGrpSpPr/>
          <p:nvPr/>
        </p:nvGrpSpPr>
        <p:grpSpPr>
          <a:xfrm rot="-8998130">
            <a:off x="-5506703" y="-114237"/>
            <a:ext cx="14503583" cy="7811799"/>
            <a:chOff x="0" y="0"/>
            <a:chExt cx="1296853" cy="698500"/>
          </a:xfrm>
        </p:grpSpPr>
        <p:sp>
          <p:nvSpPr>
            <p:cNvPr name="Freeform 12" id="12"/>
            <p:cNvSpPr/>
            <p:nvPr/>
          </p:nvSpPr>
          <p:spPr>
            <a:xfrm flipH="false" flipV="false" rot="0">
              <a:off x="0" y="0"/>
              <a:ext cx="1296853" cy="698500"/>
            </a:xfrm>
            <a:custGeom>
              <a:avLst/>
              <a:gdLst/>
              <a:ahLst/>
              <a:cxnLst/>
              <a:rect r="r" b="b" t="t" l="l"/>
              <a:pathLst>
                <a:path h="698500" w="1296853">
                  <a:moveTo>
                    <a:pt x="1296853" y="349250"/>
                  </a:moveTo>
                  <a:lnTo>
                    <a:pt x="1093653" y="698500"/>
                  </a:lnTo>
                  <a:lnTo>
                    <a:pt x="203200" y="698500"/>
                  </a:lnTo>
                  <a:lnTo>
                    <a:pt x="0" y="349250"/>
                  </a:lnTo>
                  <a:lnTo>
                    <a:pt x="203200" y="0"/>
                  </a:lnTo>
                  <a:lnTo>
                    <a:pt x="1093653" y="0"/>
                  </a:lnTo>
                  <a:lnTo>
                    <a:pt x="1296853" y="349250"/>
                  </a:lnTo>
                  <a:close/>
                </a:path>
              </a:pathLst>
            </a:custGeom>
            <a:solidFill>
              <a:srgbClr val="FFA916"/>
            </a:solidFill>
          </p:spPr>
        </p:sp>
        <p:sp>
          <p:nvSpPr>
            <p:cNvPr name="TextBox 13" id="13"/>
            <p:cNvSpPr txBox="true"/>
            <p:nvPr/>
          </p:nvSpPr>
          <p:spPr>
            <a:xfrm>
              <a:off x="114300" y="-57150"/>
              <a:ext cx="1068253" cy="755650"/>
            </a:xfrm>
            <a:prstGeom prst="rect">
              <a:avLst/>
            </a:prstGeom>
          </p:spPr>
          <p:txBody>
            <a:bodyPr anchor="ctr" rtlCol="false" tIns="50800" lIns="50800" bIns="50800" rIns="50800"/>
            <a:lstStyle/>
            <a:p>
              <a:pPr algn="ctr" marL="0" indent="0" lvl="0">
                <a:lnSpc>
                  <a:spcPts val="2939"/>
                </a:lnSpc>
              </a:pPr>
            </a:p>
          </p:txBody>
        </p:sp>
      </p:grpSp>
      <p:sp>
        <p:nvSpPr>
          <p:cNvPr name="Freeform 14" id="14"/>
          <p:cNvSpPr/>
          <p:nvPr/>
        </p:nvSpPr>
        <p:spPr>
          <a:xfrm flipH="false" flipV="false" rot="-1813147">
            <a:off x="-280493" y="1312669"/>
            <a:ext cx="8743695" cy="7661663"/>
          </a:xfrm>
          <a:custGeom>
            <a:avLst/>
            <a:gdLst/>
            <a:ahLst/>
            <a:cxnLst/>
            <a:rect r="r" b="b" t="t" l="l"/>
            <a:pathLst>
              <a:path h="7661663" w="8743695">
                <a:moveTo>
                  <a:pt x="0" y="0"/>
                </a:moveTo>
                <a:lnTo>
                  <a:pt x="8743694" y="0"/>
                </a:lnTo>
                <a:lnTo>
                  <a:pt x="8743694" y="7661662"/>
                </a:lnTo>
                <a:lnTo>
                  <a:pt x="0" y="7661662"/>
                </a:lnTo>
                <a:lnTo>
                  <a:pt x="0" y="0"/>
                </a:lnTo>
                <a:close/>
              </a:path>
            </a:pathLst>
          </a:custGeom>
          <a:blipFill>
            <a:blip r:embed="rId2"/>
            <a:stretch>
              <a:fillRect l="0" t="0" r="0" b="0"/>
            </a:stretch>
          </a:blipFill>
        </p:spPr>
      </p:sp>
      <p:grpSp>
        <p:nvGrpSpPr>
          <p:cNvPr name="Group 15" id="15"/>
          <p:cNvGrpSpPr/>
          <p:nvPr/>
        </p:nvGrpSpPr>
        <p:grpSpPr>
          <a:xfrm rot="0">
            <a:off x="478181" y="939081"/>
            <a:ext cx="7226346" cy="8408839"/>
            <a:chOff x="0" y="0"/>
            <a:chExt cx="698500" cy="812800"/>
          </a:xfrm>
        </p:grpSpPr>
        <p:sp>
          <p:nvSpPr>
            <p:cNvPr name="Freeform 16" id="16"/>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24A59"/>
            </a:solidFill>
          </p:spPr>
        </p:sp>
        <p:sp>
          <p:nvSpPr>
            <p:cNvPr name="TextBox 17" id="17"/>
            <p:cNvSpPr txBox="true"/>
            <p:nvPr/>
          </p:nvSpPr>
          <p:spPr>
            <a:xfrm>
              <a:off x="0" y="82550"/>
              <a:ext cx="698500" cy="590550"/>
            </a:xfrm>
            <a:prstGeom prst="rect">
              <a:avLst/>
            </a:prstGeom>
          </p:spPr>
          <p:txBody>
            <a:bodyPr anchor="ctr" rtlCol="false" tIns="50800" lIns="50800" bIns="50800" rIns="50800"/>
            <a:lstStyle/>
            <a:p>
              <a:pPr algn="ctr" marL="0" indent="0" lvl="0">
                <a:lnSpc>
                  <a:spcPts val="2939"/>
                </a:lnSpc>
              </a:pPr>
            </a:p>
          </p:txBody>
        </p:sp>
      </p:grpSp>
      <p:grpSp>
        <p:nvGrpSpPr>
          <p:cNvPr name="Group 18" id="18"/>
          <p:cNvGrpSpPr>
            <a:grpSpLocks noChangeAspect="true"/>
          </p:cNvGrpSpPr>
          <p:nvPr/>
        </p:nvGrpSpPr>
        <p:grpSpPr>
          <a:xfrm rot="0">
            <a:off x="701996" y="1229804"/>
            <a:ext cx="6778716" cy="7827392"/>
            <a:chOff x="0" y="0"/>
            <a:chExt cx="31287555" cy="36127779"/>
          </a:xfrm>
        </p:grpSpPr>
        <p:sp>
          <p:nvSpPr>
            <p:cNvPr name="Freeform 19" id="19"/>
            <p:cNvSpPr/>
            <p:nvPr/>
          </p:nvSpPr>
          <p:spPr>
            <a:xfrm flipH="false" flipV="false" rot="0">
              <a:off x="0" y="0"/>
              <a:ext cx="31287467" cy="36127817"/>
            </a:xfrm>
            <a:custGeom>
              <a:avLst/>
              <a:gdLst/>
              <a:ahLst/>
              <a:cxnLst/>
              <a:rect r="r" b="b" t="t" l="l"/>
              <a:pathLst>
                <a:path h="36127817" w="31287467">
                  <a:moveTo>
                    <a:pt x="15643733" y="0"/>
                  </a:moveTo>
                  <a:lnTo>
                    <a:pt x="0" y="9031859"/>
                  </a:lnTo>
                  <a:lnTo>
                    <a:pt x="0" y="27095831"/>
                  </a:lnTo>
                  <a:lnTo>
                    <a:pt x="15643733" y="36127817"/>
                  </a:lnTo>
                  <a:lnTo>
                    <a:pt x="31287467" y="27095958"/>
                  </a:lnTo>
                  <a:lnTo>
                    <a:pt x="31287467" y="9031859"/>
                  </a:lnTo>
                  <a:lnTo>
                    <a:pt x="15643861" y="0"/>
                  </a:lnTo>
                  <a:close/>
                </a:path>
              </a:pathLst>
            </a:custGeom>
            <a:blipFill>
              <a:blip r:embed="rId3"/>
              <a:stretch>
                <a:fillRect l="0" t="-3540" r="0" b="-3540"/>
              </a:stretch>
            </a:blipFill>
          </p:spPr>
        </p:sp>
      </p:grpSp>
      <p:grpSp>
        <p:nvGrpSpPr>
          <p:cNvPr name="Group 20" id="20"/>
          <p:cNvGrpSpPr/>
          <p:nvPr/>
        </p:nvGrpSpPr>
        <p:grpSpPr>
          <a:xfrm rot="0">
            <a:off x="16200407" y="4333410"/>
            <a:ext cx="1058893" cy="909987"/>
            <a:chOff x="0" y="0"/>
            <a:chExt cx="1411858" cy="1213315"/>
          </a:xfrm>
        </p:grpSpPr>
        <p:grpSp>
          <p:nvGrpSpPr>
            <p:cNvPr name="Group 21" id="21"/>
            <p:cNvGrpSpPr/>
            <p:nvPr/>
          </p:nvGrpSpPr>
          <p:grpSpPr>
            <a:xfrm rot="0">
              <a:off x="0" y="0"/>
              <a:ext cx="1411858" cy="1213315"/>
              <a:chOff x="0" y="0"/>
              <a:chExt cx="812800" cy="698500"/>
            </a:xfrm>
          </p:grpSpPr>
          <p:sp>
            <p:nvSpPr>
              <p:cNvPr name="Freeform 22" id="22"/>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24A59"/>
              </a:solidFill>
              <a:ln w="57150" cap="sq">
                <a:solidFill>
                  <a:srgbClr val="FFA916"/>
                </a:solidFill>
                <a:prstDash val="solid"/>
                <a:miter/>
              </a:ln>
            </p:spPr>
          </p:sp>
          <p:sp>
            <p:nvSpPr>
              <p:cNvPr name="TextBox 23" id="23"/>
              <p:cNvSpPr txBox="true"/>
              <p:nvPr/>
            </p:nvSpPr>
            <p:spPr>
              <a:xfrm>
                <a:off x="114300" y="-57150"/>
                <a:ext cx="584200" cy="755650"/>
              </a:xfrm>
              <a:prstGeom prst="rect">
                <a:avLst/>
              </a:prstGeom>
            </p:spPr>
            <p:txBody>
              <a:bodyPr anchor="ctr" rtlCol="false" tIns="50800" lIns="50800" bIns="50800" rIns="50800"/>
              <a:lstStyle/>
              <a:p>
                <a:pPr algn="ctr" marL="0" indent="0" lvl="0">
                  <a:lnSpc>
                    <a:spcPts val="2659"/>
                  </a:lnSpc>
                </a:pPr>
              </a:p>
            </p:txBody>
          </p:sp>
        </p:grpSp>
        <p:sp>
          <p:nvSpPr>
            <p:cNvPr name="Freeform 24" id="24"/>
            <p:cNvSpPr/>
            <p:nvPr/>
          </p:nvSpPr>
          <p:spPr>
            <a:xfrm flipH="false" flipV="false" rot="0">
              <a:off x="279464" y="236166"/>
              <a:ext cx="852931" cy="740983"/>
            </a:xfrm>
            <a:custGeom>
              <a:avLst/>
              <a:gdLst/>
              <a:ahLst/>
              <a:cxnLst/>
              <a:rect r="r" b="b" t="t" l="l"/>
              <a:pathLst>
                <a:path h="740983" w="852931">
                  <a:moveTo>
                    <a:pt x="0" y="0"/>
                  </a:moveTo>
                  <a:lnTo>
                    <a:pt x="852930" y="0"/>
                  </a:lnTo>
                  <a:lnTo>
                    <a:pt x="852930" y="740983"/>
                  </a:lnTo>
                  <a:lnTo>
                    <a:pt x="0" y="740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25" id="25"/>
          <p:cNvGrpSpPr/>
          <p:nvPr/>
        </p:nvGrpSpPr>
        <p:grpSpPr>
          <a:xfrm rot="0">
            <a:off x="16200407" y="5926766"/>
            <a:ext cx="1058893" cy="909987"/>
            <a:chOff x="0" y="0"/>
            <a:chExt cx="1411858" cy="1213315"/>
          </a:xfrm>
        </p:grpSpPr>
        <p:grpSp>
          <p:nvGrpSpPr>
            <p:cNvPr name="Group 26" id="26"/>
            <p:cNvGrpSpPr/>
            <p:nvPr/>
          </p:nvGrpSpPr>
          <p:grpSpPr>
            <a:xfrm rot="0">
              <a:off x="0" y="0"/>
              <a:ext cx="1411858" cy="1213315"/>
              <a:chOff x="0" y="0"/>
              <a:chExt cx="812800" cy="698500"/>
            </a:xfrm>
          </p:grpSpPr>
          <p:sp>
            <p:nvSpPr>
              <p:cNvPr name="Freeform 27" id="27"/>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24A59"/>
              </a:solidFill>
              <a:ln w="57150" cap="sq">
                <a:solidFill>
                  <a:srgbClr val="FFA916"/>
                </a:solidFill>
                <a:prstDash val="solid"/>
                <a:miter/>
              </a:ln>
            </p:spPr>
          </p:sp>
          <p:sp>
            <p:nvSpPr>
              <p:cNvPr name="TextBox 28" id="28"/>
              <p:cNvSpPr txBox="true"/>
              <p:nvPr/>
            </p:nvSpPr>
            <p:spPr>
              <a:xfrm>
                <a:off x="114300" y="-57150"/>
                <a:ext cx="584200" cy="755650"/>
              </a:xfrm>
              <a:prstGeom prst="rect">
                <a:avLst/>
              </a:prstGeom>
            </p:spPr>
            <p:txBody>
              <a:bodyPr anchor="ctr" rtlCol="false" tIns="50800" lIns="50800" bIns="50800" rIns="50800"/>
              <a:lstStyle/>
              <a:p>
                <a:pPr algn="ctr" marL="0" indent="0" lvl="0">
                  <a:lnSpc>
                    <a:spcPts val="2659"/>
                  </a:lnSpc>
                </a:pPr>
              </a:p>
            </p:txBody>
          </p:sp>
        </p:grpSp>
        <p:sp>
          <p:nvSpPr>
            <p:cNvPr name="Freeform 29" id="29"/>
            <p:cNvSpPr/>
            <p:nvPr/>
          </p:nvSpPr>
          <p:spPr>
            <a:xfrm flipH="false" flipV="false" rot="0">
              <a:off x="279464" y="236166"/>
              <a:ext cx="852931" cy="740983"/>
            </a:xfrm>
            <a:custGeom>
              <a:avLst/>
              <a:gdLst/>
              <a:ahLst/>
              <a:cxnLst/>
              <a:rect r="r" b="b" t="t" l="l"/>
              <a:pathLst>
                <a:path h="740983" w="852931">
                  <a:moveTo>
                    <a:pt x="0" y="0"/>
                  </a:moveTo>
                  <a:lnTo>
                    <a:pt x="852930" y="0"/>
                  </a:lnTo>
                  <a:lnTo>
                    <a:pt x="852930" y="740983"/>
                  </a:lnTo>
                  <a:lnTo>
                    <a:pt x="0" y="740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30" id="30"/>
          <p:cNvGrpSpPr/>
          <p:nvPr/>
        </p:nvGrpSpPr>
        <p:grpSpPr>
          <a:xfrm rot="0">
            <a:off x="16200407" y="7647314"/>
            <a:ext cx="1058893" cy="909987"/>
            <a:chOff x="0" y="0"/>
            <a:chExt cx="1411858" cy="1213315"/>
          </a:xfrm>
        </p:grpSpPr>
        <p:grpSp>
          <p:nvGrpSpPr>
            <p:cNvPr name="Group 31" id="31"/>
            <p:cNvGrpSpPr/>
            <p:nvPr/>
          </p:nvGrpSpPr>
          <p:grpSpPr>
            <a:xfrm rot="0">
              <a:off x="0" y="0"/>
              <a:ext cx="1411858" cy="1213315"/>
              <a:chOff x="0" y="0"/>
              <a:chExt cx="812800" cy="698500"/>
            </a:xfrm>
          </p:grpSpPr>
          <p:sp>
            <p:nvSpPr>
              <p:cNvPr name="Freeform 32" id="32"/>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24A59"/>
              </a:solidFill>
              <a:ln w="57150" cap="sq">
                <a:solidFill>
                  <a:srgbClr val="FFA916"/>
                </a:solidFill>
                <a:prstDash val="solid"/>
                <a:miter/>
              </a:ln>
            </p:spPr>
          </p:sp>
          <p:sp>
            <p:nvSpPr>
              <p:cNvPr name="TextBox 33" id="33"/>
              <p:cNvSpPr txBox="true"/>
              <p:nvPr/>
            </p:nvSpPr>
            <p:spPr>
              <a:xfrm>
                <a:off x="114300" y="-57150"/>
                <a:ext cx="584200" cy="755650"/>
              </a:xfrm>
              <a:prstGeom prst="rect">
                <a:avLst/>
              </a:prstGeom>
            </p:spPr>
            <p:txBody>
              <a:bodyPr anchor="ctr" rtlCol="false" tIns="50800" lIns="50800" bIns="50800" rIns="50800"/>
              <a:lstStyle/>
              <a:p>
                <a:pPr algn="ctr" marL="0" indent="0" lvl="0">
                  <a:lnSpc>
                    <a:spcPts val="2659"/>
                  </a:lnSpc>
                </a:pPr>
              </a:p>
            </p:txBody>
          </p:sp>
        </p:grpSp>
        <p:sp>
          <p:nvSpPr>
            <p:cNvPr name="Freeform 34" id="34"/>
            <p:cNvSpPr/>
            <p:nvPr/>
          </p:nvSpPr>
          <p:spPr>
            <a:xfrm flipH="false" flipV="false" rot="0">
              <a:off x="279464" y="236166"/>
              <a:ext cx="852931" cy="740983"/>
            </a:xfrm>
            <a:custGeom>
              <a:avLst/>
              <a:gdLst/>
              <a:ahLst/>
              <a:cxnLst/>
              <a:rect r="r" b="b" t="t" l="l"/>
              <a:pathLst>
                <a:path h="740983" w="852931">
                  <a:moveTo>
                    <a:pt x="0" y="0"/>
                  </a:moveTo>
                  <a:lnTo>
                    <a:pt x="852930" y="0"/>
                  </a:lnTo>
                  <a:lnTo>
                    <a:pt x="852930" y="740983"/>
                  </a:lnTo>
                  <a:lnTo>
                    <a:pt x="0" y="740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35" id="35"/>
          <p:cNvSpPr txBox="true"/>
          <p:nvPr/>
        </p:nvSpPr>
        <p:spPr>
          <a:xfrm rot="0">
            <a:off x="8848604" y="2423096"/>
            <a:ext cx="8410696" cy="1281992"/>
          </a:xfrm>
          <a:prstGeom prst="rect">
            <a:avLst/>
          </a:prstGeom>
        </p:spPr>
        <p:txBody>
          <a:bodyPr anchor="t" rtlCol="false" tIns="0" lIns="0" bIns="0" rIns="0">
            <a:spAutoFit/>
          </a:bodyPr>
          <a:lstStyle/>
          <a:p>
            <a:pPr algn="r" marL="0" indent="0" lvl="0">
              <a:lnSpc>
                <a:spcPts val="3322"/>
              </a:lnSpc>
            </a:pPr>
            <a:r>
              <a:rPr lang="en-US" sz="2555">
                <a:solidFill>
                  <a:srgbClr val="000000"/>
                </a:solidFill>
                <a:latin typeface="Poppins"/>
                <a:ea typeface="Poppins"/>
                <a:cs typeface="Poppins"/>
                <a:sym typeface="Poppins"/>
              </a:rPr>
              <a:t>Tổng quan dữ liệu hợp đồng theo thời gian thực. Các thẻ thống kê và biểu đồ trực quan giúp quản lý nắm bắt nhanh toàn bộ trạng thái hệ thống.</a:t>
            </a:r>
          </a:p>
        </p:txBody>
      </p:sp>
      <p:sp>
        <p:nvSpPr>
          <p:cNvPr name="TextBox 36" id="36"/>
          <p:cNvSpPr txBox="true"/>
          <p:nvPr/>
        </p:nvSpPr>
        <p:spPr>
          <a:xfrm rot="0">
            <a:off x="8848604" y="4740310"/>
            <a:ext cx="7197303" cy="891316"/>
          </a:xfrm>
          <a:prstGeom prst="rect">
            <a:avLst/>
          </a:prstGeom>
        </p:spPr>
        <p:txBody>
          <a:bodyPr anchor="t" rtlCol="false" tIns="0" lIns="0" bIns="0" rIns="0">
            <a:spAutoFit/>
          </a:bodyPr>
          <a:lstStyle/>
          <a:p>
            <a:pPr algn="just" marL="0" indent="0" lvl="0">
              <a:lnSpc>
                <a:spcPts val="2362"/>
              </a:lnSpc>
            </a:pPr>
            <a:r>
              <a:rPr lang="en-US" sz="1817">
                <a:solidFill>
                  <a:srgbClr val="000000"/>
                </a:solidFill>
                <a:latin typeface="Poppins"/>
                <a:ea typeface="Poppins"/>
                <a:cs typeface="Poppins"/>
                <a:sym typeface="Poppins"/>
              </a:rPr>
              <a:t>5 thẻ KPI: Tổng hợp đồng · Đang hiệu lực · Sắp hết hạn · Chờ duyệt · Tổng giá trị hợp đồng. Cập nhật theo thời gian thực với màu trạng thái xanh/đỏ/cam.</a:t>
            </a:r>
          </a:p>
        </p:txBody>
      </p:sp>
      <p:sp>
        <p:nvSpPr>
          <p:cNvPr name="TextBox 37" id="37"/>
          <p:cNvSpPr txBox="true"/>
          <p:nvPr/>
        </p:nvSpPr>
        <p:spPr>
          <a:xfrm rot="0">
            <a:off x="8848604" y="6333666"/>
            <a:ext cx="7197303" cy="891316"/>
          </a:xfrm>
          <a:prstGeom prst="rect">
            <a:avLst/>
          </a:prstGeom>
        </p:spPr>
        <p:txBody>
          <a:bodyPr anchor="t" rtlCol="false" tIns="0" lIns="0" bIns="0" rIns="0">
            <a:spAutoFit/>
          </a:bodyPr>
          <a:lstStyle/>
          <a:p>
            <a:pPr algn="just" marL="0" indent="0" lvl="0">
              <a:lnSpc>
                <a:spcPts val="2362"/>
              </a:lnSpc>
            </a:pPr>
            <a:r>
              <a:rPr lang="en-US" sz="1817">
                <a:solidFill>
                  <a:srgbClr val="000000"/>
                </a:solidFill>
                <a:latin typeface="Poppins"/>
                <a:ea typeface="Poppins"/>
                <a:cs typeface="Poppins"/>
                <a:sym typeface="Poppins"/>
              </a:rPr>
              <a:t>Biểu đồ đường xu hướng hợp đồng theo tháng, biểu đồ tròn phân bổ trạng thái, biểu đồ cột giá trị hợp đồng theo tháng với dữ liệu thực tế.</a:t>
            </a:r>
          </a:p>
        </p:txBody>
      </p:sp>
      <p:sp>
        <p:nvSpPr>
          <p:cNvPr name="TextBox 38" id="38"/>
          <p:cNvSpPr txBox="true"/>
          <p:nvPr/>
        </p:nvSpPr>
        <p:spPr>
          <a:xfrm rot="0">
            <a:off x="8848604" y="8054214"/>
            <a:ext cx="7197303" cy="891316"/>
          </a:xfrm>
          <a:prstGeom prst="rect">
            <a:avLst/>
          </a:prstGeom>
        </p:spPr>
        <p:txBody>
          <a:bodyPr anchor="t" rtlCol="false" tIns="0" lIns="0" bIns="0" rIns="0">
            <a:spAutoFit/>
          </a:bodyPr>
          <a:lstStyle/>
          <a:p>
            <a:pPr algn="just" marL="0" indent="0" lvl="0">
              <a:lnSpc>
                <a:spcPts val="2362"/>
              </a:lnSpc>
            </a:pPr>
            <a:r>
              <a:rPr lang="en-US" sz="1817">
                <a:solidFill>
                  <a:srgbClr val="000000"/>
                </a:solidFill>
                <a:latin typeface="Poppins"/>
                <a:ea typeface="Poppins"/>
                <a:cs typeface="Poppins"/>
                <a:sym typeface="Poppins"/>
              </a:rPr>
              <a:t>Bộ lọc theo phòng ban, loại hợp đồng, khoảng thời gian. Xuất báo cáo PDF/Excel trực tiếp từ dashboard với một thao tác đơn giản.</a:t>
            </a:r>
          </a:p>
        </p:txBody>
      </p:sp>
      <p:sp>
        <p:nvSpPr>
          <p:cNvPr name="TextBox 39" id="39"/>
          <p:cNvSpPr txBox="true"/>
          <p:nvPr/>
        </p:nvSpPr>
        <p:spPr>
          <a:xfrm rot="0">
            <a:off x="11664791" y="890518"/>
            <a:ext cx="5594509" cy="1413522"/>
          </a:xfrm>
          <a:prstGeom prst="rect">
            <a:avLst/>
          </a:prstGeom>
        </p:spPr>
        <p:txBody>
          <a:bodyPr anchor="t" rtlCol="false" tIns="0" lIns="0" bIns="0" rIns="0">
            <a:spAutoFit/>
          </a:bodyPr>
          <a:lstStyle/>
          <a:p>
            <a:pPr algn="r" marL="0" indent="0" lvl="0">
              <a:lnSpc>
                <a:spcPts val="5328"/>
              </a:lnSpc>
            </a:pPr>
            <a:r>
              <a:rPr lang="en-US" b="true" sz="4715" spc="-141">
                <a:solidFill>
                  <a:srgbClr val="000000"/>
                </a:solidFill>
                <a:latin typeface="Poppins Bold"/>
                <a:ea typeface="Poppins Bold"/>
                <a:cs typeface="Poppins Bold"/>
                <a:sym typeface="Poppins Bold"/>
              </a:rPr>
              <a:t>Dashboard &amp; Báo cáo Thống kê</a:t>
            </a:r>
          </a:p>
        </p:txBody>
      </p:sp>
      <p:sp>
        <p:nvSpPr>
          <p:cNvPr name="TextBox 40" id="40"/>
          <p:cNvSpPr txBox="true"/>
          <p:nvPr/>
        </p:nvSpPr>
        <p:spPr>
          <a:xfrm rot="0">
            <a:off x="12854164" y="4304367"/>
            <a:ext cx="3191743" cy="424734"/>
          </a:xfrm>
          <a:prstGeom prst="rect">
            <a:avLst/>
          </a:prstGeom>
        </p:spPr>
        <p:txBody>
          <a:bodyPr anchor="t" rtlCol="false" tIns="0" lIns="0" bIns="0" rIns="0">
            <a:spAutoFit/>
          </a:bodyPr>
          <a:lstStyle/>
          <a:p>
            <a:pPr algn="r" marL="0" indent="0" lvl="0">
              <a:lnSpc>
                <a:spcPts val="3137"/>
              </a:lnSpc>
            </a:pPr>
            <a:r>
              <a:rPr lang="en-US" b="true" sz="2776" spc="-83">
                <a:solidFill>
                  <a:srgbClr val="000000"/>
                </a:solidFill>
                <a:latin typeface="Poppins Bold"/>
                <a:ea typeface="Poppins Bold"/>
                <a:cs typeface="Poppins Bold"/>
                <a:sym typeface="Poppins Bold"/>
              </a:rPr>
              <a:t>Thẻ Thống Kê</a:t>
            </a:r>
          </a:p>
        </p:txBody>
      </p:sp>
      <p:sp>
        <p:nvSpPr>
          <p:cNvPr name="TextBox 41" id="41"/>
          <p:cNvSpPr txBox="true"/>
          <p:nvPr/>
        </p:nvSpPr>
        <p:spPr>
          <a:xfrm rot="0">
            <a:off x="11740521" y="5897722"/>
            <a:ext cx="4305386" cy="424734"/>
          </a:xfrm>
          <a:prstGeom prst="rect">
            <a:avLst/>
          </a:prstGeom>
        </p:spPr>
        <p:txBody>
          <a:bodyPr anchor="t" rtlCol="false" tIns="0" lIns="0" bIns="0" rIns="0">
            <a:spAutoFit/>
          </a:bodyPr>
          <a:lstStyle/>
          <a:p>
            <a:pPr algn="r" marL="0" indent="0" lvl="0">
              <a:lnSpc>
                <a:spcPts val="3137"/>
              </a:lnSpc>
            </a:pPr>
            <a:r>
              <a:rPr lang="en-US" b="true" sz="2776" spc="-83">
                <a:solidFill>
                  <a:srgbClr val="000000"/>
                </a:solidFill>
                <a:latin typeface="Poppins Bold"/>
                <a:ea typeface="Poppins Bold"/>
                <a:cs typeface="Poppins Bold"/>
                <a:sym typeface="Poppins Bold"/>
              </a:rPr>
              <a:t>Biểu Đồ Phân Tích</a:t>
            </a:r>
          </a:p>
        </p:txBody>
      </p:sp>
      <p:sp>
        <p:nvSpPr>
          <p:cNvPr name="TextBox 42" id="42"/>
          <p:cNvSpPr txBox="true"/>
          <p:nvPr/>
        </p:nvSpPr>
        <p:spPr>
          <a:xfrm rot="0">
            <a:off x="12224343" y="7618271"/>
            <a:ext cx="3821564" cy="424734"/>
          </a:xfrm>
          <a:prstGeom prst="rect">
            <a:avLst/>
          </a:prstGeom>
        </p:spPr>
        <p:txBody>
          <a:bodyPr anchor="t" rtlCol="false" tIns="0" lIns="0" bIns="0" rIns="0">
            <a:spAutoFit/>
          </a:bodyPr>
          <a:lstStyle/>
          <a:p>
            <a:pPr algn="r" marL="0" indent="0" lvl="0">
              <a:lnSpc>
                <a:spcPts val="3137"/>
              </a:lnSpc>
            </a:pPr>
            <a:r>
              <a:rPr lang="en-US" b="true" sz="2776" spc="-83">
                <a:solidFill>
                  <a:srgbClr val="000000"/>
                </a:solidFill>
                <a:latin typeface="Poppins Bold"/>
                <a:ea typeface="Poppins Bold"/>
                <a:cs typeface="Poppins Bold"/>
                <a:sym typeface="Poppins Bold"/>
              </a:rPr>
              <a:t>Lọc &amp; Xuất Báo Cáo</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5400000">
            <a:off x="-183894" y="-674598"/>
            <a:ext cx="2117840" cy="3264897"/>
          </a:xfrm>
          <a:custGeom>
            <a:avLst/>
            <a:gdLst/>
            <a:ahLst/>
            <a:cxnLst/>
            <a:rect r="r" b="b" t="t" l="l"/>
            <a:pathLst>
              <a:path h="3264897" w="2117840">
                <a:moveTo>
                  <a:pt x="2117840" y="3264897"/>
                </a:moveTo>
                <a:lnTo>
                  <a:pt x="0" y="3264897"/>
                </a:lnTo>
                <a:lnTo>
                  <a:pt x="0" y="0"/>
                </a:lnTo>
                <a:lnTo>
                  <a:pt x="2117840" y="0"/>
                </a:lnTo>
                <a:lnTo>
                  <a:pt x="2117840" y="3264897"/>
                </a:lnTo>
                <a:close/>
              </a:path>
            </a:pathLst>
          </a:custGeom>
          <a:blipFill>
            <a:blip r:embed="rId2">
              <a:extLst>
                <a:ext uri="{96DAC541-7B7A-43D3-8B79-37D633B846F1}">
                  <asvg:svgBlip xmlns:asvg="http://schemas.microsoft.com/office/drawing/2016/SVG/main" r:embed="rId3"/>
                </a:ext>
              </a:extLst>
            </a:blip>
            <a:stretch>
              <a:fillRect l="0" t="0" r="-75183" b="0"/>
            </a:stretch>
          </a:blipFill>
        </p:spPr>
      </p:sp>
      <p:sp>
        <p:nvSpPr>
          <p:cNvPr name="Freeform 3" id="3"/>
          <p:cNvSpPr/>
          <p:nvPr/>
        </p:nvSpPr>
        <p:spPr>
          <a:xfrm flipH="true" flipV="false" rot="-5400000">
            <a:off x="16351493" y="-712127"/>
            <a:ext cx="2117840" cy="3264897"/>
          </a:xfrm>
          <a:custGeom>
            <a:avLst/>
            <a:gdLst/>
            <a:ahLst/>
            <a:cxnLst/>
            <a:rect r="r" b="b" t="t" l="l"/>
            <a:pathLst>
              <a:path h="3264897" w="2117840">
                <a:moveTo>
                  <a:pt x="2117840" y="0"/>
                </a:moveTo>
                <a:lnTo>
                  <a:pt x="0" y="0"/>
                </a:lnTo>
                <a:lnTo>
                  <a:pt x="0" y="3264898"/>
                </a:lnTo>
                <a:lnTo>
                  <a:pt x="2117840" y="3264898"/>
                </a:lnTo>
                <a:lnTo>
                  <a:pt x="2117840" y="0"/>
                </a:lnTo>
                <a:close/>
              </a:path>
            </a:pathLst>
          </a:custGeom>
          <a:blipFill>
            <a:blip r:embed="rId2">
              <a:extLst>
                <a:ext uri="{96DAC541-7B7A-43D3-8B79-37D633B846F1}">
                  <asvg:svgBlip xmlns:asvg="http://schemas.microsoft.com/office/drawing/2016/SVG/main" r:embed="rId3"/>
                </a:ext>
              </a:extLst>
            </a:blip>
            <a:stretch>
              <a:fillRect l="0" t="0" r="-75183" b="0"/>
            </a:stretch>
          </a:blipFill>
        </p:spPr>
      </p:sp>
      <p:grpSp>
        <p:nvGrpSpPr>
          <p:cNvPr name="Group 4" id="4"/>
          <p:cNvGrpSpPr/>
          <p:nvPr/>
        </p:nvGrpSpPr>
        <p:grpSpPr>
          <a:xfrm rot="0">
            <a:off x="3938494" y="9963150"/>
            <a:ext cx="16477376" cy="783580"/>
            <a:chOff x="0" y="0"/>
            <a:chExt cx="4339720" cy="206375"/>
          </a:xfrm>
        </p:grpSpPr>
        <p:sp>
          <p:nvSpPr>
            <p:cNvPr name="Freeform 5" id="5"/>
            <p:cNvSpPr/>
            <p:nvPr/>
          </p:nvSpPr>
          <p:spPr>
            <a:xfrm flipH="false" flipV="false" rot="0">
              <a:off x="0" y="0"/>
              <a:ext cx="4339720" cy="206375"/>
            </a:xfrm>
            <a:custGeom>
              <a:avLst/>
              <a:gdLst/>
              <a:ahLst/>
              <a:cxnLst/>
              <a:rect r="r" b="b" t="t" l="l"/>
              <a:pathLst>
                <a:path h="206375" w="4339720">
                  <a:moveTo>
                    <a:pt x="203200" y="0"/>
                  </a:moveTo>
                  <a:lnTo>
                    <a:pt x="4339720" y="0"/>
                  </a:lnTo>
                  <a:lnTo>
                    <a:pt x="4136520" y="206375"/>
                  </a:lnTo>
                  <a:lnTo>
                    <a:pt x="0" y="206375"/>
                  </a:lnTo>
                  <a:lnTo>
                    <a:pt x="203200" y="0"/>
                  </a:lnTo>
                  <a:close/>
                </a:path>
              </a:pathLst>
            </a:custGeom>
            <a:solidFill>
              <a:srgbClr val="FFA916"/>
            </a:solidFill>
          </p:spPr>
        </p:sp>
        <p:sp>
          <p:nvSpPr>
            <p:cNvPr name="TextBox 6" id="6"/>
            <p:cNvSpPr txBox="true"/>
            <p:nvPr/>
          </p:nvSpPr>
          <p:spPr>
            <a:xfrm>
              <a:off x="101600" y="-57150"/>
              <a:ext cx="4136520" cy="263525"/>
            </a:xfrm>
            <a:prstGeom prst="rect">
              <a:avLst/>
            </a:prstGeom>
          </p:spPr>
          <p:txBody>
            <a:bodyPr anchor="ctr" rtlCol="false" tIns="50800" lIns="50800" bIns="50800" rIns="50800"/>
            <a:lstStyle/>
            <a:p>
              <a:pPr algn="ctr" marL="0" indent="0" lvl="0">
                <a:lnSpc>
                  <a:spcPts val="3219"/>
                </a:lnSpc>
              </a:pPr>
            </a:p>
          </p:txBody>
        </p:sp>
      </p:grpSp>
      <p:grpSp>
        <p:nvGrpSpPr>
          <p:cNvPr name="Group 7" id="7"/>
          <p:cNvGrpSpPr/>
          <p:nvPr/>
        </p:nvGrpSpPr>
        <p:grpSpPr>
          <a:xfrm rot="0">
            <a:off x="-1024868" y="9963150"/>
            <a:ext cx="7295490" cy="783580"/>
            <a:chOff x="0" y="0"/>
            <a:chExt cx="1921446" cy="206375"/>
          </a:xfrm>
        </p:grpSpPr>
        <p:sp>
          <p:nvSpPr>
            <p:cNvPr name="Freeform 8" id="8"/>
            <p:cNvSpPr/>
            <p:nvPr/>
          </p:nvSpPr>
          <p:spPr>
            <a:xfrm flipH="false" flipV="false" rot="0">
              <a:off x="0" y="0"/>
              <a:ext cx="1921446" cy="206375"/>
            </a:xfrm>
            <a:custGeom>
              <a:avLst/>
              <a:gdLst/>
              <a:ahLst/>
              <a:cxnLst/>
              <a:rect r="r" b="b" t="t" l="l"/>
              <a:pathLst>
                <a:path h="206375" w="1921446">
                  <a:moveTo>
                    <a:pt x="203200" y="0"/>
                  </a:moveTo>
                  <a:lnTo>
                    <a:pt x="1921446" y="0"/>
                  </a:lnTo>
                  <a:lnTo>
                    <a:pt x="1718246" y="206375"/>
                  </a:lnTo>
                  <a:lnTo>
                    <a:pt x="0" y="206375"/>
                  </a:lnTo>
                  <a:lnTo>
                    <a:pt x="203200" y="0"/>
                  </a:lnTo>
                  <a:close/>
                </a:path>
              </a:pathLst>
            </a:custGeom>
            <a:solidFill>
              <a:srgbClr val="024A59"/>
            </a:solidFill>
          </p:spPr>
        </p:sp>
        <p:sp>
          <p:nvSpPr>
            <p:cNvPr name="TextBox 9" id="9"/>
            <p:cNvSpPr txBox="true"/>
            <p:nvPr/>
          </p:nvSpPr>
          <p:spPr>
            <a:xfrm>
              <a:off x="101600" y="-57150"/>
              <a:ext cx="1718246" cy="263525"/>
            </a:xfrm>
            <a:prstGeom prst="rect">
              <a:avLst/>
            </a:prstGeom>
          </p:spPr>
          <p:txBody>
            <a:bodyPr anchor="ctr" rtlCol="false" tIns="50800" lIns="50800" bIns="50800" rIns="50800"/>
            <a:lstStyle/>
            <a:p>
              <a:pPr algn="ctr" marL="0" indent="0" lvl="0">
                <a:lnSpc>
                  <a:spcPts val="3219"/>
                </a:lnSpc>
              </a:pPr>
            </a:p>
          </p:txBody>
        </p:sp>
      </p:grpSp>
      <p:grpSp>
        <p:nvGrpSpPr>
          <p:cNvPr name="Group 10" id="10"/>
          <p:cNvGrpSpPr/>
          <p:nvPr/>
        </p:nvGrpSpPr>
        <p:grpSpPr>
          <a:xfrm rot="0">
            <a:off x="2848755" y="4739056"/>
            <a:ext cx="2615533" cy="2615533"/>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31F20"/>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marL="0" indent="0" lvl="0">
                <a:lnSpc>
                  <a:spcPts val="3219"/>
                </a:lnSpc>
              </a:pPr>
            </a:p>
          </p:txBody>
        </p:sp>
      </p:grpSp>
      <p:sp>
        <p:nvSpPr>
          <p:cNvPr name="Freeform 13" id="13"/>
          <p:cNvSpPr/>
          <p:nvPr/>
        </p:nvSpPr>
        <p:spPr>
          <a:xfrm flipH="false" flipV="false" rot="0">
            <a:off x="1028700" y="3126220"/>
            <a:ext cx="6255643" cy="5841206"/>
          </a:xfrm>
          <a:custGeom>
            <a:avLst/>
            <a:gdLst/>
            <a:ahLst/>
            <a:cxnLst/>
            <a:rect r="r" b="b" t="t" l="l"/>
            <a:pathLst>
              <a:path h="5841206" w="6255643">
                <a:moveTo>
                  <a:pt x="0" y="0"/>
                </a:moveTo>
                <a:lnTo>
                  <a:pt x="6255643" y="0"/>
                </a:lnTo>
                <a:lnTo>
                  <a:pt x="6255643" y="5841206"/>
                </a:lnTo>
                <a:lnTo>
                  <a:pt x="0" y="5841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8652563" y="3050593"/>
            <a:ext cx="1309167" cy="1125065"/>
            <a:chOff x="0" y="0"/>
            <a:chExt cx="812800" cy="698500"/>
          </a:xfrm>
        </p:grpSpPr>
        <p:sp>
          <p:nvSpPr>
            <p:cNvPr name="Freeform 15" id="15"/>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24A59"/>
            </a:solidFill>
            <a:ln w="85725" cap="sq">
              <a:solidFill>
                <a:srgbClr val="FFA916"/>
              </a:solidFill>
              <a:prstDash val="solid"/>
              <a:miter/>
            </a:ln>
          </p:spPr>
        </p:sp>
        <p:sp>
          <p:nvSpPr>
            <p:cNvPr name="TextBox 16" id="16"/>
            <p:cNvSpPr txBox="true"/>
            <p:nvPr/>
          </p:nvSpPr>
          <p:spPr>
            <a:xfrm>
              <a:off x="114300" y="-57150"/>
              <a:ext cx="584200" cy="755650"/>
            </a:xfrm>
            <a:prstGeom prst="rect">
              <a:avLst/>
            </a:prstGeom>
          </p:spPr>
          <p:txBody>
            <a:bodyPr anchor="ctr" rtlCol="false" tIns="50800" lIns="50800" bIns="50800" rIns="50800"/>
            <a:lstStyle/>
            <a:p>
              <a:pPr algn="ctr" marL="0" indent="0" lvl="0">
                <a:lnSpc>
                  <a:spcPts val="3219"/>
                </a:lnSpc>
              </a:pPr>
            </a:p>
          </p:txBody>
        </p:sp>
      </p:grpSp>
      <p:grpSp>
        <p:nvGrpSpPr>
          <p:cNvPr name="Group 17" id="17"/>
          <p:cNvGrpSpPr/>
          <p:nvPr/>
        </p:nvGrpSpPr>
        <p:grpSpPr>
          <a:xfrm rot="0">
            <a:off x="8652563" y="4620866"/>
            <a:ext cx="1309167" cy="1125065"/>
            <a:chOff x="0" y="0"/>
            <a:chExt cx="812800" cy="698500"/>
          </a:xfrm>
        </p:grpSpPr>
        <p:sp>
          <p:nvSpPr>
            <p:cNvPr name="Freeform 18" id="18"/>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24A59"/>
            </a:solidFill>
            <a:ln w="85725" cap="sq">
              <a:solidFill>
                <a:srgbClr val="FFA916"/>
              </a:solidFill>
              <a:prstDash val="solid"/>
              <a:miter/>
            </a:ln>
          </p:spPr>
        </p:sp>
        <p:sp>
          <p:nvSpPr>
            <p:cNvPr name="TextBox 19" id="19"/>
            <p:cNvSpPr txBox="true"/>
            <p:nvPr/>
          </p:nvSpPr>
          <p:spPr>
            <a:xfrm>
              <a:off x="114300" y="-57150"/>
              <a:ext cx="584200" cy="755650"/>
            </a:xfrm>
            <a:prstGeom prst="rect">
              <a:avLst/>
            </a:prstGeom>
          </p:spPr>
          <p:txBody>
            <a:bodyPr anchor="ctr" rtlCol="false" tIns="50800" lIns="50800" bIns="50800" rIns="50800"/>
            <a:lstStyle/>
            <a:p>
              <a:pPr algn="ctr" marL="0" indent="0" lvl="0">
                <a:lnSpc>
                  <a:spcPts val="3219"/>
                </a:lnSpc>
              </a:pPr>
            </a:p>
          </p:txBody>
        </p:sp>
      </p:grpSp>
      <p:grpSp>
        <p:nvGrpSpPr>
          <p:cNvPr name="Group 20" id="20"/>
          <p:cNvGrpSpPr/>
          <p:nvPr/>
        </p:nvGrpSpPr>
        <p:grpSpPr>
          <a:xfrm rot="0">
            <a:off x="8652563" y="6194765"/>
            <a:ext cx="1309167" cy="1125065"/>
            <a:chOff x="0" y="0"/>
            <a:chExt cx="812800" cy="698500"/>
          </a:xfrm>
        </p:grpSpPr>
        <p:sp>
          <p:nvSpPr>
            <p:cNvPr name="Freeform 21" id="21"/>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24A59"/>
            </a:solidFill>
            <a:ln w="85725" cap="sq">
              <a:solidFill>
                <a:srgbClr val="FFA916"/>
              </a:solidFill>
              <a:prstDash val="solid"/>
              <a:miter/>
            </a:ln>
          </p:spPr>
        </p:sp>
        <p:sp>
          <p:nvSpPr>
            <p:cNvPr name="TextBox 22" id="22"/>
            <p:cNvSpPr txBox="true"/>
            <p:nvPr/>
          </p:nvSpPr>
          <p:spPr>
            <a:xfrm>
              <a:off x="114300" y="-57150"/>
              <a:ext cx="584200" cy="755650"/>
            </a:xfrm>
            <a:prstGeom prst="rect">
              <a:avLst/>
            </a:prstGeom>
          </p:spPr>
          <p:txBody>
            <a:bodyPr anchor="ctr" rtlCol="false" tIns="50800" lIns="50800" bIns="50800" rIns="50800"/>
            <a:lstStyle/>
            <a:p>
              <a:pPr algn="ctr" marL="0" indent="0" lvl="0">
                <a:lnSpc>
                  <a:spcPts val="3219"/>
                </a:lnSpc>
              </a:pPr>
            </a:p>
          </p:txBody>
        </p:sp>
      </p:grpSp>
      <p:grpSp>
        <p:nvGrpSpPr>
          <p:cNvPr name="Group 23" id="23"/>
          <p:cNvGrpSpPr/>
          <p:nvPr/>
        </p:nvGrpSpPr>
        <p:grpSpPr>
          <a:xfrm rot="0">
            <a:off x="8652563" y="7766734"/>
            <a:ext cx="1309167" cy="1125065"/>
            <a:chOff x="0" y="0"/>
            <a:chExt cx="812800" cy="698500"/>
          </a:xfrm>
        </p:grpSpPr>
        <p:sp>
          <p:nvSpPr>
            <p:cNvPr name="Freeform 24" id="24"/>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24A59"/>
            </a:solidFill>
            <a:ln w="85725" cap="sq">
              <a:solidFill>
                <a:srgbClr val="FFA916"/>
              </a:solidFill>
              <a:prstDash val="solid"/>
              <a:miter/>
            </a:ln>
          </p:spPr>
        </p:sp>
        <p:sp>
          <p:nvSpPr>
            <p:cNvPr name="TextBox 25" id="25"/>
            <p:cNvSpPr txBox="true"/>
            <p:nvPr/>
          </p:nvSpPr>
          <p:spPr>
            <a:xfrm>
              <a:off x="114300" y="-57150"/>
              <a:ext cx="584200" cy="755650"/>
            </a:xfrm>
            <a:prstGeom prst="rect">
              <a:avLst/>
            </a:prstGeom>
          </p:spPr>
          <p:txBody>
            <a:bodyPr anchor="ctr" rtlCol="false" tIns="50800" lIns="50800" bIns="50800" rIns="50800"/>
            <a:lstStyle/>
            <a:p>
              <a:pPr algn="ctr" marL="0" indent="0" lvl="0">
                <a:lnSpc>
                  <a:spcPts val="3219"/>
                </a:lnSpc>
              </a:pPr>
            </a:p>
          </p:txBody>
        </p:sp>
      </p:grpSp>
      <p:sp>
        <p:nvSpPr>
          <p:cNvPr name="Freeform 26" id="26"/>
          <p:cNvSpPr/>
          <p:nvPr/>
        </p:nvSpPr>
        <p:spPr>
          <a:xfrm flipH="false" flipV="false" rot="0">
            <a:off x="3389047" y="5097053"/>
            <a:ext cx="1491186" cy="1526235"/>
          </a:xfrm>
          <a:custGeom>
            <a:avLst/>
            <a:gdLst/>
            <a:ahLst/>
            <a:cxnLst/>
            <a:rect r="r" b="b" t="t" l="l"/>
            <a:pathLst>
              <a:path h="1526235" w="1491186">
                <a:moveTo>
                  <a:pt x="0" y="0"/>
                </a:moveTo>
                <a:lnTo>
                  <a:pt x="1491186" y="0"/>
                </a:lnTo>
                <a:lnTo>
                  <a:pt x="1491186" y="1526235"/>
                </a:lnTo>
                <a:lnTo>
                  <a:pt x="0" y="1526235"/>
                </a:lnTo>
                <a:lnTo>
                  <a:pt x="0" y="0"/>
                </a:lnTo>
                <a:close/>
              </a:path>
            </a:pathLst>
          </a:custGeom>
          <a:blipFill>
            <a:blip r:embed="rId6"/>
            <a:stretch>
              <a:fillRect l="0" t="0" r="0" b="0"/>
            </a:stretch>
          </a:blipFill>
        </p:spPr>
      </p:sp>
      <p:sp>
        <p:nvSpPr>
          <p:cNvPr name="Freeform 27" id="27"/>
          <p:cNvSpPr/>
          <p:nvPr/>
        </p:nvSpPr>
        <p:spPr>
          <a:xfrm flipH="false" flipV="false" rot="0">
            <a:off x="1553088" y="3633857"/>
            <a:ext cx="1355242" cy="1352742"/>
          </a:xfrm>
          <a:custGeom>
            <a:avLst/>
            <a:gdLst/>
            <a:ahLst/>
            <a:cxnLst/>
            <a:rect r="r" b="b" t="t" l="l"/>
            <a:pathLst>
              <a:path h="1352742" w="1355242">
                <a:moveTo>
                  <a:pt x="0" y="0"/>
                </a:moveTo>
                <a:lnTo>
                  <a:pt x="1355242" y="0"/>
                </a:lnTo>
                <a:lnTo>
                  <a:pt x="1355242" y="1352742"/>
                </a:lnTo>
                <a:lnTo>
                  <a:pt x="0" y="1352742"/>
                </a:lnTo>
                <a:lnTo>
                  <a:pt x="0" y="0"/>
                </a:lnTo>
                <a:close/>
              </a:path>
            </a:pathLst>
          </a:custGeom>
          <a:blipFill>
            <a:blip r:embed="rId7"/>
            <a:stretch>
              <a:fillRect l="0" t="0" r="0" b="0"/>
            </a:stretch>
          </a:blipFill>
        </p:spPr>
      </p:sp>
      <p:sp>
        <p:nvSpPr>
          <p:cNvPr name="Freeform 28" id="28"/>
          <p:cNvSpPr/>
          <p:nvPr/>
        </p:nvSpPr>
        <p:spPr>
          <a:xfrm flipH="false" flipV="false" rot="0">
            <a:off x="5388709" y="3705438"/>
            <a:ext cx="1207973" cy="1212520"/>
          </a:xfrm>
          <a:custGeom>
            <a:avLst/>
            <a:gdLst/>
            <a:ahLst/>
            <a:cxnLst/>
            <a:rect r="r" b="b" t="t" l="l"/>
            <a:pathLst>
              <a:path h="1212520" w="1207973">
                <a:moveTo>
                  <a:pt x="0" y="0"/>
                </a:moveTo>
                <a:lnTo>
                  <a:pt x="1207973" y="0"/>
                </a:lnTo>
                <a:lnTo>
                  <a:pt x="1207973" y="1212520"/>
                </a:lnTo>
                <a:lnTo>
                  <a:pt x="0" y="1212520"/>
                </a:lnTo>
                <a:lnTo>
                  <a:pt x="0" y="0"/>
                </a:lnTo>
                <a:close/>
              </a:path>
            </a:pathLst>
          </a:custGeom>
          <a:blipFill>
            <a:blip r:embed="rId8"/>
            <a:stretch>
              <a:fillRect l="0" t="0" r="0" b="0"/>
            </a:stretch>
          </a:blipFill>
        </p:spPr>
      </p:sp>
      <p:sp>
        <p:nvSpPr>
          <p:cNvPr name="Freeform 29" id="29"/>
          <p:cNvSpPr/>
          <p:nvPr/>
        </p:nvSpPr>
        <p:spPr>
          <a:xfrm flipH="false" flipV="false" rot="0">
            <a:off x="1727202" y="7198769"/>
            <a:ext cx="1211117" cy="1200520"/>
          </a:xfrm>
          <a:custGeom>
            <a:avLst/>
            <a:gdLst/>
            <a:ahLst/>
            <a:cxnLst/>
            <a:rect r="r" b="b" t="t" l="l"/>
            <a:pathLst>
              <a:path h="1200520" w="1211117">
                <a:moveTo>
                  <a:pt x="0" y="0"/>
                </a:moveTo>
                <a:lnTo>
                  <a:pt x="1211117" y="0"/>
                </a:lnTo>
                <a:lnTo>
                  <a:pt x="1211117" y="1200520"/>
                </a:lnTo>
                <a:lnTo>
                  <a:pt x="0" y="1200520"/>
                </a:lnTo>
                <a:lnTo>
                  <a:pt x="0" y="0"/>
                </a:lnTo>
                <a:close/>
              </a:path>
            </a:pathLst>
          </a:custGeom>
          <a:blipFill>
            <a:blip r:embed="rId9"/>
            <a:stretch>
              <a:fillRect l="0" t="0" r="0" b="0"/>
            </a:stretch>
          </a:blipFill>
        </p:spPr>
      </p:sp>
      <p:sp>
        <p:nvSpPr>
          <p:cNvPr name="Freeform 30" id="30"/>
          <p:cNvSpPr/>
          <p:nvPr/>
        </p:nvSpPr>
        <p:spPr>
          <a:xfrm flipH="false" flipV="false" rot="0">
            <a:off x="5383373" y="7151979"/>
            <a:ext cx="1202547" cy="1202547"/>
          </a:xfrm>
          <a:custGeom>
            <a:avLst/>
            <a:gdLst/>
            <a:ahLst/>
            <a:cxnLst/>
            <a:rect r="r" b="b" t="t" l="l"/>
            <a:pathLst>
              <a:path h="1202547" w="1202547">
                <a:moveTo>
                  <a:pt x="0" y="0"/>
                </a:moveTo>
                <a:lnTo>
                  <a:pt x="1202546" y="0"/>
                </a:lnTo>
                <a:lnTo>
                  <a:pt x="1202546" y="1202547"/>
                </a:lnTo>
                <a:lnTo>
                  <a:pt x="0" y="1202547"/>
                </a:lnTo>
                <a:lnTo>
                  <a:pt x="0" y="0"/>
                </a:lnTo>
                <a:close/>
              </a:path>
            </a:pathLst>
          </a:custGeom>
          <a:blipFill>
            <a:blip r:embed="rId10"/>
            <a:stretch>
              <a:fillRect l="0" t="0" r="0" b="0"/>
            </a:stretch>
          </a:blipFill>
        </p:spPr>
      </p:sp>
      <p:sp>
        <p:nvSpPr>
          <p:cNvPr name="TextBox 31" id="31"/>
          <p:cNvSpPr txBox="true"/>
          <p:nvPr/>
        </p:nvSpPr>
        <p:spPr>
          <a:xfrm rot="0">
            <a:off x="4562165" y="1009650"/>
            <a:ext cx="9163669" cy="764540"/>
          </a:xfrm>
          <a:prstGeom prst="rect">
            <a:avLst/>
          </a:prstGeom>
        </p:spPr>
        <p:txBody>
          <a:bodyPr anchor="t" rtlCol="false" tIns="0" lIns="0" bIns="0" rIns="0">
            <a:spAutoFit/>
          </a:bodyPr>
          <a:lstStyle/>
          <a:p>
            <a:pPr algn="ctr" marL="0" indent="0" lvl="0">
              <a:lnSpc>
                <a:spcPts val="5634"/>
              </a:lnSpc>
            </a:pPr>
            <a:r>
              <a:rPr lang="en-US" b="true" sz="4899">
                <a:solidFill>
                  <a:srgbClr val="000000"/>
                </a:solidFill>
                <a:latin typeface="Poppins Bold"/>
                <a:ea typeface="Poppins Bold"/>
                <a:cs typeface="Poppins Bold"/>
                <a:sym typeface="Poppins Bold"/>
              </a:rPr>
              <a:t>Kết Quả Đạt Được</a:t>
            </a:r>
          </a:p>
        </p:txBody>
      </p:sp>
      <p:sp>
        <p:nvSpPr>
          <p:cNvPr name="TextBox 32" id="32"/>
          <p:cNvSpPr txBox="true"/>
          <p:nvPr/>
        </p:nvSpPr>
        <p:spPr>
          <a:xfrm rot="0">
            <a:off x="10229726" y="3059545"/>
            <a:ext cx="5002227" cy="400540"/>
          </a:xfrm>
          <a:prstGeom prst="rect">
            <a:avLst/>
          </a:prstGeom>
        </p:spPr>
        <p:txBody>
          <a:bodyPr anchor="t" rtlCol="false" tIns="0" lIns="0" bIns="0" rIns="0">
            <a:spAutoFit/>
          </a:bodyPr>
          <a:lstStyle/>
          <a:p>
            <a:pPr algn="l" marL="0" indent="0" lvl="0">
              <a:lnSpc>
                <a:spcPts val="3123"/>
              </a:lnSpc>
              <a:spcBef>
                <a:spcPct val="0"/>
              </a:spcBef>
            </a:pPr>
            <a:r>
              <a:rPr lang="en-US" b="true" sz="2230">
                <a:solidFill>
                  <a:srgbClr val="000000"/>
                </a:solidFill>
                <a:latin typeface="Poppins Bold"/>
                <a:ea typeface="Poppins Bold"/>
                <a:cs typeface="Poppins Bold"/>
                <a:sym typeface="Poppins Bold"/>
              </a:rPr>
              <a:t>Hoàn thiện giao diện quản trị</a:t>
            </a:r>
          </a:p>
        </p:txBody>
      </p:sp>
      <p:sp>
        <p:nvSpPr>
          <p:cNvPr name="TextBox 33" id="33"/>
          <p:cNvSpPr txBox="true"/>
          <p:nvPr/>
        </p:nvSpPr>
        <p:spPr>
          <a:xfrm rot="0">
            <a:off x="8966004" y="3169987"/>
            <a:ext cx="682286" cy="634708"/>
          </a:xfrm>
          <a:prstGeom prst="rect">
            <a:avLst/>
          </a:prstGeom>
        </p:spPr>
        <p:txBody>
          <a:bodyPr anchor="t" rtlCol="false" tIns="0" lIns="0" bIns="0" rIns="0">
            <a:spAutoFit/>
          </a:bodyPr>
          <a:lstStyle/>
          <a:p>
            <a:pPr algn="ctr" marL="0" indent="0" lvl="0">
              <a:lnSpc>
                <a:spcPts val="4916"/>
              </a:lnSpc>
              <a:spcBef>
                <a:spcPct val="0"/>
              </a:spcBef>
            </a:pPr>
            <a:r>
              <a:rPr lang="en-US" b="true" sz="3511">
                <a:solidFill>
                  <a:srgbClr val="FFFFFF"/>
                </a:solidFill>
                <a:latin typeface="Poppins Bold"/>
                <a:ea typeface="Poppins Bold"/>
                <a:cs typeface="Poppins Bold"/>
                <a:sym typeface="Poppins Bold"/>
              </a:rPr>
              <a:t>01</a:t>
            </a:r>
          </a:p>
        </p:txBody>
      </p:sp>
      <p:sp>
        <p:nvSpPr>
          <p:cNvPr name="TextBox 34" id="34"/>
          <p:cNvSpPr txBox="true"/>
          <p:nvPr/>
        </p:nvSpPr>
        <p:spPr>
          <a:xfrm rot="0">
            <a:off x="8779687" y="4740260"/>
            <a:ext cx="1054919" cy="634708"/>
          </a:xfrm>
          <a:prstGeom prst="rect">
            <a:avLst/>
          </a:prstGeom>
        </p:spPr>
        <p:txBody>
          <a:bodyPr anchor="t" rtlCol="false" tIns="0" lIns="0" bIns="0" rIns="0">
            <a:spAutoFit/>
          </a:bodyPr>
          <a:lstStyle/>
          <a:p>
            <a:pPr algn="ctr" marL="0" indent="0" lvl="0">
              <a:lnSpc>
                <a:spcPts val="4916"/>
              </a:lnSpc>
              <a:spcBef>
                <a:spcPct val="0"/>
              </a:spcBef>
            </a:pPr>
            <a:r>
              <a:rPr lang="en-US" b="true" sz="3511">
                <a:solidFill>
                  <a:srgbClr val="FFFFFF"/>
                </a:solidFill>
                <a:latin typeface="Poppins Bold"/>
                <a:ea typeface="Poppins Bold"/>
                <a:cs typeface="Poppins Bold"/>
                <a:sym typeface="Poppins Bold"/>
              </a:rPr>
              <a:t>02</a:t>
            </a:r>
          </a:p>
        </p:txBody>
      </p:sp>
      <p:sp>
        <p:nvSpPr>
          <p:cNvPr name="TextBox 35" id="35"/>
          <p:cNvSpPr txBox="true"/>
          <p:nvPr/>
        </p:nvSpPr>
        <p:spPr>
          <a:xfrm rot="0">
            <a:off x="8831085" y="6308968"/>
            <a:ext cx="952124" cy="634708"/>
          </a:xfrm>
          <a:prstGeom prst="rect">
            <a:avLst/>
          </a:prstGeom>
        </p:spPr>
        <p:txBody>
          <a:bodyPr anchor="t" rtlCol="false" tIns="0" lIns="0" bIns="0" rIns="0">
            <a:spAutoFit/>
          </a:bodyPr>
          <a:lstStyle/>
          <a:p>
            <a:pPr algn="ctr" marL="0" indent="0" lvl="0">
              <a:lnSpc>
                <a:spcPts val="4916"/>
              </a:lnSpc>
              <a:spcBef>
                <a:spcPct val="0"/>
              </a:spcBef>
            </a:pPr>
            <a:r>
              <a:rPr lang="en-US" b="true" sz="3511">
                <a:solidFill>
                  <a:srgbClr val="FFFFFF"/>
                </a:solidFill>
                <a:latin typeface="Poppins Bold"/>
                <a:ea typeface="Poppins Bold"/>
                <a:cs typeface="Poppins Bold"/>
                <a:sym typeface="Poppins Bold"/>
              </a:rPr>
              <a:t>03</a:t>
            </a:r>
          </a:p>
        </p:txBody>
      </p:sp>
      <p:sp>
        <p:nvSpPr>
          <p:cNvPr name="TextBox 36" id="36"/>
          <p:cNvSpPr txBox="true"/>
          <p:nvPr/>
        </p:nvSpPr>
        <p:spPr>
          <a:xfrm rot="0">
            <a:off x="8831085" y="7880937"/>
            <a:ext cx="952124" cy="634708"/>
          </a:xfrm>
          <a:prstGeom prst="rect">
            <a:avLst/>
          </a:prstGeom>
        </p:spPr>
        <p:txBody>
          <a:bodyPr anchor="t" rtlCol="false" tIns="0" lIns="0" bIns="0" rIns="0">
            <a:spAutoFit/>
          </a:bodyPr>
          <a:lstStyle/>
          <a:p>
            <a:pPr algn="ctr" marL="0" indent="0" lvl="0">
              <a:lnSpc>
                <a:spcPts val="4916"/>
              </a:lnSpc>
              <a:spcBef>
                <a:spcPct val="0"/>
              </a:spcBef>
            </a:pPr>
            <a:r>
              <a:rPr lang="en-US" b="true" sz="3511">
                <a:solidFill>
                  <a:srgbClr val="FFFFFF"/>
                </a:solidFill>
                <a:latin typeface="Poppins Bold"/>
                <a:ea typeface="Poppins Bold"/>
                <a:cs typeface="Poppins Bold"/>
                <a:sym typeface="Poppins Bold"/>
              </a:rPr>
              <a:t>04</a:t>
            </a:r>
          </a:p>
        </p:txBody>
      </p:sp>
      <p:sp>
        <p:nvSpPr>
          <p:cNvPr name="TextBox 37" id="37"/>
          <p:cNvSpPr txBox="true"/>
          <p:nvPr/>
        </p:nvSpPr>
        <p:spPr>
          <a:xfrm rot="0">
            <a:off x="10229726" y="4661806"/>
            <a:ext cx="4288436" cy="400540"/>
          </a:xfrm>
          <a:prstGeom prst="rect">
            <a:avLst/>
          </a:prstGeom>
        </p:spPr>
        <p:txBody>
          <a:bodyPr anchor="t" rtlCol="false" tIns="0" lIns="0" bIns="0" rIns="0">
            <a:spAutoFit/>
          </a:bodyPr>
          <a:lstStyle/>
          <a:p>
            <a:pPr algn="l" marL="0" indent="0" lvl="0">
              <a:lnSpc>
                <a:spcPts val="3123"/>
              </a:lnSpc>
              <a:spcBef>
                <a:spcPct val="0"/>
              </a:spcBef>
            </a:pPr>
            <a:r>
              <a:rPr lang="en-US" b="true" sz="2230">
                <a:solidFill>
                  <a:srgbClr val="000000"/>
                </a:solidFill>
                <a:latin typeface="Poppins Bold"/>
                <a:ea typeface="Poppins Bold"/>
                <a:cs typeface="Poppins Bold"/>
                <a:sym typeface="Poppins Bold"/>
              </a:rPr>
              <a:t>Quản lý vòng đời hợp đồng</a:t>
            </a:r>
          </a:p>
        </p:txBody>
      </p:sp>
      <p:sp>
        <p:nvSpPr>
          <p:cNvPr name="TextBox 38" id="38"/>
          <p:cNvSpPr txBox="true"/>
          <p:nvPr/>
        </p:nvSpPr>
        <p:spPr>
          <a:xfrm rot="0">
            <a:off x="10229726" y="6203717"/>
            <a:ext cx="3363266" cy="400540"/>
          </a:xfrm>
          <a:prstGeom prst="rect">
            <a:avLst/>
          </a:prstGeom>
        </p:spPr>
        <p:txBody>
          <a:bodyPr anchor="t" rtlCol="false" tIns="0" lIns="0" bIns="0" rIns="0">
            <a:spAutoFit/>
          </a:bodyPr>
          <a:lstStyle/>
          <a:p>
            <a:pPr algn="l" marL="0" indent="0" lvl="0">
              <a:lnSpc>
                <a:spcPts val="3123"/>
              </a:lnSpc>
              <a:spcBef>
                <a:spcPct val="0"/>
              </a:spcBef>
            </a:pPr>
            <a:r>
              <a:rPr lang="en-US" b="true" sz="2230">
                <a:solidFill>
                  <a:srgbClr val="000000"/>
                </a:solidFill>
                <a:latin typeface="Poppins Bold"/>
                <a:ea typeface="Poppins Bold"/>
                <a:cs typeface="Poppins Bold"/>
                <a:sym typeface="Poppins Bold"/>
              </a:rPr>
              <a:t>Phân quyền RBAC</a:t>
            </a:r>
          </a:p>
        </p:txBody>
      </p:sp>
      <p:sp>
        <p:nvSpPr>
          <p:cNvPr name="TextBox 39" id="39"/>
          <p:cNvSpPr txBox="true"/>
          <p:nvPr/>
        </p:nvSpPr>
        <p:spPr>
          <a:xfrm rot="0">
            <a:off x="10229726" y="7775686"/>
            <a:ext cx="4667895" cy="400540"/>
          </a:xfrm>
          <a:prstGeom prst="rect">
            <a:avLst/>
          </a:prstGeom>
        </p:spPr>
        <p:txBody>
          <a:bodyPr anchor="t" rtlCol="false" tIns="0" lIns="0" bIns="0" rIns="0">
            <a:spAutoFit/>
          </a:bodyPr>
          <a:lstStyle/>
          <a:p>
            <a:pPr algn="l" marL="0" indent="0" lvl="0">
              <a:lnSpc>
                <a:spcPts val="3123"/>
              </a:lnSpc>
              <a:spcBef>
                <a:spcPct val="0"/>
              </a:spcBef>
            </a:pPr>
            <a:r>
              <a:rPr lang="en-US" b="true" sz="2230">
                <a:solidFill>
                  <a:srgbClr val="000000"/>
                </a:solidFill>
                <a:latin typeface="Poppins Bold"/>
                <a:ea typeface="Poppins Bold"/>
                <a:cs typeface="Poppins Bold"/>
                <a:sym typeface="Poppins Bold"/>
              </a:rPr>
              <a:t>Tự động nhắc hạn &amp; Báo cáo</a:t>
            </a:r>
          </a:p>
        </p:txBody>
      </p:sp>
      <p:sp>
        <p:nvSpPr>
          <p:cNvPr name="TextBox 40" id="40"/>
          <p:cNvSpPr txBox="true"/>
          <p:nvPr/>
        </p:nvSpPr>
        <p:spPr>
          <a:xfrm rot="0">
            <a:off x="10229726" y="3619284"/>
            <a:ext cx="7029574" cy="904875"/>
          </a:xfrm>
          <a:prstGeom prst="rect">
            <a:avLst/>
          </a:prstGeom>
        </p:spPr>
        <p:txBody>
          <a:bodyPr anchor="t" rtlCol="false" tIns="0" lIns="0" bIns="0" rIns="0">
            <a:spAutoFit/>
          </a:bodyPr>
          <a:lstStyle/>
          <a:p>
            <a:pPr algn="just" marL="0" indent="0" lvl="0">
              <a:lnSpc>
                <a:spcPts val="2333"/>
              </a:lnSpc>
            </a:pPr>
            <a:r>
              <a:rPr lang="en-US" sz="1944">
                <a:solidFill>
                  <a:srgbClr val="000000"/>
                </a:solidFill>
                <a:latin typeface="Poppins"/>
                <a:ea typeface="Poppins"/>
                <a:cs typeface="Poppins"/>
                <a:sym typeface="Poppins"/>
              </a:rPr>
              <a:t>Giao diện quản trị hiện đại, trực quan, dễ sử dụng. Hỗ trợ đầy đủ các màn hình quản lý hợp đồng, người dùng và phê duyệt.</a:t>
            </a:r>
          </a:p>
        </p:txBody>
      </p:sp>
      <p:sp>
        <p:nvSpPr>
          <p:cNvPr name="TextBox 41" id="41"/>
          <p:cNvSpPr txBox="true"/>
          <p:nvPr/>
        </p:nvSpPr>
        <p:spPr>
          <a:xfrm rot="0">
            <a:off x="10229726" y="5221546"/>
            <a:ext cx="7029574" cy="609600"/>
          </a:xfrm>
          <a:prstGeom prst="rect">
            <a:avLst/>
          </a:prstGeom>
        </p:spPr>
        <p:txBody>
          <a:bodyPr anchor="t" rtlCol="false" tIns="0" lIns="0" bIns="0" rIns="0">
            <a:spAutoFit/>
          </a:bodyPr>
          <a:lstStyle/>
          <a:p>
            <a:pPr algn="just" marL="0" indent="0" lvl="0">
              <a:lnSpc>
                <a:spcPts val="2333"/>
              </a:lnSpc>
            </a:pPr>
            <a:r>
              <a:rPr lang="en-US" sz="1944">
                <a:solidFill>
                  <a:srgbClr val="000000"/>
                </a:solidFill>
                <a:latin typeface="Poppins"/>
                <a:ea typeface="Poppins"/>
                <a:cs typeface="Poppins"/>
                <a:sym typeface="Poppins"/>
              </a:rPr>
              <a:t>Hoàn thiện toàn bộ vòng đời hợp đồng: tạo, phê duyệt, ký số, lưu trữ và theo dõi trạng thái theo thời gian thực.</a:t>
            </a:r>
          </a:p>
        </p:txBody>
      </p:sp>
      <p:sp>
        <p:nvSpPr>
          <p:cNvPr name="TextBox 42" id="42"/>
          <p:cNvSpPr txBox="true"/>
          <p:nvPr/>
        </p:nvSpPr>
        <p:spPr>
          <a:xfrm rot="0">
            <a:off x="10229726" y="6763456"/>
            <a:ext cx="7029574" cy="609600"/>
          </a:xfrm>
          <a:prstGeom prst="rect">
            <a:avLst/>
          </a:prstGeom>
        </p:spPr>
        <p:txBody>
          <a:bodyPr anchor="t" rtlCol="false" tIns="0" lIns="0" bIns="0" rIns="0">
            <a:spAutoFit/>
          </a:bodyPr>
          <a:lstStyle/>
          <a:p>
            <a:pPr algn="just" marL="0" indent="0" lvl="0">
              <a:lnSpc>
                <a:spcPts val="2333"/>
              </a:lnSpc>
            </a:pPr>
            <a:r>
              <a:rPr lang="en-US" sz="1944">
                <a:solidFill>
                  <a:srgbClr val="000000"/>
                </a:solidFill>
                <a:latin typeface="Poppins"/>
                <a:ea typeface="Poppins"/>
                <a:cs typeface="Poppins"/>
                <a:sym typeface="Poppins"/>
              </a:rPr>
              <a:t>Hệ thống phân quyền RBAC linh hoạt theo vai trò: Admin, Manager, Employee. Bảo mật xác thực bằng JWT token.</a:t>
            </a:r>
          </a:p>
        </p:txBody>
      </p:sp>
      <p:sp>
        <p:nvSpPr>
          <p:cNvPr name="TextBox 43" id="43"/>
          <p:cNvSpPr txBox="true"/>
          <p:nvPr/>
        </p:nvSpPr>
        <p:spPr>
          <a:xfrm rot="0">
            <a:off x="10229726" y="8335426"/>
            <a:ext cx="7029574" cy="904875"/>
          </a:xfrm>
          <a:prstGeom prst="rect">
            <a:avLst/>
          </a:prstGeom>
        </p:spPr>
        <p:txBody>
          <a:bodyPr anchor="t" rtlCol="false" tIns="0" lIns="0" bIns="0" rIns="0">
            <a:spAutoFit/>
          </a:bodyPr>
          <a:lstStyle/>
          <a:p>
            <a:pPr algn="just" marL="0" indent="0" lvl="0">
              <a:lnSpc>
                <a:spcPts val="2333"/>
              </a:lnSpc>
            </a:pPr>
            <a:r>
              <a:rPr lang="en-US" sz="1944">
                <a:solidFill>
                  <a:srgbClr val="000000"/>
                </a:solidFill>
                <a:latin typeface="Poppins"/>
                <a:ea typeface="Poppins"/>
                <a:cs typeface="Poppins"/>
                <a:sym typeface="Poppins"/>
              </a:rPr>
              <a:t>Tự động gửi nhắc hạn hợp đồng, hỗ trợ gia hạn. Báo cáo thống kê trực quan, triển khai thực tế bằng Docker &amp; Nginx.</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787783">
            <a:off x="1765300" y="10149589"/>
            <a:ext cx="13758345" cy="7410406"/>
            <a:chOff x="0" y="0"/>
            <a:chExt cx="1296853" cy="698500"/>
          </a:xfrm>
        </p:grpSpPr>
        <p:sp>
          <p:nvSpPr>
            <p:cNvPr name="Freeform 3" id="3"/>
            <p:cNvSpPr/>
            <p:nvPr/>
          </p:nvSpPr>
          <p:spPr>
            <a:xfrm flipH="false" flipV="false" rot="0">
              <a:off x="0" y="0"/>
              <a:ext cx="1296853" cy="698500"/>
            </a:xfrm>
            <a:custGeom>
              <a:avLst/>
              <a:gdLst/>
              <a:ahLst/>
              <a:cxnLst/>
              <a:rect r="r" b="b" t="t" l="l"/>
              <a:pathLst>
                <a:path h="698500" w="1296853">
                  <a:moveTo>
                    <a:pt x="1296853" y="349250"/>
                  </a:moveTo>
                  <a:lnTo>
                    <a:pt x="1093653" y="698500"/>
                  </a:lnTo>
                  <a:lnTo>
                    <a:pt x="203200" y="698500"/>
                  </a:lnTo>
                  <a:lnTo>
                    <a:pt x="0" y="349250"/>
                  </a:lnTo>
                  <a:lnTo>
                    <a:pt x="203200" y="0"/>
                  </a:lnTo>
                  <a:lnTo>
                    <a:pt x="1093653" y="0"/>
                  </a:lnTo>
                  <a:lnTo>
                    <a:pt x="1296853" y="349250"/>
                  </a:lnTo>
                  <a:close/>
                </a:path>
              </a:pathLst>
            </a:custGeom>
            <a:solidFill>
              <a:srgbClr val="FFA916"/>
            </a:solidFill>
          </p:spPr>
        </p:sp>
        <p:sp>
          <p:nvSpPr>
            <p:cNvPr name="TextBox 4" id="4"/>
            <p:cNvSpPr txBox="true"/>
            <p:nvPr/>
          </p:nvSpPr>
          <p:spPr>
            <a:xfrm>
              <a:off x="114300" y="-57150"/>
              <a:ext cx="1068253" cy="755650"/>
            </a:xfrm>
            <a:prstGeom prst="rect">
              <a:avLst/>
            </a:prstGeom>
          </p:spPr>
          <p:txBody>
            <a:bodyPr anchor="ctr" rtlCol="false" tIns="50800" lIns="50800" bIns="50800" rIns="50800"/>
            <a:lstStyle/>
            <a:p>
              <a:pPr algn="ctr" marL="0" indent="0" lvl="0">
                <a:lnSpc>
                  <a:spcPts val="2939"/>
                </a:lnSpc>
              </a:pPr>
            </a:p>
          </p:txBody>
        </p:sp>
      </p:grpSp>
      <p:grpSp>
        <p:nvGrpSpPr>
          <p:cNvPr name="Group 5" id="5"/>
          <p:cNvGrpSpPr/>
          <p:nvPr/>
        </p:nvGrpSpPr>
        <p:grpSpPr>
          <a:xfrm rot="-1787783">
            <a:off x="5129591" y="9086430"/>
            <a:ext cx="13531543" cy="3065584"/>
            <a:chOff x="0" y="0"/>
            <a:chExt cx="3083192" cy="698500"/>
          </a:xfrm>
        </p:grpSpPr>
        <p:sp>
          <p:nvSpPr>
            <p:cNvPr name="Freeform 6" id="6"/>
            <p:cNvSpPr/>
            <p:nvPr/>
          </p:nvSpPr>
          <p:spPr>
            <a:xfrm flipH="false" flipV="false" rot="0">
              <a:off x="0" y="0"/>
              <a:ext cx="3083192" cy="698500"/>
            </a:xfrm>
            <a:custGeom>
              <a:avLst/>
              <a:gdLst/>
              <a:ahLst/>
              <a:cxnLst/>
              <a:rect r="r" b="b" t="t" l="l"/>
              <a:pathLst>
                <a:path h="698500" w="3083192">
                  <a:moveTo>
                    <a:pt x="3083192" y="349250"/>
                  </a:moveTo>
                  <a:lnTo>
                    <a:pt x="2879992" y="698500"/>
                  </a:lnTo>
                  <a:lnTo>
                    <a:pt x="203200" y="698500"/>
                  </a:lnTo>
                  <a:lnTo>
                    <a:pt x="0" y="349250"/>
                  </a:lnTo>
                  <a:lnTo>
                    <a:pt x="203200" y="0"/>
                  </a:lnTo>
                  <a:lnTo>
                    <a:pt x="2879992" y="0"/>
                  </a:lnTo>
                  <a:lnTo>
                    <a:pt x="3083192" y="349250"/>
                  </a:lnTo>
                  <a:close/>
                </a:path>
              </a:pathLst>
            </a:custGeom>
            <a:solidFill>
              <a:srgbClr val="024A59"/>
            </a:solidFill>
          </p:spPr>
        </p:sp>
        <p:sp>
          <p:nvSpPr>
            <p:cNvPr name="TextBox 7" id="7"/>
            <p:cNvSpPr txBox="true"/>
            <p:nvPr/>
          </p:nvSpPr>
          <p:spPr>
            <a:xfrm>
              <a:off x="114300" y="-57150"/>
              <a:ext cx="2854592" cy="755650"/>
            </a:xfrm>
            <a:prstGeom prst="rect">
              <a:avLst/>
            </a:prstGeom>
          </p:spPr>
          <p:txBody>
            <a:bodyPr anchor="ctr" rtlCol="false" tIns="50800" lIns="50800" bIns="50800" rIns="50800"/>
            <a:lstStyle/>
            <a:p>
              <a:pPr algn="ctr" marL="0" indent="0" lvl="0">
                <a:lnSpc>
                  <a:spcPts val="2939"/>
                </a:lnSpc>
              </a:pPr>
            </a:p>
          </p:txBody>
        </p:sp>
      </p:grpSp>
      <p:grpSp>
        <p:nvGrpSpPr>
          <p:cNvPr name="Group 8" id="8"/>
          <p:cNvGrpSpPr/>
          <p:nvPr/>
        </p:nvGrpSpPr>
        <p:grpSpPr>
          <a:xfrm rot="-1787783">
            <a:off x="10578981" y="-1870630"/>
            <a:ext cx="13758345" cy="7410406"/>
            <a:chOff x="0" y="0"/>
            <a:chExt cx="1296853" cy="698500"/>
          </a:xfrm>
        </p:grpSpPr>
        <p:sp>
          <p:nvSpPr>
            <p:cNvPr name="Freeform 9" id="9"/>
            <p:cNvSpPr/>
            <p:nvPr/>
          </p:nvSpPr>
          <p:spPr>
            <a:xfrm flipH="false" flipV="false" rot="0">
              <a:off x="0" y="0"/>
              <a:ext cx="1296853" cy="698500"/>
            </a:xfrm>
            <a:custGeom>
              <a:avLst/>
              <a:gdLst/>
              <a:ahLst/>
              <a:cxnLst/>
              <a:rect r="r" b="b" t="t" l="l"/>
              <a:pathLst>
                <a:path h="698500" w="1296853">
                  <a:moveTo>
                    <a:pt x="1296853" y="349250"/>
                  </a:moveTo>
                  <a:lnTo>
                    <a:pt x="1093653" y="698500"/>
                  </a:lnTo>
                  <a:lnTo>
                    <a:pt x="203200" y="698500"/>
                  </a:lnTo>
                  <a:lnTo>
                    <a:pt x="0" y="349250"/>
                  </a:lnTo>
                  <a:lnTo>
                    <a:pt x="203200" y="0"/>
                  </a:lnTo>
                  <a:lnTo>
                    <a:pt x="1093653" y="0"/>
                  </a:lnTo>
                  <a:lnTo>
                    <a:pt x="1296853" y="349250"/>
                  </a:lnTo>
                  <a:close/>
                </a:path>
              </a:pathLst>
            </a:custGeom>
            <a:solidFill>
              <a:srgbClr val="024A59"/>
            </a:solidFill>
          </p:spPr>
        </p:sp>
        <p:sp>
          <p:nvSpPr>
            <p:cNvPr name="TextBox 10" id="10"/>
            <p:cNvSpPr txBox="true"/>
            <p:nvPr/>
          </p:nvSpPr>
          <p:spPr>
            <a:xfrm>
              <a:off x="114300" y="-57150"/>
              <a:ext cx="1068253" cy="755650"/>
            </a:xfrm>
            <a:prstGeom prst="rect">
              <a:avLst/>
            </a:prstGeom>
          </p:spPr>
          <p:txBody>
            <a:bodyPr anchor="ctr" rtlCol="false" tIns="50800" lIns="50800" bIns="50800" rIns="50800"/>
            <a:lstStyle/>
            <a:p>
              <a:pPr algn="ctr" marL="0" indent="0" lvl="0">
                <a:lnSpc>
                  <a:spcPts val="2939"/>
                </a:lnSpc>
              </a:pPr>
            </a:p>
          </p:txBody>
        </p:sp>
      </p:grpSp>
      <p:grpSp>
        <p:nvGrpSpPr>
          <p:cNvPr name="Group 11" id="11"/>
          <p:cNvGrpSpPr/>
          <p:nvPr/>
        </p:nvGrpSpPr>
        <p:grpSpPr>
          <a:xfrm rot="-1787783">
            <a:off x="9316170" y="-96463"/>
            <a:ext cx="14503583" cy="7811799"/>
            <a:chOff x="0" y="0"/>
            <a:chExt cx="1296853" cy="698500"/>
          </a:xfrm>
        </p:grpSpPr>
        <p:sp>
          <p:nvSpPr>
            <p:cNvPr name="Freeform 12" id="12"/>
            <p:cNvSpPr/>
            <p:nvPr/>
          </p:nvSpPr>
          <p:spPr>
            <a:xfrm flipH="false" flipV="false" rot="0">
              <a:off x="0" y="0"/>
              <a:ext cx="1296853" cy="698500"/>
            </a:xfrm>
            <a:custGeom>
              <a:avLst/>
              <a:gdLst/>
              <a:ahLst/>
              <a:cxnLst/>
              <a:rect r="r" b="b" t="t" l="l"/>
              <a:pathLst>
                <a:path h="698500" w="1296853">
                  <a:moveTo>
                    <a:pt x="1296853" y="349250"/>
                  </a:moveTo>
                  <a:lnTo>
                    <a:pt x="1093653" y="698500"/>
                  </a:lnTo>
                  <a:lnTo>
                    <a:pt x="203200" y="698500"/>
                  </a:lnTo>
                  <a:lnTo>
                    <a:pt x="0" y="349250"/>
                  </a:lnTo>
                  <a:lnTo>
                    <a:pt x="203200" y="0"/>
                  </a:lnTo>
                  <a:lnTo>
                    <a:pt x="1093653" y="0"/>
                  </a:lnTo>
                  <a:lnTo>
                    <a:pt x="1296853" y="349250"/>
                  </a:lnTo>
                  <a:close/>
                </a:path>
              </a:pathLst>
            </a:custGeom>
            <a:solidFill>
              <a:srgbClr val="FFA916"/>
            </a:solidFill>
          </p:spPr>
        </p:sp>
        <p:sp>
          <p:nvSpPr>
            <p:cNvPr name="TextBox 13" id="13"/>
            <p:cNvSpPr txBox="true"/>
            <p:nvPr/>
          </p:nvSpPr>
          <p:spPr>
            <a:xfrm>
              <a:off x="114300" y="-57150"/>
              <a:ext cx="1068253" cy="755650"/>
            </a:xfrm>
            <a:prstGeom prst="rect">
              <a:avLst/>
            </a:prstGeom>
          </p:spPr>
          <p:txBody>
            <a:bodyPr anchor="ctr" rtlCol="false" tIns="50800" lIns="50800" bIns="50800" rIns="50800"/>
            <a:lstStyle/>
            <a:p>
              <a:pPr algn="ctr" marL="0" indent="0" lvl="0">
                <a:lnSpc>
                  <a:spcPts val="2939"/>
                </a:lnSpc>
              </a:pPr>
            </a:p>
          </p:txBody>
        </p:sp>
      </p:grpSp>
      <p:sp>
        <p:nvSpPr>
          <p:cNvPr name="Freeform 14" id="14"/>
          <p:cNvSpPr/>
          <p:nvPr/>
        </p:nvSpPr>
        <p:spPr>
          <a:xfrm flipH="false" flipV="false" rot="-1813147">
            <a:off x="9836813" y="1312669"/>
            <a:ext cx="8743695" cy="7661663"/>
          </a:xfrm>
          <a:custGeom>
            <a:avLst/>
            <a:gdLst/>
            <a:ahLst/>
            <a:cxnLst/>
            <a:rect r="r" b="b" t="t" l="l"/>
            <a:pathLst>
              <a:path h="7661663" w="8743695">
                <a:moveTo>
                  <a:pt x="0" y="0"/>
                </a:moveTo>
                <a:lnTo>
                  <a:pt x="8743694" y="0"/>
                </a:lnTo>
                <a:lnTo>
                  <a:pt x="8743694" y="7661662"/>
                </a:lnTo>
                <a:lnTo>
                  <a:pt x="0" y="7661662"/>
                </a:lnTo>
                <a:lnTo>
                  <a:pt x="0" y="0"/>
                </a:lnTo>
                <a:close/>
              </a:path>
            </a:pathLst>
          </a:custGeom>
          <a:blipFill>
            <a:blip r:embed="rId2"/>
            <a:stretch>
              <a:fillRect l="0" t="0" r="0" b="0"/>
            </a:stretch>
          </a:blipFill>
        </p:spPr>
      </p:sp>
      <p:grpSp>
        <p:nvGrpSpPr>
          <p:cNvPr name="Group 15" id="15"/>
          <p:cNvGrpSpPr/>
          <p:nvPr/>
        </p:nvGrpSpPr>
        <p:grpSpPr>
          <a:xfrm rot="0">
            <a:off x="10595487" y="939081"/>
            <a:ext cx="7226346" cy="8408839"/>
            <a:chOff x="0" y="0"/>
            <a:chExt cx="698500" cy="812800"/>
          </a:xfrm>
        </p:grpSpPr>
        <p:sp>
          <p:nvSpPr>
            <p:cNvPr name="Freeform 16" id="16"/>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24A59"/>
            </a:solidFill>
          </p:spPr>
        </p:sp>
        <p:sp>
          <p:nvSpPr>
            <p:cNvPr name="TextBox 17" id="17"/>
            <p:cNvSpPr txBox="true"/>
            <p:nvPr/>
          </p:nvSpPr>
          <p:spPr>
            <a:xfrm>
              <a:off x="0" y="82550"/>
              <a:ext cx="698500" cy="590550"/>
            </a:xfrm>
            <a:prstGeom prst="rect">
              <a:avLst/>
            </a:prstGeom>
          </p:spPr>
          <p:txBody>
            <a:bodyPr anchor="ctr" rtlCol="false" tIns="50800" lIns="50800" bIns="50800" rIns="50800"/>
            <a:lstStyle/>
            <a:p>
              <a:pPr algn="ctr" marL="0" indent="0" lvl="0">
                <a:lnSpc>
                  <a:spcPts val="2939"/>
                </a:lnSpc>
              </a:pPr>
            </a:p>
          </p:txBody>
        </p:sp>
      </p:grpSp>
      <p:grpSp>
        <p:nvGrpSpPr>
          <p:cNvPr name="Group 18" id="18"/>
          <p:cNvGrpSpPr>
            <a:grpSpLocks noChangeAspect="true"/>
          </p:cNvGrpSpPr>
          <p:nvPr/>
        </p:nvGrpSpPr>
        <p:grpSpPr>
          <a:xfrm rot="0">
            <a:off x="10819302" y="1229804"/>
            <a:ext cx="6778716" cy="7827392"/>
            <a:chOff x="0" y="0"/>
            <a:chExt cx="31287555" cy="36127779"/>
          </a:xfrm>
        </p:grpSpPr>
        <p:sp>
          <p:nvSpPr>
            <p:cNvPr name="Freeform 19" id="19"/>
            <p:cNvSpPr/>
            <p:nvPr/>
          </p:nvSpPr>
          <p:spPr>
            <a:xfrm flipH="false" flipV="false" rot="0">
              <a:off x="0" y="0"/>
              <a:ext cx="31287467" cy="36127817"/>
            </a:xfrm>
            <a:custGeom>
              <a:avLst/>
              <a:gdLst/>
              <a:ahLst/>
              <a:cxnLst/>
              <a:rect r="r" b="b" t="t" l="l"/>
              <a:pathLst>
                <a:path h="36127817" w="31287467">
                  <a:moveTo>
                    <a:pt x="15643733" y="0"/>
                  </a:moveTo>
                  <a:lnTo>
                    <a:pt x="0" y="9031859"/>
                  </a:lnTo>
                  <a:lnTo>
                    <a:pt x="0" y="27095831"/>
                  </a:lnTo>
                  <a:lnTo>
                    <a:pt x="15643733" y="36127817"/>
                  </a:lnTo>
                  <a:lnTo>
                    <a:pt x="31287467" y="27095958"/>
                  </a:lnTo>
                  <a:lnTo>
                    <a:pt x="31287467" y="9031859"/>
                  </a:lnTo>
                  <a:lnTo>
                    <a:pt x="15643861" y="0"/>
                  </a:lnTo>
                  <a:close/>
                </a:path>
              </a:pathLst>
            </a:custGeom>
            <a:blipFill>
              <a:blip r:embed="rId3"/>
              <a:stretch>
                <a:fillRect l="0" t="-3540" r="0" b="-3540"/>
              </a:stretch>
            </a:blipFill>
          </p:spPr>
        </p:sp>
      </p:grpSp>
      <p:sp>
        <p:nvSpPr>
          <p:cNvPr name="TextBox 20" id="20"/>
          <p:cNvSpPr txBox="true"/>
          <p:nvPr/>
        </p:nvSpPr>
        <p:spPr>
          <a:xfrm rot="0">
            <a:off x="1028700" y="1009650"/>
            <a:ext cx="7305263" cy="1284283"/>
          </a:xfrm>
          <a:prstGeom prst="rect">
            <a:avLst/>
          </a:prstGeom>
        </p:spPr>
        <p:txBody>
          <a:bodyPr anchor="t" rtlCol="false" tIns="0" lIns="0" bIns="0" rIns="0">
            <a:spAutoFit/>
          </a:bodyPr>
          <a:lstStyle/>
          <a:p>
            <a:pPr algn="l" marL="0" indent="0" lvl="0">
              <a:lnSpc>
                <a:spcPts val="4886"/>
              </a:lnSpc>
            </a:pPr>
            <a:r>
              <a:rPr lang="en-US" b="true" sz="4249">
                <a:solidFill>
                  <a:srgbClr val="000000"/>
                </a:solidFill>
                <a:latin typeface="Poppins Bold"/>
                <a:ea typeface="Poppins Bold"/>
                <a:cs typeface="Poppins Bold"/>
                <a:sym typeface="Poppins Bold"/>
              </a:rPr>
              <a:t>Kết luận &amp; Hướng phát triển</a:t>
            </a:r>
          </a:p>
        </p:txBody>
      </p:sp>
      <p:sp>
        <p:nvSpPr>
          <p:cNvPr name="TextBox 21" id="21"/>
          <p:cNvSpPr txBox="true"/>
          <p:nvPr/>
        </p:nvSpPr>
        <p:spPr>
          <a:xfrm rot="0">
            <a:off x="2503623" y="3799912"/>
            <a:ext cx="4315880" cy="447056"/>
          </a:xfrm>
          <a:prstGeom prst="rect">
            <a:avLst/>
          </a:prstGeom>
        </p:spPr>
        <p:txBody>
          <a:bodyPr anchor="t" rtlCol="false" tIns="0" lIns="0" bIns="0" rIns="0">
            <a:spAutoFit/>
          </a:bodyPr>
          <a:lstStyle/>
          <a:p>
            <a:pPr algn="l" marL="0" indent="0" lvl="0">
              <a:lnSpc>
                <a:spcPts val="3337"/>
              </a:lnSpc>
            </a:pPr>
            <a:r>
              <a:rPr lang="en-US" b="true" sz="2902">
                <a:solidFill>
                  <a:srgbClr val="000000"/>
                </a:solidFill>
                <a:latin typeface="Poppins Bold"/>
                <a:ea typeface="Poppins Bold"/>
                <a:cs typeface="Poppins Bold"/>
                <a:sym typeface="Poppins Bold"/>
              </a:rPr>
              <a:t>Kết luận</a:t>
            </a:r>
          </a:p>
        </p:txBody>
      </p:sp>
      <p:sp>
        <p:nvSpPr>
          <p:cNvPr name="TextBox 22" id="22"/>
          <p:cNvSpPr txBox="true"/>
          <p:nvPr/>
        </p:nvSpPr>
        <p:spPr>
          <a:xfrm rot="0">
            <a:off x="2503623" y="5616377"/>
            <a:ext cx="4726493" cy="447056"/>
          </a:xfrm>
          <a:prstGeom prst="rect">
            <a:avLst/>
          </a:prstGeom>
        </p:spPr>
        <p:txBody>
          <a:bodyPr anchor="t" rtlCol="false" tIns="0" lIns="0" bIns="0" rIns="0">
            <a:spAutoFit/>
          </a:bodyPr>
          <a:lstStyle/>
          <a:p>
            <a:pPr algn="l" marL="0" indent="0" lvl="0">
              <a:lnSpc>
                <a:spcPts val="3337"/>
              </a:lnSpc>
            </a:pPr>
            <a:r>
              <a:rPr lang="en-US" b="true" sz="2902">
                <a:solidFill>
                  <a:srgbClr val="000000"/>
                </a:solidFill>
                <a:latin typeface="Poppins Bold"/>
                <a:ea typeface="Poppins Bold"/>
                <a:cs typeface="Poppins Bold"/>
                <a:sym typeface="Poppins Bold"/>
              </a:rPr>
              <a:t>Hướng phát triển</a:t>
            </a:r>
          </a:p>
        </p:txBody>
      </p:sp>
      <p:sp>
        <p:nvSpPr>
          <p:cNvPr name="TextBox 23" id="23"/>
          <p:cNvSpPr txBox="true"/>
          <p:nvPr/>
        </p:nvSpPr>
        <p:spPr>
          <a:xfrm rot="0">
            <a:off x="2503623" y="7565425"/>
            <a:ext cx="4315880" cy="447056"/>
          </a:xfrm>
          <a:prstGeom prst="rect">
            <a:avLst/>
          </a:prstGeom>
        </p:spPr>
        <p:txBody>
          <a:bodyPr anchor="t" rtlCol="false" tIns="0" lIns="0" bIns="0" rIns="0">
            <a:spAutoFit/>
          </a:bodyPr>
          <a:lstStyle/>
          <a:p>
            <a:pPr algn="l" marL="0" indent="0" lvl="0">
              <a:lnSpc>
                <a:spcPts val="3337"/>
              </a:lnSpc>
            </a:pPr>
            <a:r>
              <a:rPr lang="en-US" b="true" sz="2902">
                <a:solidFill>
                  <a:srgbClr val="000000"/>
                </a:solidFill>
                <a:latin typeface="Poppins Bold"/>
                <a:ea typeface="Poppins Bold"/>
                <a:cs typeface="Poppins Bold"/>
                <a:sym typeface="Poppins Bold"/>
              </a:rPr>
              <a:t>Tiềm năng mở rộng</a:t>
            </a:r>
          </a:p>
        </p:txBody>
      </p:sp>
      <p:grpSp>
        <p:nvGrpSpPr>
          <p:cNvPr name="Group 24" id="24"/>
          <p:cNvGrpSpPr/>
          <p:nvPr/>
        </p:nvGrpSpPr>
        <p:grpSpPr>
          <a:xfrm rot="0">
            <a:off x="1028700" y="3809437"/>
            <a:ext cx="1178881" cy="1013101"/>
            <a:chOff x="0" y="0"/>
            <a:chExt cx="1571841" cy="1350801"/>
          </a:xfrm>
        </p:grpSpPr>
        <p:grpSp>
          <p:nvGrpSpPr>
            <p:cNvPr name="Group 25" id="25"/>
            <p:cNvGrpSpPr/>
            <p:nvPr/>
          </p:nvGrpSpPr>
          <p:grpSpPr>
            <a:xfrm rot="0">
              <a:off x="0" y="0"/>
              <a:ext cx="1571841" cy="1350801"/>
              <a:chOff x="0" y="0"/>
              <a:chExt cx="812800" cy="698500"/>
            </a:xfrm>
          </p:grpSpPr>
          <p:sp>
            <p:nvSpPr>
              <p:cNvPr name="Freeform 26" id="26"/>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24A59"/>
              </a:solidFill>
              <a:ln w="57150" cap="sq">
                <a:solidFill>
                  <a:srgbClr val="FFA916"/>
                </a:solidFill>
                <a:prstDash val="solid"/>
                <a:miter/>
              </a:ln>
            </p:spPr>
          </p:sp>
          <p:sp>
            <p:nvSpPr>
              <p:cNvPr name="TextBox 27" id="27"/>
              <p:cNvSpPr txBox="true"/>
              <p:nvPr/>
            </p:nvSpPr>
            <p:spPr>
              <a:xfrm>
                <a:off x="114300" y="-57150"/>
                <a:ext cx="584200" cy="755650"/>
              </a:xfrm>
              <a:prstGeom prst="rect">
                <a:avLst/>
              </a:prstGeom>
            </p:spPr>
            <p:txBody>
              <a:bodyPr anchor="ctr" rtlCol="false" tIns="50800" lIns="50800" bIns="50800" rIns="50800"/>
              <a:lstStyle/>
              <a:p>
                <a:pPr algn="ctr" marL="0" indent="0" lvl="0">
                  <a:lnSpc>
                    <a:spcPts val="2660"/>
                  </a:lnSpc>
                </a:pPr>
              </a:p>
            </p:txBody>
          </p:sp>
        </p:grpSp>
        <p:sp>
          <p:nvSpPr>
            <p:cNvPr name="Freeform 28" id="28"/>
            <p:cNvSpPr/>
            <p:nvPr/>
          </p:nvSpPr>
          <p:spPr>
            <a:xfrm flipH="false" flipV="false" rot="0">
              <a:off x="311131" y="262927"/>
              <a:ext cx="949580" cy="824947"/>
            </a:xfrm>
            <a:custGeom>
              <a:avLst/>
              <a:gdLst/>
              <a:ahLst/>
              <a:cxnLst/>
              <a:rect r="r" b="b" t="t" l="l"/>
              <a:pathLst>
                <a:path h="824947" w="949580">
                  <a:moveTo>
                    <a:pt x="0" y="0"/>
                  </a:moveTo>
                  <a:lnTo>
                    <a:pt x="949579" y="0"/>
                  </a:lnTo>
                  <a:lnTo>
                    <a:pt x="949579" y="824947"/>
                  </a:lnTo>
                  <a:lnTo>
                    <a:pt x="0" y="8249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29" id="29"/>
          <p:cNvGrpSpPr/>
          <p:nvPr/>
        </p:nvGrpSpPr>
        <p:grpSpPr>
          <a:xfrm rot="0">
            <a:off x="1028700" y="5619642"/>
            <a:ext cx="1178881" cy="1013101"/>
            <a:chOff x="0" y="0"/>
            <a:chExt cx="1571841" cy="1350801"/>
          </a:xfrm>
        </p:grpSpPr>
        <p:grpSp>
          <p:nvGrpSpPr>
            <p:cNvPr name="Group 30" id="30"/>
            <p:cNvGrpSpPr/>
            <p:nvPr/>
          </p:nvGrpSpPr>
          <p:grpSpPr>
            <a:xfrm rot="0">
              <a:off x="0" y="0"/>
              <a:ext cx="1571841" cy="1350801"/>
              <a:chOff x="0" y="0"/>
              <a:chExt cx="812800" cy="698500"/>
            </a:xfrm>
          </p:grpSpPr>
          <p:sp>
            <p:nvSpPr>
              <p:cNvPr name="Freeform 31" id="31"/>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24A59"/>
              </a:solidFill>
              <a:ln w="57150" cap="sq">
                <a:solidFill>
                  <a:srgbClr val="FFA916"/>
                </a:solidFill>
                <a:prstDash val="solid"/>
                <a:miter/>
              </a:ln>
            </p:spPr>
          </p:sp>
          <p:sp>
            <p:nvSpPr>
              <p:cNvPr name="TextBox 32" id="32"/>
              <p:cNvSpPr txBox="true"/>
              <p:nvPr/>
            </p:nvSpPr>
            <p:spPr>
              <a:xfrm>
                <a:off x="114300" y="-57150"/>
                <a:ext cx="584200" cy="755650"/>
              </a:xfrm>
              <a:prstGeom prst="rect">
                <a:avLst/>
              </a:prstGeom>
            </p:spPr>
            <p:txBody>
              <a:bodyPr anchor="ctr" rtlCol="false" tIns="50800" lIns="50800" bIns="50800" rIns="50800"/>
              <a:lstStyle/>
              <a:p>
                <a:pPr algn="ctr" marL="0" indent="0" lvl="0">
                  <a:lnSpc>
                    <a:spcPts val="2660"/>
                  </a:lnSpc>
                </a:pPr>
              </a:p>
            </p:txBody>
          </p:sp>
        </p:grpSp>
        <p:sp>
          <p:nvSpPr>
            <p:cNvPr name="Freeform 33" id="33"/>
            <p:cNvSpPr/>
            <p:nvPr/>
          </p:nvSpPr>
          <p:spPr>
            <a:xfrm flipH="false" flipV="false" rot="0">
              <a:off x="311131" y="262927"/>
              <a:ext cx="949580" cy="824947"/>
            </a:xfrm>
            <a:custGeom>
              <a:avLst/>
              <a:gdLst/>
              <a:ahLst/>
              <a:cxnLst/>
              <a:rect r="r" b="b" t="t" l="l"/>
              <a:pathLst>
                <a:path h="824947" w="949580">
                  <a:moveTo>
                    <a:pt x="0" y="0"/>
                  </a:moveTo>
                  <a:lnTo>
                    <a:pt x="949579" y="0"/>
                  </a:lnTo>
                  <a:lnTo>
                    <a:pt x="949579" y="824947"/>
                  </a:lnTo>
                  <a:lnTo>
                    <a:pt x="0" y="8249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34" id="34"/>
          <p:cNvGrpSpPr/>
          <p:nvPr/>
        </p:nvGrpSpPr>
        <p:grpSpPr>
          <a:xfrm rot="0">
            <a:off x="1028700" y="7568690"/>
            <a:ext cx="1178881" cy="1013101"/>
            <a:chOff x="0" y="0"/>
            <a:chExt cx="1571841" cy="1350801"/>
          </a:xfrm>
        </p:grpSpPr>
        <p:grpSp>
          <p:nvGrpSpPr>
            <p:cNvPr name="Group 35" id="35"/>
            <p:cNvGrpSpPr/>
            <p:nvPr/>
          </p:nvGrpSpPr>
          <p:grpSpPr>
            <a:xfrm rot="0">
              <a:off x="0" y="0"/>
              <a:ext cx="1571841" cy="1350801"/>
              <a:chOff x="0" y="0"/>
              <a:chExt cx="812800" cy="698500"/>
            </a:xfrm>
          </p:grpSpPr>
          <p:sp>
            <p:nvSpPr>
              <p:cNvPr name="Freeform 36" id="36"/>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24A59"/>
              </a:solidFill>
              <a:ln w="57150" cap="sq">
                <a:solidFill>
                  <a:srgbClr val="FFA916"/>
                </a:solidFill>
                <a:prstDash val="solid"/>
                <a:miter/>
              </a:ln>
            </p:spPr>
          </p:sp>
          <p:sp>
            <p:nvSpPr>
              <p:cNvPr name="TextBox 37" id="37"/>
              <p:cNvSpPr txBox="true"/>
              <p:nvPr/>
            </p:nvSpPr>
            <p:spPr>
              <a:xfrm>
                <a:off x="114300" y="-57150"/>
                <a:ext cx="584200" cy="755650"/>
              </a:xfrm>
              <a:prstGeom prst="rect">
                <a:avLst/>
              </a:prstGeom>
            </p:spPr>
            <p:txBody>
              <a:bodyPr anchor="ctr" rtlCol="false" tIns="50800" lIns="50800" bIns="50800" rIns="50800"/>
              <a:lstStyle/>
              <a:p>
                <a:pPr algn="ctr" marL="0" indent="0" lvl="0">
                  <a:lnSpc>
                    <a:spcPts val="2660"/>
                  </a:lnSpc>
                </a:pPr>
              </a:p>
            </p:txBody>
          </p:sp>
        </p:grpSp>
        <p:sp>
          <p:nvSpPr>
            <p:cNvPr name="Freeform 38" id="38"/>
            <p:cNvSpPr/>
            <p:nvPr/>
          </p:nvSpPr>
          <p:spPr>
            <a:xfrm flipH="false" flipV="false" rot="0">
              <a:off x="311131" y="262927"/>
              <a:ext cx="949580" cy="824947"/>
            </a:xfrm>
            <a:custGeom>
              <a:avLst/>
              <a:gdLst/>
              <a:ahLst/>
              <a:cxnLst/>
              <a:rect r="r" b="b" t="t" l="l"/>
              <a:pathLst>
                <a:path h="824947" w="949580">
                  <a:moveTo>
                    <a:pt x="0" y="0"/>
                  </a:moveTo>
                  <a:lnTo>
                    <a:pt x="949579" y="0"/>
                  </a:lnTo>
                  <a:lnTo>
                    <a:pt x="949579" y="824947"/>
                  </a:lnTo>
                  <a:lnTo>
                    <a:pt x="0" y="8249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39" id="39"/>
          <p:cNvSpPr txBox="true"/>
          <p:nvPr/>
        </p:nvSpPr>
        <p:spPr>
          <a:xfrm rot="0">
            <a:off x="2503623" y="4277887"/>
            <a:ext cx="7143620" cy="901079"/>
          </a:xfrm>
          <a:prstGeom prst="rect">
            <a:avLst/>
          </a:prstGeom>
        </p:spPr>
        <p:txBody>
          <a:bodyPr anchor="t" rtlCol="false" tIns="0" lIns="0" bIns="0" rIns="0">
            <a:spAutoFit/>
          </a:bodyPr>
          <a:lstStyle/>
          <a:p>
            <a:pPr algn="just" marL="0" indent="0" lvl="0">
              <a:lnSpc>
                <a:spcPts val="2338"/>
              </a:lnSpc>
            </a:pPr>
            <a:r>
              <a:rPr lang="en-US" sz="1798">
                <a:solidFill>
                  <a:srgbClr val="000000"/>
                </a:solidFill>
                <a:latin typeface="Poppins"/>
                <a:ea typeface="Poppins"/>
                <a:cs typeface="Poppins"/>
                <a:sym typeface="Poppins"/>
              </a:rPr>
              <a:t>• Hệ thống đáp ứng nhu cầu quản lý hợp đồng điện tử</a:t>
            </a:r>
          </a:p>
          <a:p>
            <a:pPr algn="just" marL="0" indent="0" lvl="0">
              <a:lnSpc>
                <a:spcPts val="2338"/>
              </a:lnSpc>
            </a:pPr>
            <a:r>
              <a:rPr lang="en-US" sz="1798">
                <a:solidFill>
                  <a:srgbClr val="000000"/>
                </a:solidFill>
                <a:latin typeface="Poppins"/>
                <a:ea typeface="Poppins"/>
                <a:cs typeface="Poppins"/>
                <a:sym typeface="Poppins"/>
              </a:rPr>
              <a:t>• Giao diện trực quan, dễ sử dụng</a:t>
            </a:r>
          </a:p>
          <a:p>
            <a:pPr algn="just" marL="0" indent="0" lvl="0">
              <a:lnSpc>
                <a:spcPts val="2338"/>
              </a:lnSpc>
            </a:pPr>
            <a:r>
              <a:rPr lang="en-US" sz="1798">
                <a:solidFill>
                  <a:srgbClr val="000000"/>
                </a:solidFill>
                <a:latin typeface="Poppins"/>
                <a:ea typeface="Poppins"/>
                <a:cs typeface="Poppins"/>
                <a:sym typeface="Poppins"/>
              </a:rPr>
              <a:t>• Có khả năng triển khai thực tế</a:t>
            </a:r>
          </a:p>
        </p:txBody>
      </p:sp>
      <p:sp>
        <p:nvSpPr>
          <p:cNvPr name="TextBox 40" id="40"/>
          <p:cNvSpPr txBox="true"/>
          <p:nvPr/>
        </p:nvSpPr>
        <p:spPr>
          <a:xfrm rot="0">
            <a:off x="2503623" y="6094353"/>
            <a:ext cx="7143620" cy="901079"/>
          </a:xfrm>
          <a:prstGeom prst="rect">
            <a:avLst/>
          </a:prstGeom>
        </p:spPr>
        <p:txBody>
          <a:bodyPr anchor="t" rtlCol="false" tIns="0" lIns="0" bIns="0" rIns="0">
            <a:spAutoFit/>
          </a:bodyPr>
          <a:lstStyle/>
          <a:p>
            <a:pPr algn="just" marL="0" indent="0" lvl="0">
              <a:lnSpc>
                <a:spcPts val="2338"/>
              </a:lnSpc>
            </a:pPr>
            <a:r>
              <a:rPr lang="en-US" sz="1798">
                <a:solidFill>
                  <a:srgbClr val="000000"/>
                </a:solidFill>
                <a:latin typeface="Poppins"/>
                <a:ea typeface="Poppins"/>
                <a:cs typeface="Poppins"/>
                <a:sym typeface="Poppins"/>
              </a:rPr>
              <a:t>• Tích hợp chữ ký số CA</a:t>
            </a:r>
          </a:p>
          <a:p>
            <a:pPr algn="just" marL="0" indent="0" lvl="0">
              <a:lnSpc>
                <a:spcPts val="2338"/>
              </a:lnSpc>
            </a:pPr>
            <a:r>
              <a:rPr lang="en-US" sz="1798">
                <a:solidFill>
                  <a:srgbClr val="000000"/>
                </a:solidFill>
                <a:latin typeface="Poppins"/>
                <a:ea typeface="Poppins"/>
                <a:cs typeface="Poppins"/>
                <a:sym typeface="Poppins"/>
              </a:rPr>
              <a:t>• Tích hợp SMS / Zalo / Email nâng cao</a:t>
            </a:r>
          </a:p>
          <a:p>
            <a:pPr algn="just" marL="0" indent="0" lvl="0">
              <a:lnSpc>
                <a:spcPts val="2338"/>
              </a:lnSpc>
            </a:pPr>
            <a:r>
              <a:rPr lang="en-US" sz="1798">
                <a:solidFill>
                  <a:srgbClr val="000000"/>
                </a:solidFill>
                <a:latin typeface="Poppins"/>
                <a:ea typeface="Poppins"/>
                <a:cs typeface="Poppins"/>
                <a:sym typeface="Poppins"/>
              </a:rPr>
              <a:t>• AI trích xuất nội dung hợp đồng</a:t>
            </a:r>
          </a:p>
        </p:txBody>
      </p:sp>
      <p:sp>
        <p:nvSpPr>
          <p:cNvPr name="TextBox 41" id="41"/>
          <p:cNvSpPr txBox="true"/>
          <p:nvPr/>
        </p:nvSpPr>
        <p:spPr>
          <a:xfrm rot="0">
            <a:off x="2503623" y="8043400"/>
            <a:ext cx="7143620" cy="901079"/>
          </a:xfrm>
          <a:prstGeom prst="rect">
            <a:avLst/>
          </a:prstGeom>
        </p:spPr>
        <p:txBody>
          <a:bodyPr anchor="t" rtlCol="false" tIns="0" lIns="0" bIns="0" rIns="0">
            <a:spAutoFit/>
          </a:bodyPr>
          <a:lstStyle/>
          <a:p>
            <a:pPr algn="just" marL="0" indent="0" lvl="0">
              <a:lnSpc>
                <a:spcPts val="2338"/>
              </a:lnSpc>
            </a:pPr>
            <a:r>
              <a:rPr lang="en-US" sz="1798">
                <a:solidFill>
                  <a:srgbClr val="000000"/>
                </a:solidFill>
                <a:latin typeface="Poppins"/>
                <a:ea typeface="Poppins"/>
                <a:cs typeface="Poppins"/>
                <a:sym typeface="Poppins"/>
              </a:rPr>
              <a:t>• Mobile app cho quản lý duyệt nhanh</a:t>
            </a:r>
          </a:p>
          <a:p>
            <a:pPr algn="just" marL="0" indent="0" lvl="0">
              <a:lnSpc>
                <a:spcPts val="2338"/>
              </a:lnSpc>
            </a:pPr>
            <a:r>
              <a:rPr lang="en-US" sz="1798">
                <a:solidFill>
                  <a:srgbClr val="000000"/>
                </a:solidFill>
                <a:latin typeface="Poppins"/>
                <a:ea typeface="Poppins"/>
                <a:cs typeface="Poppins"/>
                <a:sym typeface="Poppins"/>
              </a:rPr>
              <a:t>• Mở rộng đa chi nhánh, đa tổ chức</a:t>
            </a:r>
          </a:p>
          <a:p>
            <a:pPr algn="just" marL="0" indent="0" lvl="0">
              <a:lnSpc>
                <a:spcPts val="2338"/>
              </a:lnSpc>
            </a:pPr>
            <a:r>
              <a:rPr lang="en-US" sz="1798">
                <a:solidFill>
                  <a:srgbClr val="000000"/>
                </a:solidFill>
                <a:latin typeface="Poppins"/>
                <a:ea typeface="Poppins"/>
                <a:cs typeface="Poppins"/>
                <a:sym typeface="Poppins"/>
              </a:rPr>
              <a:t>• Tích hợp ERP và hệ thống kế toán</a:t>
            </a:r>
          </a:p>
        </p:txBody>
      </p:sp>
      <p:sp>
        <p:nvSpPr>
          <p:cNvPr name="TextBox 42" id="42"/>
          <p:cNvSpPr txBox="true"/>
          <p:nvPr/>
        </p:nvSpPr>
        <p:spPr>
          <a:xfrm rot="0">
            <a:off x="1028700" y="2085583"/>
            <a:ext cx="8410696" cy="1281992"/>
          </a:xfrm>
          <a:prstGeom prst="rect">
            <a:avLst/>
          </a:prstGeom>
        </p:spPr>
        <p:txBody>
          <a:bodyPr anchor="t" rtlCol="false" tIns="0" lIns="0" bIns="0" rIns="0">
            <a:spAutoFit/>
          </a:bodyPr>
          <a:lstStyle/>
          <a:p>
            <a:pPr algn="just" marL="0" indent="0" lvl="0">
              <a:lnSpc>
                <a:spcPts val="3322"/>
              </a:lnSpc>
            </a:pPr>
            <a:r>
              <a:rPr lang="en-US" sz="2555">
                <a:solidFill>
                  <a:srgbClr val="000000"/>
                </a:solidFill>
                <a:latin typeface="Poppins"/>
                <a:ea typeface="Poppins"/>
                <a:cs typeface="Poppins"/>
                <a:sym typeface="Poppins"/>
              </a:rPr>
              <a:t>Hệ thống ECMS đã được hoàn thiện và sẵn sàng triển khai thực tế, đáp ứng đầy đủ nhu cầu quản lý hợp đồng điện tử hiện đại.</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787783">
            <a:off x="1765300" y="10149589"/>
            <a:ext cx="13758345" cy="7410406"/>
            <a:chOff x="0" y="0"/>
            <a:chExt cx="1296853" cy="698500"/>
          </a:xfrm>
        </p:grpSpPr>
        <p:sp>
          <p:nvSpPr>
            <p:cNvPr name="Freeform 3" id="3"/>
            <p:cNvSpPr/>
            <p:nvPr/>
          </p:nvSpPr>
          <p:spPr>
            <a:xfrm flipH="false" flipV="false" rot="0">
              <a:off x="0" y="0"/>
              <a:ext cx="1296853" cy="698500"/>
            </a:xfrm>
            <a:custGeom>
              <a:avLst/>
              <a:gdLst/>
              <a:ahLst/>
              <a:cxnLst/>
              <a:rect r="r" b="b" t="t" l="l"/>
              <a:pathLst>
                <a:path h="698500" w="1296853">
                  <a:moveTo>
                    <a:pt x="1296853" y="349250"/>
                  </a:moveTo>
                  <a:lnTo>
                    <a:pt x="1093653" y="698500"/>
                  </a:lnTo>
                  <a:lnTo>
                    <a:pt x="203200" y="698500"/>
                  </a:lnTo>
                  <a:lnTo>
                    <a:pt x="0" y="349250"/>
                  </a:lnTo>
                  <a:lnTo>
                    <a:pt x="203200" y="0"/>
                  </a:lnTo>
                  <a:lnTo>
                    <a:pt x="1093653" y="0"/>
                  </a:lnTo>
                  <a:lnTo>
                    <a:pt x="1296853" y="349250"/>
                  </a:lnTo>
                  <a:close/>
                </a:path>
              </a:pathLst>
            </a:custGeom>
            <a:solidFill>
              <a:srgbClr val="FFA916"/>
            </a:solidFill>
          </p:spPr>
        </p:sp>
        <p:sp>
          <p:nvSpPr>
            <p:cNvPr name="TextBox 4" id="4"/>
            <p:cNvSpPr txBox="true"/>
            <p:nvPr/>
          </p:nvSpPr>
          <p:spPr>
            <a:xfrm>
              <a:off x="114300" y="-57150"/>
              <a:ext cx="1068253" cy="755650"/>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1787783">
            <a:off x="5129591" y="9086430"/>
            <a:ext cx="13531543" cy="3065584"/>
            <a:chOff x="0" y="0"/>
            <a:chExt cx="3083192" cy="698500"/>
          </a:xfrm>
        </p:grpSpPr>
        <p:sp>
          <p:nvSpPr>
            <p:cNvPr name="Freeform 6" id="6"/>
            <p:cNvSpPr/>
            <p:nvPr/>
          </p:nvSpPr>
          <p:spPr>
            <a:xfrm flipH="false" flipV="false" rot="0">
              <a:off x="0" y="0"/>
              <a:ext cx="3083192" cy="698500"/>
            </a:xfrm>
            <a:custGeom>
              <a:avLst/>
              <a:gdLst/>
              <a:ahLst/>
              <a:cxnLst/>
              <a:rect r="r" b="b" t="t" l="l"/>
              <a:pathLst>
                <a:path h="698500" w="3083192">
                  <a:moveTo>
                    <a:pt x="3083192" y="349250"/>
                  </a:moveTo>
                  <a:lnTo>
                    <a:pt x="2879992" y="698500"/>
                  </a:lnTo>
                  <a:lnTo>
                    <a:pt x="203200" y="698500"/>
                  </a:lnTo>
                  <a:lnTo>
                    <a:pt x="0" y="349250"/>
                  </a:lnTo>
                  <a:lnTo>
                    <a:pt x="203200" y="0"/>
                  </a:lnTo>
                  <a:lnTo>
                    <a:pt x="2879992" y="0"/>
                  </a:lnTo>
                  <a:lnTo>
                    <a:pt x="3083192" y="349250"/>
                  </a:lnTo>
                  <a:close/>
                </a:path>
              </a:pathLst>
            </a:custGeom>
            <a:solidFill>
              <a:srgbClr val="024A59"/>
            </a:solidFill>
          </p:spPr>
        </p:sp>
        <p:sp>
          <p:nvSpPr>
            <p:cNvPr name="TextBox 7" id="7"/>
            <p:cNvSpPr txBox="true"/>
            <p:nvPr/>
          </p:nvSpPr>
          <p:spPr>
            <a:xfrm>
              <a:off x="114300" y="-57150"/>
              <a:ext cx="2854592" cy="755650"/>
            </a:xfrm>
            <a:prstGeom prst="rect">
              <a:avLst/>
            </a:prstGeom>
          </p:spPr>
          <p:txBody>
            <a:bodyPr anchor="ctr" rtlCol="false" tIns="50800" lIns="50800" bIns="50800" rIns="50800"/>
            <a:lstStyle/>
            <a:p>
              <a:pPr algn="ctr" marL="0" indent="0" lvl="0">
                <a:lnSpc>
                  <a:spcPts val="2659"/>
                </a:lnSpc>
              </a:pPr>
            </a:p>
          </p:txBody>
        </p:sp>
      </p:grpSp>
      <p:grpSp>
        <p:nvGrpSpPr>
          <p:cNvPr name="Group 8" id="8"/>
          <p:cNvGrpSpPr/>
          <p:nvPr/>
        </p:nvGrpSpPr>
        <p:grpSpPr>
          <a:xfrm rot="-1787783">
            <a:off x="10578981" y="-1870630"/>
            <a:ext cx="13758345" cy="7410406"/>
            <a:chOff x="0" y="0"/>
            <a:chExt cx="1296853" cy="698500"/>
          </a:xfrm>
        </p:grpSpPr>
        <p:sp>
          <p:nvSpPr>
            <p:cNvPr name="Freeform 9" id="9"/>
            <p:cNvSpPr/>
            <p:nvPr/>
          </p:nvSpPr>
          <p:spPr>
            <a:xfrm flipH="false" flipV="false" rot="0">
              <a:off x="0" y="0"/>
              <a:ext cx="1296853" cy="698500"/>
            </a:xfrm>
            <a:custGeom>
              <a:avLst/>
              <a:gdLst/>
              <a:ahLst/>
              <a:cxnLst/>
              <a:rect r="r" b="b" t="t" l="l"/>
              <a:pathLst>
                <a:path h="698500" w="1296853">
                  <a:moveTo>
                    <a:pt x="1296853" y="349250"/>
                  </a:moveTo>
                  <a:lnTo>
                    <a:pt x="1093653" y="698500"/>
                  </a:lnTo>
                  <a:lnTo>
                    <a:pt x="203200" y="698500"/>
                  </a:lnTo>
                  <a:lnTo>
                    <a:pt x="0" y="349250"/>
                  </a:lnTo>
                  <a:lnTo>
                    <a:pt x="203200" y="0"/>
                  </a:lnTo>
                  <a:lnTo>
                    <a:pt x="1093653" y="0"/>
                  </a:lnTo>
                  <a:lnTo>
                    <a:pt x="1296853" y="349250"/>
                  </a:lnTo>
                  <a:close/>
                </a:path>
              </a:pathLst>
            </a:custGeom>
            <a:solidFill>
              <a:srgbClr val="024A59"/>
            </a:solidFill>
          </p:spPr>
        </p:sp>
        <p:sp>
          <p:nvSpPr>
            <p:cNvPr name="TextBox 10" id="10"/>
            <p:cNvSpPr txBox="true"/>
            <p:nvPr/>
          </p:nvSpPr>
          <p:spPr>
            <a:xfrm>
              <a:off x="114300" y="-57150"/>
              <a:ext cx="1068253" cy="755650"/>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1787783">
            <a:off x="9316170" y="-96463"/>
            <a:ext cx="14503583" cy="7811799"/>
            <a:chOff x="0" y="0"/>
            <a:chExt cx="1296853" cy="698500"/>
          </a:xfrm>
        </p:grpSpPr>
        <p:sp>
          <p:nvSpPr>
            <p:cNvPr name="Freeform 12" id="12"/>
            <p:cNvSpPr/>
            <p:nvPr/>
          </p:nvSpPr>
          <p:spPr>
            <a:xfrm flipH="false" flipV="false" rot="0">
              <a:off x="0" y="0"/>
              <a:ext cx="1296853" cy="698500"/>
            </a:xfrm>
            <a:custGeom>
              <a:avLst/>
              <a:gdLst/>
              <a:ahLst/>
              <a:cxnLst/>
              <a:rect r="r" b="b" t="t" l="l"/>
              <a:pathLst>
                <a:path h="698500" w="1296853">
                  <a:moveTo>
                    <a:pt x="1296853" y="349250"/>
                  </a:moveTo>
                  <a:lnTo>
                    <a:pt x="1093653" y="698500"/>
                  </a:lnTo>
                  <a:lnTo>
                    <a:pt x="203200" y="698500"/>
                  </a:lnTo>
                  <a:lnTo>
                    <a:pt x="0" y="349250"/>
                  </a:lnTo>
                  <a:lnTo>
                    <a:pt x="203200" y="0"/>
                  </a:lnTo>
                  <a:lnTo>
                    <a:pt x="1093653" y="0"/>
                  </a:lnTo>
                  <a:lnTo>
                    <a:pt x="1296853" y="349250"/>
                  </a:lnTo>
                  <a:close/>
                </a:path>
              </a:pathLst>
            </a:custGeom>
            <a:solidFill>
              <a:srgbClr val="FFA916"/>
            </a:solidFill>
          </p:spPr>
        </p:sp>
        <p:sp>
          <p:nvSpPr>
            <p:cNvPr name="TextBox 13" id="13"/>
            <p:cNvSpPr txBox="true"/>
            <p:nvPr/>
          </p:nvSpPr>
          <p:spPr>
            <a:xfrm>
              <a:off x="114300" y="-57150"/>
              <a:ext cx="1068253" cy="755650"/>
            </a:xfrm>
            <a:prstGeom prst="rect">
              <a:avLst/>
            </a:prstGeom>
          </p:spPr>
          <p:txBody>
            <a:bodyPr anchor="ctr" rtlCol="false" tIns="50800" lIns="50800" bIns="50800" rIns="50800"/>
            <a:lstStyle/>
            <a:p>
              <a:pPr algn="ctr" marL="0" indent="0" lvl="0">
                <a:lnSpc>
                  <a:spcPts val="2659"/>
                </a:lnSpc>
              </a:pPr>
            </a:p>
          </p:txBody>
        </p:sp>
      </p:grpSp>
      <p:sp>
        <p:nvSpPr>
          <p:cNvPr name="Freeform 14" id="14"/>
          <p:cNvSpPr/>
          <p:nvPr/>
        </p:nvSpPr>
        <p:spPr>
          <a:xfrm flipH="false" flipV="false" rot="-1813147">
            <a:off x="9836813" y="1312669"/>
            <a:ext cx="8743695" cy="7661663"/>
          </a:xfrm>
          <a:custGeom>
            <a:avLst/>
            <a:gdLst/>
            <a:ahLst/>
            <a:cxnLst/>
            <a:rect r="r" b="b" t="t" l="l"/>
            <a:pathLst>
              <a:path h="7661663" w="8743695">
                <a:moveTo>
                  <a:pt x="0" y="0"/>
                </a:moveTo>
                <a:lnTo>
                  <a:pt x="8743694" y="0"/>
                </a:lnTo>
                <a:lnTo>
                  <a:pt x="8743694" y="7661662"/>
                </a:lnTo>
                <a:lnTo>
                  <a:pt x="0" y="7661662"/>
                </a:lnTo>
                <a:lnTo>
                  <a:pt x="0" y="0"/>
                </a:lnTo>
                <a:close/>
              </a:path>
            </a:pathLst>
          </a:custGeom>
          <a:blipFill>
            <a:blip r:embed="rId2"/>
            <a:stretch>
              <a:fillRect l="0" t="0" r="0" b="0"/>
            </a:stretch>
          </a:blipFill>
        </p:spPr>
      </p:sp>
      <p:grpSp>
        <p:nvGrpSpPr>
          <p:cNvPr name="Group 15" id="15"/>
          <p:cNvGrpSpPr/>
          <p:nvPr/>
        </p:nvGrpSpPr>
        <p:grpSpPr>
          <a:xfrm rot="0">
            <a:off x="10595487" y="939081"/>
            <a:ext cx="7226346" cy="8408839"/>
            <a:chOff x="0" y="0"/>
            <a:chExt cx="698500" cy="812800"/>
          </a:xfrm>
        </p:grpSpPr>
        <p:sp>
          <p:nvSpPr>
            <p:cNvPr name="Freeform 16" id="16"/>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024A59"/>
            </a:solidFill>
          </p:spPr>
        </p:sp>
        <p:sp>
          <p:nvSpPr>
            <p:cNvPr name="TextBox 17" id="17"/>
            <p:cNvSpPr txBox="true"/>
            <p:nvPr/>
          </p:nvSpPr>
          <p:spPr>
            <a:xfrm>
              <a:off x="0" y="82550"/>
              <a:ext cx="698500" cy="590550"/>
            </a:xfrm>
            <a:prstGeom prst="rect">
              <a:avLst/>
            </a:prstGeom>
          </p:spPr>
          <p:txBody>
            <a:bodyPr anchor="ctr" rtlCol="false" tIns="50800" lIns="50800" bIns="50800" rIns="50800"/>
            <a:lstStyle/>
            <a:p>
              <a:pPr algn="ctr" marL="0" indent="0" lvl="0">
                <a:lnSpc>
                  <a:spcPts val="2659"/>
                </a:lnSpc>
              </a:pPr>
            </a:p>
          </p:txBody>
        </p:sp>
      </p:grpSp>
      <p:grpSp>
        <p:nvGrpSpPr>
          <p:cNvPr name="Group 18" id="18"/>
          <p:cNvGrpSpPr>
            <a:grpSpLocks noChangeAspect="true"/>
          </p:cNvGrpSpPr>
          <p:nvPr/>
        </p:nvGrpSpPr>
        <p:grpSpPr>
          <a:xfrm rot="0">
            <a:off x="10819302" y="1229804"/>
            <a:ext cx="6778716" cy="7827392"/>
            <a:chOff x="0" y="0"/>
            <a:chExt cx="31287555" cy="36127779"/>
          </a:xfrm>
        </p:grpSpPr>
        <p:sp>
          <p:nvSpPr>
            <p:cNvPr name="Freeform 19" id="19"/>
            <p:cNvSpPr/>
            <p:nvPr/>
          </p:nvSpPr>
          <p:spPr>
            <a:xfrm flipH="false" flipV="false" rot="0">
              <a:off x="0" y="0"/>
              <a:ext cx="31287467" cy="36127817"/>
            </a:xfrm>
            <a:custGeom>
              <a:avLst/>
              <a:gdLst/>
              <a:ahLst/>
              <a:cxnLst/>
              <a:rect r="r" b="b" t="t" l="l"/>
              <a:pathLst>
                <a:path h="36127817" w="31287467">
                  <a:moveTo>
                    <a:pt x="15643733" y="0"/>
                  </a:moveTo>
                  <a:lnTo>
                    <a:pt x="0" y="9031859"/>
                  </a:lnTo>
                  <a:lnTo>
                    <a:pt x="0" y="27095831"/>
                  </a:lnTo>
                  <a:lnTo>
                    <a:pt x="15643733" y="36127817"/>
                  </a:lnTo>
                  <a:lnTo>
                    <a:pt x="31287467" y="27095958"/>
                  </a:lnTo>
                  <a:lnTo>
                    <a:pt x="31287467" y="9031859"/>
                  </a:lnTo>
                  <a:lnTo>
                    <a:pt x="15643861" y="0"/>
                  </a:lnTo>
                  <a:close/>
                </a:path>
              </a:pathLst>
            </a:custGeom>
            <a:blipFill>
              <a:blip r:embed="rId3"/>
              <a:stretch>
                <a:fillRect l="0" t="-3540" r="0" b="-3540"/>
              </a:stretch>
            </a:blipFill>
          </p:spPr>
        </p:sp>
      </p:grpSp>
      <p:sp>
        <p:nvSpPr>
          <p:cNvPr name="TextBox 20" id="20"/>
          <p:cNvSpPr txBox="true"/>
          <p:nvPr/>
        </p:nvSpPr>
        <p:spPr>
          <a:xfrm rot="0">
            <a:off x="2078147" y="1171518"/>
            <a:ext cx="1897207" cy="250992"/>
          </a:xfrm>
          <a:prstGeom prst="rect">
            <a:avLst/>
          </a:prstGeom>
        </p:spPr>
        <p:txBody>
          <a:bodyPr anchor="t" rtlCol="false" tIns="0" lIns="0" bIns="0" rIns="0">
            <a:spAutoFit/>
          </a:bodyPr>
          <a:lstStyle/>
          <a:p>
            <a:pPr algn="l" marL="0" indent="0" lvl="0">
              <a:lnSpc>
                <a:spcPts val="1814"/>
              </a:lnSpc>
            </a:pPr>
            <a:r>
              <a:rPr lang="en-US" b="true" sz="1592">
                <a:solidFill>
                  <a:srgbClr val="000000"/>
                </a:solidFill>
                <a:latin typeface="Poppins Bold"/>
                <a:ea typeface="Poppins Bold"/>
                <a:cs typeface="Poppins Bold"/>
                <a:sym typeface="Poppins Bold"/>
              </a:rPr>
              <a:t>ECMS</a:t>
            </a:r>
          </a:p>
        </p:txBody>
      </p:sp>
      <p:sp>
        <p:nvSpPr>
          <p:cNvPr name="TextBox 21" id="21"/>
          <p:cNvSpPr txBox="true"/>
          <p:nvPr/>
        </p:nvSpPr>
        <p:spPr>
          <a:xfrm rot="0">
            <a:off x="1028700" y="3673791"/>
            <a:ext cx="8618543" cy="1812902"/>
          </a:xfrm>
          <a:prstGeom prst="rect">
            <a:avLst/>
          </a:prstGeom>
        </p:spPr>
        <p:txBody>
          <a:bodyPr anchor="t" rtlCol="false" tIns="0" lIns="0" bIns="0" rIns="0">
            <a:spAutoFit/>
          </a:bodyPr>
          <a:lstStyle/>
          <a:p>
            <a:pPr algn="l" marL="0" indent="0" lvl="0">
              <a:lnSpc>
                <a:spcPts val="13296"/>
              </a:lnSpc>
            </a:pPr>
            <a:r>
              <a:rPr lang="en-US" b="true" sz="11663">
                <a:solidFill>
                  <a:srgbClr val="000000"/>
                </a:solidFill>
                <a:latin typeface="Poppins Bold"/>
                <a:ea typeface="Poppins Bold"/>
                <a:cs typeface="Poppins Bold"/>
                <a:sym typeface="Poppins Bold"/>
              </a:rPr>
              <a:t>Cảm Ơn</a:t>
            </a:r>
          </a:p>
        </p:txBody>
      </p:sp>
      <p:sp>
        <p:nvSpPr>
          <p:cNvPr name="Freeform 22" id="22"/>
          <p:cNvSpPr/>
          <p:nvPr/>
        </p:nvSpPr>
        <p:spPr>
          <a:xfrm flipH="false" flipV="false" rot="0">
            <a:off x="1034729" y="1028700"/>
            <a:ext cx="801545" cy="925749"/>
          </a:xfrm>
          <a:custGeom>
            <a:avLst/>
            <a:gdLst/>
            <a:ahLst/>
            <a:cxnLst/>
            <a:rect r="r" b="b" t="t" l="l"/>
            <a:pathLst>
              <a:path h="925749" w="801545">
                <a:moveTo>
                  <a:pt x="0" y="0"/>
                </a:moveTo>
                <a:lnTo>
                  <a:pt x="801545" y="0"/>
                </a:lnTo>
                <a:lnTo>
                  <a:pt x="801545" y="925749"/>
                </a:lnTo>
                <a:lnTo>
                  <a:pt x="0" y="9257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DAHM0Lft07A</dc:identifier>
  <dcterms:modified xsi:type="dcterms:W3CDTF">2011-08-01T06:04:30Z</dcterms:modified>
  <cp:revision>1</cp:revision>
  <dc:title>Hệ thống Quản lý Hợp đồng Điện tử</dc:title>
</cp:coreProperties>
</file>